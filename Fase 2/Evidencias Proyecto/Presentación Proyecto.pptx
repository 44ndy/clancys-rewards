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valuación 2" id="{ef6f3ec9-0317-660d-7424-09ca94aead26}">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soy Andy Aravena. Les voy a mostrar mi proyecto de Capstone, Clancy's Rewards. Es una app de fidelización de clientes para Clancy's, un pub y restaurante en Cork, Irlanda, donde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Parto con un recordatorio rápido, porque esto ya lo presenté en la Fase 1. Clancy's es un pub y restaurante de Cork que no tiene una forma digital de premiar a sus clientes frecuentes, y lo típico en el rubro, la tarjeta de sellos de papel, se pierde, se falsifica y no deja datos. Mi solución es una app con tres roles: el cliente muestra un QR de un solo uso, el mesero lo escanea y suma la visita, y la administración maneja el menú, los premios y los indicadores.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Desde la presentación anterior hice cambios a partir de lo que me dijo la profesora. Faltaba una tabla de requisitos, y ahora está la matriz en Excel. Las imágenes no se veían y la demo falló, así que ahora muestro mockups con capturas de la versión actual. La planificación tenía demasiado detalle, y ahora va por metas, con la razón del orden. Y como mucha gente en Irlanda usa iPhone, la app también va a la App Store. Además avancé: terminé el Sprint 0 y en el Sprint 1 ya están CORS, el límite de intentos y las primeras pruebas automatizadas.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matriz completa tiene veintiocho requisitos, cada uno con su criterio de aceptación y su sprint. Aquí están los principales. Los funcionales, como el registro, la tarjeta, el QR de un solo uso, el escaneo y el canje en dos pasos, ya funcionan. En los no funcionales, la seguridad básica está lista, incluidos el límite de intentos y CORS. Lo que falta, como la nube, la ley de datos europea y la publicación, ya tiene su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Sigo con Scrum, en sprints de dos semanas, porque cada dos semanas tengo algo funcionando, recibo feedback y ajusto el siguiente. Lo que cambié fue la forma de planificar: ahora cada sprint tiene una meta y una razón. Primero lo que impide publicar, que es la seguridad. Después la nube y los builds de Android e iPhone, porque Google Play pide catorce días de prueba cerrada y Apple una cuenta verificada. Luego privacidad y pruebas, y al final la publicación. Todo está en GitHub, con un milestone por sprint y un issue por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cliente-servidor en tres capas. La app está hecha en React Native con Expo y es la misma para los tres roles. Se comunica con una API en Python con FastAPI, donde están las reglas: quién puede escanear, si el QR venció o ya se usó, y cuántas visitas lleva cada cliente. Los datos se guardan en MongoDB. Hoy corre en mi computador, y en el Sprint 2 pasa a la nube, con los datos en Europa.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iPhone: en Irlanda casi la mitad de los teléfonos usan iOS, así que la app también va a la App Store. Para compilar para iPhone normalmente se necesita un Mac, y no tengo uno. Como la app está hecha con Expo, se compila en la nube con EAS Build, se prueba en iPhones reales con TestFlight y después pasa la revisión de Apple. Si aparece un error que solo se arregla con Xcode, arriendo un Mac en la nube por horas. Apple además exige inicio de sesión con Apple, que agregué al Sprint 2. El costo nuevo es la cuenta de Apple, noventa y nueve dólares al año, que entra en el presupuesto inicial.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modelo de negocio. Para el local, la app reemplaza la tarjeta de papel por algo que no se pierde ni se falsifica, y le muestra quién vuelve. Para el cliente, son premios por volver sin andar con una tarjeta. Quien paga es el local. La voy a ofrecer con un pago inicial de dos mil quinientos euros para terminarla y publicarla, más una mantención de setenta y cinco a noventa euros por semana. Ese pago cubre las cuentas de las dos tiendas, y la renovación anual de Apple queda dentro de la mantención.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les muestro las pantallas de la app. Esto es lo que ve el cliente. Primero la bienvenida, donde se registra o inicia sesión. Después su tarjeta de socio, con las visitas que lleva y el próximo premio. Cuando llega al local, abre su QR, que dura tres minutos y sirve una sola vez. Y en premios ve todo lo que puede canjear.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parte del personal. El cliente muestra su QR y el mesero lo lee con la cámara del teléfono. La visita se suma al instante y la pantalla del cliente cambia sola. Para canjear, el cliente abre un QR de canje; el mesero lo escanea y el premio queda reservado. Cuando lo lleva a la mesa, confirma la entrega. Por eso el canje es en dos pasos.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esta es la administración. El dueño ve en el panel cuántos clientes tiene, cuántos socios están activos y las visitas del día y de la semana, además de los premios que más se canjean. Desde ahí edita el menú real del local, que tiene cuarenta y tres platos, crea premios y promociones sin publicar una nueva versión de la app, y gestiona al personal. Si la conexión lo permite, ahora les muestro la app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 es Clancy's Rewards. El próximo paso es terminar la seguridad y subir la app a la nube. Todo el proyecto está en el repositorio de GitHub.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rtlCol="0"/>
          <a:lstStyle>
            <a:lvl1pPr algn="l" indent="0" marL="0">
              <a:buNone/>
              <a:defRPr lang="en-US" sz="1800" dirty="0">
                <a:solidFill>
                  <a:srgbClr val="F5C40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rgbClr val="111111"/>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rgbClr val="6B6B6B"/>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C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rgbClr val="A6A6A6"/>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Clancy's Rewards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App móvil de fidelización de clientes para Clancy's Cork</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Shape 3"/>
          <p:cNvSpPr/>
          <p:nvPr/>
        </p:nvSpPr>
        <p:spPr>
          <a:xfrm>
            <a:off x="5202936" y="813816"/>
            <a:ext cx="1630785" cy="3401568"/>
          </a:xfrm>
          <a:prstGeom prst="roundRect">
            <a:avLst>
              <a:gd name="adj" fmla="val 7850"/>
            </a:avLst>
          </a:prstGeom>
          <a:solidFill>
            <a:srgbClr val="3A3A3A"/>
          </a:solidFill>
          <a:ln w="12700">
            <a:solidFill>
              <a:srgbClr val="3A3A3A"/>
            </a:solidFill>
            <a:prstDash val="solid"/>
          </a:ln>
        </p:spPr>
      </p:sp>
      <p:pic>
        <p:nvPicPr>
          <p:cNvPr id="7" name="Image 1" descr="Captura de la app: Bienvenida">    </p:cNvPr>
          <p:cNvPicPr>
            <a:picLocks noChangeAspect="1"/>
          </p:cNvPicPr>
          <p:nvPr/>
        </p:nvPicPr>
        <p:blipFill>
          <a:blip r:embed="rId2"/>
          <a:stretch>
            <a:fillRect/>
          </a:stretch>
        </p:blipFill>
        <p:spPr>
          <a:xfrm>
            <a:off x="5257800" y="868680"/>
            <a:ext cx="1521057" cy="3291840"/>
          </a:xfrm>
          <a:prstGeom prst="rect">
            <a:avLst/>
          </a:prstGeom>
        </p:spPr>
      </p:pic>
      <p:sp>
        <p:nvSpPr>
          <p:cNvPr id="8" name="Shape 4"/>
          <p:cNvSpPr/>
          <p:nvPr/>
        </p:nvSpPr>
        <p:spPr>
          <a:xfrm>
            <a:off x="7306056" y="813816"/>
            <a:ext cx="1630785" cy="3401568"/>
          </a:xfrm>
          <a:prstGeom prst="roundRect">
            <a:avLst>
              <a:gd name="adj" fmla="val 7850"/>
            </a:avLst>
          </a:prstGeom>
          <a:solidFill>
            <a:srgbClr val="3A3A3A"/>
          </a:solidFill>
          <a:ln w="12700">
            <a:solidFill>
              <a:srgbClr val="3A3A3A"/>
            </a:solidFill>
            <a:prstDash val="solid"/>
          </a:ln>
        </p:spPr>
      </p:sp>
      <p:pic>
        <p:nvPicPr>
          <p:cNvPr id="9" name="Image 2" descr="Captura de la app: Pase QR del cliente">    </p:cNvPr>
          <p:cNvPicPr>
            <a:picLocks noChangeAspect="1"/>
          </p:cNvPicPr>
          <p:nvPr/>
        </p:nvPicPr>
        <p:blipFill>
          <a:blip r:embed="rId3"/>
          <a:stretch>
            <a:fillRect/>
          </a:stretch>
        </p:blipFill>
        <p:spPr>
          <a:xfrm>
            <a:off x="7360920" y="868680"/>
            <a:ext cx="1521057" cy="3291840"/>
          </a:xfrm>
          <a:prstGeom prst="rect">
            <a:avLst/>
          </a:prstGeom>
        </p:spPr>
      </p:pic>
      <p:sp>
        <p:nvSpPr>
          <p:cNvPr id="10" name="Shape 5"/>
          <p:cNvSpPr/>
          <p:nvPr/>
        </p:nvSpPr>
        <p:spPr>
          <a:xfrm>
            <a:off x="6208776" y="493776"/>
            <a:ext cx="1926546" cy="4041648"/>
          </a:xfrm>
          <a:prstGeom prst="roundRect">
            <a:avLst>
              <a:gd name="adj" fmla="val 6645"/>
            </a:avLst>
          </a:prstGeom>
          <a:solidFill>
            <a:srgbClr val="3A3A3A"/>
          </a:solidFill>
          <a:ln w="12700">
            <a:solidFill>
              <a:srgbClr val="3A3A3A"/>
            </a:solidFill>
            <a:prstDash val="solid"/>
          </a:ln>
        </p:spPr>
      </p:sp>
      <p:pic>
        <p:nvPicPr>
          <p:cNvPr id="11" name="Image 3" descr="Captura de la app: Tarjeta de socio">    </p:cNvPr>
          <p:cNvPicPr>
            <a:picLocks noChangeAspect="1"/>
          </p:cNvPicPr>
          <p:nvPr/>
        </p:nvPicPr>
        <p:blipFill>
          <a:blip r:embed="rId4"/>
          <a:stretch>
            <a:fillRect/>
          </a:stretch>
        </p:blipFill>
        <p:spPr>
          <a:xfrm>
            <a:off x="6263640" y="548640"/>
            <a:ext cx="1816818" cy="3931920"/>
          </a:xfrm>
          <a:prstGeom prst="rect">
            <a:avLst/>
          </a:prstGeom>
        </p:spPr>
      </p:pic>
      <p:sp>
        <p:nvSpPr>
          <p:cNvPr id="12" name="Shape 6"/>
          <p:cNvSpPr/>
          <p:nvPr/>
        </p:nvSpPr>
        <p:spPr>
          <a:xfrm>
            <a:off x="548640" y="3886200"/>
            <a:ext cx="548640" cy="54864"/>
          </a:xfrm>
          <a:prstGeom prst="rect">
            <a:avLst/>
          </a:prstGeom>
          <a:solidFill>
            <a:srgbClr val="F5C400"/>
          </a:solidFill>
          <a:ln w="12700">
            <a:solidFill>
              <a:srgbClr val="F5C400"/>
            </a:solidFill>
            <a:prstDash val="solid"/>
          </a:ln>
        </p:spPr>
      </p:sp>
      <p:sp>
        <p:nvSpPr>
          <p:cNvPr id="13" name="Text 7"/>
          <p:cNvSpPr txBox="1"/>
          <p:nvPr/>
        </p:nvSpPr>
        <p:spPr>
          <a:xfrm>
            <a:off x="548640" y="4023360"/>
            <a:ext cx="4480560" cy="640080"/>
          </a:xfrm>
          <a:prstGeom prst="rect">
            <a:avLst/>
          </a:prstGeom>
          <a:noFill/>
          <a:ln/>
        </p:spPr>
        <p:txBody>
          <a:bodyPr wrap="square" lIns="0" tIns="0" rIns="0" bIns="0" rtlCol="0" anchor="t"/>
          <a:lstStyle/>
          <a:p>
            <a:pPr indent="0" marL="0">
              <a:buNone/>
            </a:pPr>
            <a:r>
              <a:rPr lang="en-US" sz="1200" dirty="0">
                <a:solidFill>
                  <a:srgbClr val="FFFFFF"/>
                </a:solidFill>
              </a:rPr>
              <a:t>Andy Aravena Auquilen · Ingeniería en Informática</a:t>
            </a:r>
            <a:endParaRPr lang="en-US" sz="1200" dirty="0"/>
          </a:p>
          <a:p>
            <a:pPr indent="0" marL="0">
              <a:buNone/>
            </a:pPr>
            <a:r>
              <a:rPr lang="en-US" sz="1200" dirty="0">
                <a:solidFill>
                  <a:srgbClr val="FFFFFF"/>
                </a:solidFill>
              </a:rPr>
              <a:t>Duoc UC San Bernardo · Capstone, Evaluación 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Contexto: el problema y la solución</a:t>
            </a:r>
            <a:endParaRPr lang="en-US" sz="2600" dirty="0"/>
          </a:p>
        </p:txBody>
      </p:sp>
      <p:sp>
        <p:nvSpPr>
          <p:cNvPr id="3" name="Shape 1"/>
          <p:cNvSpPr/>
          <p:nvPr/>
        </p:nvSpPr>
        <p:spPr>
          <a:xfrm>
            <a:off x="457200" y="1051560"/>
            <a:ext cx="3977640" cy="3520440"/>
          </a:xfrm>
          <a:prstGeom prst="roundRect">
            <a:avLst>
              <a:gd name="adj" fmla="val 2078"/>
            </a:avLst>
          </a:prstGeom>
          <a:solidFill>
            <a:srgbClr val="F2F2F2"/>
          </a:solidFill>
          <a:ln w="12700">
            <a:solidFill>
              <a:srgbClr val="F2F2F2"/>
            </a:solidFill>
            <a:prstDash val="solid"/>
          </a:ln>
        </p:spPr>
      </p:sp>
      <p:sp>
        <p:nvSpPr>
          <p:cNvPr id="4" name="Text 2"/>
          <p:cNvSpPr txBox="1"/>
          <p:nvPr/>
        </p:nvSpPr>
        <p:spPr>
          <a:xfrm>
            <a:off x="685800" y="1188720"/>
            <a:ext cx="3566160" cy="347472"/>
          </a:xfrm>
          <a:prstGeom prst="rect">
            <a:avLst/>
          </a:prstGeom>
          <a:noFill/>
          <a:ln/>
        </p:spPr>
        <p:txBody>
          <a:bodyPr wrap="square" lIns="0" tIns="0" rIns="0" bIns="0" rtlCol="0" anchor="t"/>
          <a:lstStyle/>
          <a:p>
            <a:pPr indent="0" marL="0">
              <a:buNone/>
            </a:pPr>
            <a:r>
              <a:rPr lang="en-US" sz="1700" b="1" dirty="0">
                <a:solidFill>
                  <a:srgbClr val="111111"/>
                </a:solidFill>
                <a:latin typeface="Arial" pitchFamily="34" charset="0"/>
                <a:ea typeface="Arial" pitchFamily="34" charset="-122"/>
                <a:cs typeface="Arial" pitchFamily="34" charset="-120"/>
              </a:rPr>
              <a:t>El problema</a:t>
            </a:r>
            <a:endParaRPr lang="en-US" sz="1700" dirty="0"/>
          </a:p>
        </p:txBody>
      </p:sp>
      <p:sp>
        <p:nvSpPr>
          <p:cNvPr id="5" name="Text 3"/>
          <p:cNvSpPr txBox="1"/>
          <p:nvPr/>
        </p:nvSpPr>
        <p:spPr>
          <a:xfrm>
            <a:off x="685800" y="1572768"/>
            <a:ext cx="3566160" cy="777240"/>
          </a:xfrm>
          <a:prstGeom prst="rect">
            <a:avLst/>
          </a:prstGeom>
          <a:noFill/>
          <a:ln/>
        </p:spPr>
        <p:txBody>
          <a:bodyPr wrap="square" lIns="0" tIns="0" rIns="0" bIns="0" rtlCol="0" anchor="t"/>
          <a:lstStyle/>
          <a:p>
            <a:pPr indent="0" marL="0">
              <a:buNone/>
            </a:pPr>
            <a:r>
              <a:rPr lang="en-US" sz="1300" dirty="0">
                <a:solidFill>
                  <a:srgbClr val="111111"/>
                </a:solidFill>
              </a:rPr>
              <a:t>Clancy's, pub y restaurante del centro de Cork, no tiene una forma digital de premiar a sus clientes frecuentes. Lo típico en el rubro, la tarjeta de sellos de papel:</a:t>
            </a:r>
            <a:endParaRPr lang="en-US" sz="1300" dirty="0"/>
          </a:p>
        </p:txBody>
      </p:sp>
      <p:sp>
        <p:nvSpPr>
          <p:cNvPr id="6" name="Shape 4"/>
          <p:cNvSpPr/>
          <p:nvPr/>
        </p:nvSpPr>
        <p:spPr>
          <a:xfrm>
            <a:off x="685800" y="2468880"/>
            <a:ext cx="457200" cy="457200"/>
          </a:xfrm>
          <a:prstGeom prst="ellipse">
            <a:avLst/>
          </a:prstGeom>
          <a:solidFill>
            <a:srgbClr val="111111"/>
          </a:solidFill>
          <a:ln w="12700">
            <a:solidFill>
              <a:srgbClr val="111111"/>
            </a:solidFill>
            <a:prstDash val="solid"/>
          </a:ln>
        </p:spPr>
      </p:sp>
      <p:pic>
        <p:nvPicPr>
          <p:cNvPr id="7" name="Image 0" descr="preencoded.png">    </p:cNvPr>
          <p:cNvPicPr>
            <a:picLocks noChangeAspect="1"/>
          </p:cNvPicPr>
          <p:nvPr/>
        </p:nvPicPr>
        <p:blipFill>
          <a:blip r:embed="rId1"/>
          <a:stretch>
            <a:fillRect/>
          </a:stretch>
        </p:blipFill>
        <p:spPr>
          <a:xfrm>
            <a:off x="800100" y="2583180"/>
            <a:ext cx="228600" cy="228600"/>
          </a:xfrm>
          <a:prstGeom prst="rect">
            <a:avLst/>
          </a:prstGeom>
        </p:spPr>
      </p:pic>
      <p:sp>
        <p:nvSpPr>
          <p:cNvPr id="8" name="Text 5"/>
          <p:cNvSpPr txBox="1"/>
          <p:nvPr/>
        </p:nvSpPr>
        <p:spPr>
          <a:xfrm>
            <a:off x="1280160" y="2468880"/>
            <a:ext cx="3017520" cy="457200"/>
          </a:xfrm>
          <a:prstGeom prst="rect">
            <a:avLst/>
          </a:prstGeom>
          <a:noFill/>
          <a:ln/>
        </p:spPr>
        <p:txBody>
          <a:bodyPr wrap="square" lIns="0" tIns="0" rIns="0" bIns="0" rtlCol="0" anchor="ctr"/>
          <a:lstStyle/>
          <a:p>
            <a:pPr indent="0" marL="0">
              <a:buNone/>
            </a:pPr>
            <a:r>
              <a:rPr lang="en-US" sz="1300" b="1" dirty="0">
                <a:solidFill>
                  <a:srgbClr val="111111"/>
                </a:solidFill>
              </a:rPr>
              <a:t>Se pierde </a:t>
            </a:r>
            <a:pPr indent="0" marL="0">
              <a:buNone/>
            </a:pPr>
            <a:r>
              <a:rPr lang="en-US" sz="1300" dirty="0">
                <a:solidFill>
                  <a:srgbClr val="111111"/>
                </a:solidFill>
              </a:rPr>
              <a:t>y el cliente pierde su avance.</a:t>
            </a:r>
            <a:endParaRPr lang="en-US" sz="1300" dirty="0"/>
          </a:p>
        </p:txBody>
      </p:sp>
      <p:sp>
        <p:nvSpPr>
          <p:cNvPr id="9" name="Shape 6"/>
          <p:cNvSpPr/>
          <p:nvPr/>
        </p:nvSpPr>
        <p:spPr>
          <a:xfrm>
            <a:off x="685800" y="3127248"/>
            <a:ext cx="457200" cy="457200"/>
          </a:xfrm>
          <a:prstGeom prst="ellipse">
            <a:avLst/>
          </a:prstGeom>
          <a:solidFill>
            <a:srgbClr val="111111"/>
          </a:solidFill>
          <a:ln w="12700">
            <a:solidFill>
              <a:srgbClr val="111111"/>
            </a:solidFill>
            <a:prstDash val="solid"/>
          </a:ln>
        </p:spPr>
      </p:sp>
      <p:pic>
        <p:nvPicPr>
          <p:cNvPr id="10" name="Image 1" descr="preencoded.png">    </p:cNvPr>
          <p:cNvPicPr>
            <a:picLocks noChangeAspect="1"/>
          </p:cNvPicPr>
          <p:nvPr/>
        </p:nvPicPr>
        <p:blipFill>
          <a:blip r:embed="rId2"/>
          <a:stretch>
            <a:fillRect/>
          </a:stretch>
        </p:blipFill>
        <p:spPr>
          <a:xfrm>
            <a:off x="800100" y="3241548"/>
            <a:ext cx="228600" cy="228600"/>
          </a:xfrm>
          <a:prstGeom prst="rect">
            <a:avLst/>
          </a:prstGeom>
        </p:spPr>
      </p:pic>
      <p:sp>
        <p:nvSpPr>
          <p:cNvPr id="11" name="Text 7"/>
          <p:cNvSpPr txBox="1"/>
          <p:nvPr/>
        </p:nvSpPr>
        <p:spPr>
          <a:xfrm>
            <a:off x="1280160" y="3127248"/>
            <a:ext cx="3017520" cy="457200"/>
          </a:xfrm>
          <a:prstGeom prst="rect">
            <a:avLst/>
          </a:prstGeom>
          <a:noFill/>
          <a:ln/>
        </p:spPr>
        <p:txBody>
          <a:bodyPr wrap="square" lIns="0" tIns="0" rIns="0" bIns="0" rtlCol="0" anchor="ctr"/>
          <a:lstStyle/>
          <a:p>
            <a:pPr indent="0" marL="0">
              <a:buNone/>
            </a:pPr>
            <a:r>
              <a:rPr lang="en-US" sz="1300" b="1" dirty="0">
                <a:solidFill>
                  <a:srgbClr val="111111"/>
                </a:solidFill>
              </a:rPr>
              <a:t>Se falsifica </a:t>
            </a:r>
            <a:pPr indent="0" marL="0">
              <a:buNone/>
            </a:pPr>
            <a:r>
              <a:rPr lang="en-US" sz="1300" dirty="0">
                <a:solidFill>
                  <a:srgbClr val="111111"/>
                </a:solidFill>
              </a:rPr>
              <a:t>y nadie controla quién puso el sello.</a:t>
            </a:r>
            <a:endParaRPr lang="en-US" sz="1300" dirty="0"/>
          </a:p>
        </p:txBody>
      </p:sp>
      <p:sp>
        <p:nvSpPr>
          <p:cNvPr id="12" name="Shape 8"/>
          <p:cNvSpPr/>
          <p:nvPr/>
        </p:nvSpPr>
        <p:spPr>
          <a:xfrm>
            <a:off x="685800" y="3785616"/>
            <a:ext cx="457200" cy="457200"/>
          </a:xfrm>
          <a:prstGeom prst="ellipse">
            <a:avLst/>
          </a:prstGeom>
          <a:solidFill>
            <a:srgbClr val="111111"/>
          </a:solidFill>
          <a:ln w="12700">
            <a:solidFill>
              <a:srgbClr val="111111"/>
            </a:solidFill>
            <a:prstDash val="solid"/>
          </a:ln>
        </p:spPr>
      </p:sp>
      <p:pic>
        <p:nvPicPr>
          <p:cNvPr id="13" name="Image 2" descr="preencoded.png">    </p:cNvPr>
          <p:cNvPicPr>
            <a:picLocks noChangeAspect="1"/>
          </p:cNvPicPr>
          <p:nvPr/>
        </p:nvPicPr>
        <p:blipFill>
          <a:blip r:embed="rId3"/>
          <a:stretch>
            <a:fillRect/>
          </a:stretch>
        </p:blipFill>
        <p:spPr>
          <a:xfrm>
            <a:off x="800100" y="3899916"/>
            <a:ext cx="228600" cy="228600"/>
          </a:xfrm>
          <a:prstGeom prst="rect">
            <a:avLst/>
          </a:prstGeom>
        </p:spPr>
      </p:pic>
      <p:sp>
        <p:nvSpPr>
          <p:cNvPr id="14" name="Text 9"/>
          <p:cNvSpPr txBox="1"/>
          <p:nvPr/>
        </p:nvSpPr>
        <p:spPr>
          <a:xfrm>
            <a:off x="1280160" y="3785616"/>
            <a:ext cx="3017520" cy="457200"/>
          </a:xfrm>
          <a:prstGeom prst="rect">
            <a:avLst/>
          </a:prstGeom>
          <a:noFill/>
          <a:ln/>
        </p:spPr>
        <p:txBody>
          <a:bodyPr wrap="square" lIns="0" tIns="0" rIns="0" bIns="0" rtlCol="0" anchor="ctr"/>
          <a:lstStyle/>
          <a:p>
            <a:pPr indent="0" marL="0">
              <a:buNone/>
            </a:pPr>
            <a:r>
              <a:rPr lang="en-US" sz="1300" b="1" dirty="0">
                <a:solidFill>
                  <a:srgbClr val="111111"/>
                </a:solidFill>
              </a:rPr>
              <a:t>No deja datos </a:t>
            </a:r>
            <a:pPr indent="0" marL="0">
              <a:buNone/>
            </a:pPr>
            <a:r>
              <a:rPr lang="en-US" sz="1300" dirty="0">
                <a:solidFill>
                  <a:srgbClr val="111111"/>
                </a:solidFill>
              </a:rPr>
              <a:t>y el local no sabe quién vuelve.</a:t>
            </a:r>
            <a:endParaRPr lang="en-US" sz="1300" dirty="0"/>
          </a:p>
        </p:txBody>
      </p:sp>
      <p:sp>
        <p:nvSpPr>
          <p:cNvPr id="15" name="Shape 10"/>
          <p:cNvSpPr/>
          <p:nvPr/>
        </p:nvSpPr>
        <p:spPr>
          <a:xfrm>
            <a:off x="4709160" y="1051560"/>
            <a:ext cx="3977640" cy="3520440"/>
          </a:xfrm>
          <a:prstGeom prst="roundRect">
            <a:avLst>
              <a:gd name="adj" fmla="val 2078"/>
            </a:avLst>
          </a:prstGeom>
          <a:solidFill>
            <a:srgbClr val="111111"/>
          </a:solidFill>
          <a:ln w="12700">
            <a:solidFill>
              <a:srgbClr val="111111"/>
            </a:solidFill>
            <a:prstDash val="solid"/>
          </a:ln>
        </p:spPr>
      </p:sp>
      <p:sp>
        <p:nvSpPr>
          <p:cNvPr id="16" name="Text 11"/>
          <p:cNvSpPr txBox="1"/>
          <p:nvPr/>
        </p:nvSpPr>
        <p:spPr>
          <a:xfrm>
            <a:off x="4937760" y="1188720"/>
            <a:ext cx="3566160" cy="347472"/>
          </a:xfrm>
          <a:prstGeom prst="rect">
            <a:avLst/>
          </a:prstGeom>
          <a:noFill/>
          <a:ln/>
        </p:spPr>
        <p:txBody>
          <a:bodyPr wrap="square" lIns="0" tIns="0" rIns="0" bIns="0" rtlCol="0" anchor="t"/>
          <a:lstStyle/>
          <a:p>
            <a:pPr indent="0" marL="0">
              <a:buNone/>
            </a:pPr>
            <a:r>
              <a:rPr lang="en-US" sz="1700" b="1" dirty="0">
                <a:solidFill>
                  <a:srgbClr val="F5C400"/>
                </a:solidFill>
                <a:latin typeface="Arial" pitchFamily="34" charset="0"/>
                <a:ea typeface="Arial" pitchFamily="34" charset="-122"/>
                <a:cs typeface="Arial" pitchFamily="34" charset="-120"/>
              </a:rPr>
              <a:t>La solución: una app, tres roles</a:t>
            </a:r>
            <a:endParaRPr lang="en-US" sz="1700" dirty="0"/>
          </a:p>
        </p:txBody>
      </p:sp>
      <p:sp>
        <p:nvSpPr>
          <p:cNvPr id="17" name="Shape 12"/>
          <p:cNvSpPr/>
          <p:nvPr/>
        </p:nvSpPr>
        <p:spPr>
          <a:xfrm>
            <a:off x="4937760" y="1737360"/>
            <a:ext cx="502920" cy="502920"/>
          </a:xfrm>
          <a:prstGeom prst="ellipse">
            <a:avLst/>
          </a:prstGeom>
          <a:solidFill>
            <a:srgbClr val="F5C400"/>
          </a:solidFill>
          <a:ln w="12700">
            <a:solidFill>
              <a:srgbClr val="F5C400"/>
            </a:solidFill>
            <a:prstDash val="solid"/>
          </a:ln>
        </p:spPr>
      </p:sp>
      <p:pic>
        <p:nvPicPr>
          <p:cNvPr id="18" name="Image 3" descr="preencoded.png">    </p:cNvPr>
          <p:cNvPicPr>
            <a:picLocks noChangeAspect="1"/>
          </p:cNvPicPr>
          <p:nvPr/>
        </p:nvPicPr>
        <p:blipFill>
          <a:blip r:embed="rId4"/>
          <a:stretch>
            <a:fillRect/>
          </a:stretch>
        </p:blipFill>
        <p:spPr>
          <a:xfrm>
            <a:off x="5063490" y="1863090"/>
            <a:ext cx="251460" cy="251460"/>
          </a:xfrm>
          <a:prstGeom prst="rect">
            <a:avLst/>
          </a:prstGeom>
        </p:spPr>
      </p:pic>
      <p:sp>
        <p:nvSpPr>
          <p:cNvPr id="19" name="Text 13"/>
          <p:cNvSpPr txBox="1"/>
          <p:nvPr/>
        </p:nvSpPr>
        <p:spPr>
          <a:xfrm>
            <a:off x="5577840" y="1709928"/>
            <a:ext cx="2926080" cy="274320"/>
          </a:xfrm>
          <a:prstGeom prst="rect">
            <a:avLst/>
          </a:prstGeom>
          <a:noFill/>
          <a:ln/>
        </p:spPr>
        <p:txBody>
          <a:bodyPr wrap="square" lIns="0" tIns="0" rIns="0" bIns="0" rtlCol="0" anchor="t"/>
          <a:lstStyle/>
          <a:p>
            <a:pPr indent="0" marL="0">
              <a:buNone/>
            </a:pPr>
            <a:r>
              <a:rPr lang="en-US" sz="1400" b="1" dirty="0">
                <a:solidFill>
                  <a:srgbClr val="FFFFFF"/>
                </a:solidFill>
              </a:rPr>
              <a:t>Cliente</a:t>
            </a:r>
            <a:endParaRPr lang="en-US" sz="1400" dirty="0"/>
          </a:p>
        </p:txBody>
      </p:sp>
      <p:sp>
        <p:nvSpPr>
          <p:cNvPr id="20" name="Text 14"/>
          <p:cNvSpPr txBox="1"/>
          <p:nvPr/>
        </p:nvSpPr>
        <p:spPr>
          <a:xfrm>
            <a:off x="5577840" y="1984248"/>
            <a:ext cx="2926080" cy="457200"/>
          </a:xfrm>
          <a:prstGeom prst="rect">
            <a:avLst/>
          </a:prstGeom>
          <a:noFill/>
          <a:ln/>
        </p:spPr>
        <p:txBody>
          <a:bodyPr wrap="square" lIns="0" tIns="0" rIns="0" bIns="0" rtlCol="0" anchor="t"/>
          <a:lstStyle/>
          <a:p>
            <a:pPr indent="0" marL="0">
              <a:buNone/>
            </a:pPr>
            <a:r>
              <a:rPr lang="en-US" sz="1200" dirty="0">
                <a:solidFill>
                  <a:srgbClr val="FFFFFF"/>
                </a:solidFill>
              </a:rPr>
              <a:t>muestra un QR que dura 3 minutos y sirve una sola vez.</a:t>
            </a:r>
            <a:endParaRPr lang="en-US" sz="1200" dirty="0"/>
          </a:p>
        </p:txBody>
      </p:sp>
      <p:sp>
        <p:nvSpPr>
          <p:cNvPr id="21" name="Shape 15"/>
          <p:cNvSpPr/>
          <p:nvPr/>
        </p:nvSpPr>
        <p:spPr>
          <a:xfrm>
            <a:off x="4937760" y="2651760"/>
            <a:ext cx="502920" cy="502920"/>
          </a:xfrm>
          <a:prstGeom prst="ellipse">
            <a:avLst/>
          </a:prstGeom>
          <a:solidFill>
            <a:srgbClr val="F5C400"/>
          </a:solidFill>
          <a:ln w="12700">
            <a:solidFill>
              <a:srgbClr val="F5C400"/>
            </a:solidFill>
            <a:prstDash val="solid"/>
          </a:ln>
        </p:spPr>
      </p:sp>
      <p:pic>
        <p:nvPicPr>
          <p:cNvPr id="22" name="Image 4" descr="preencoded.png">    </p:cNvPr>
          <p:cNvPicPr>
            <a:picLocks noChangeAspect="1"/>
          </p:cNvPicPr>
          <p:nvPr/>
        </p:nvPicPr>
        <p:blipFill>
          <a:blip r:embed="rId5"/>
          <a:stretch>
            <a:fillRect/>
          </a:stretch>
        </p:blipFill>
        <p:spPr>
          <a:xfrm>
            <a:off x="5063490" y="2777490"/>
            <a:ext cx="251460" cy="251460"/>
          </a:xfrm>
          <a:prstGeom prst="rect">
            <a:avLst/>
          </a:prstGeom>
        </p:spPr>
      </p:pic>
      <p:sp>
        <p:nvSpPr>
          <p:cNvPr id="23" name="Text 16"/>
          <p:cNvSpPr txBox="1"/>
          <p:nvPr/>
        </p:nvSpPr>
        <p:spPr>
          <a:xfrm>
            <a:off x="5577840" y="2624328"/>
            <a:ext cx="2926080" cy="274320"/>
          </a:xfrm>
          <a:prstGeom prst="rect">
            <a:avLst/>
          </a:prstGeom>
          <a:noFill/>
          <a:ln/>
        </p:spPr>
        <p:txBody>
          <a:bodyPr wrap="square" lIns="0" tIns="0" rIns="0" bIns="0" rtlCol="0" anchor="t"/>
          <a:lstStyle/>
          <a:p>
            <a:pPr indent="0" marL="0">
              <a:buNone/>
            </a:pPr>
            <a:r>
              <a:rPr lang="en-US" sz="1400" b="1" dirty="0">
                <a:solidFill>
                  <a:srgbClr val="FFFFFF"/>
                </a:solidFill>
              </a:rPr>
              <a:t>Personal</a:t>
            </a:r>
            <a:endParaRPr lang="en-US" sz="1400" dirty="0"/>
          </a:p>
        </p:txBody>
      </p:sp>
      <p:sp>
        <p:nvSpPr>
          <p:cNvPr id="24" name="Text 17"/>
          <p:cNvSpPr txBox="1"/>
          <p:nvPr/>
        </p:nvSpPr>
        <p:spPr>
          <a:xfrm>
            <a:off x="5577840" y="2898648"/>
            <a:ext cx="2926080" cy="457200"/>
          </a:xfrm>
          <a:prstGeom prst="rect">
            <a:avLst/>
          </a:prstGeom>
          <a:noFill/>
          <a:ln/>
        </p:spPr>
        <p:txBody>
          <a:bodyPr wrap="square" lIns="0" tIns="0" rIns="0" bIns="0" rtlCol="0" anchor="t"/>
          <a:lstStyle/>
          <a:p>
            <a:pPr indent="0" marL="0">
              <a:buNone/>
            </a:pPr>
            <a:r>
              <a:rPr lang="en-US" sz="1200" dirty="0">
                <a:solidFill>
                  <a:srgbClr val="FFFFFF"/>
                </a:solidFill>
              </a:rPr>
              <a:t>escanea el QR y suma la visita o entrega el premio.</a:t>
            </a:r>
            <a:endParaRPr lang="en-US" sz="1200" dirty="0"/>
          </a:p>
        </p:txBody>
      </p:sp>
      <p:sp>
        <p:nvSpPr>
          <p:cNvPr id="25" name="Shape 18"/>
          <p:cNvSpPr/>
          <p:nvPr/>
        </p:nvSpPr>
        <p:spPr>
          <a:xfrm>
            <a:off x="4937760" y="3566160"/>
            <a:ext cx="502920" cy="502920"/>
          </a:xfrm>
          <a:prstGeom prst="ellipse">
            <a:avLst/>
          </a:prstGeom>
          <a:solidFill>
            <a:srgbClr val="F5C400"/>
          </a:solidFill>
          <a:ln w="12700">
            <a:solidFill>
              <a:srgbClr val="F5C400"/>
            </a:solidFill>
            <a:prstDash val="solid"/>
          </a:ln>
        </p:spPr>
      </p:sp>
      <p:pic>
        <p:nvPicPr>
          <p:cNvPr id="26" name="Image 5" descr="preencoded.png">    </p:cNvPr>
          <p:cNvPicPr>
            <a:picLocks noChangeAspect="1"/>
          </p:cNvPicPr>
          <p:nvPr/>
        </p:nvPicPr>
        <p:blipFill>
          <a:blip r:embed="rId6"/>
          <a:stretch>
            <a:fillRect/>
          </a:stretch>
        </p:blipFill>
        <p:spPr>
          <a:xfrm>
            <a:off x="5063490" y="3691890"/>
            <a:ext cx="251460" cy="251460"/>
          </a:xfrm>
          <a:prstGeom prst="rect">
            <a:avLst/>
          </a:prstGeom>
        </p:spPr>
      </p:pic>
      <p:sp>
        <p:nvSpPr>
          <p:cNvPr id="27" name="Text 19"/>
          <p:cNvSpPr txBox="1"/>
          <p:nvPr/>
        </p:nvSpPr>
        <p:spPr>
          <a:xfrm>
            <a:off x="5577840" y="3538728"/>
            <a:ext cx="2926080" cy="274320"/>
          </a:xfrm>
          <a:prstGeom prst="rect">
            <a:avLst/>
          </a:prstGeom>
          <a:noFill/>
          <a:ln/>
        </p:spPr>
        <p:txBody>
          <a:bodyPr wrap="square" lIns="0" tIns="0" rIns="0" bIns="0" rtlCol="0" anchor="t"/>
          <a:lstStyle/>
          <a:p>
            <a:pPr indent="0" marL="0">
              <a:buNone/>
            </a:pPr>
            <a:r>
              <a:rPr lang="en-US" sz="1400" b="1" dirty="0">
                <a:solidFill>
                  <a:srgbClr val="FFFFFF"/>
                </a:solidFill>
              </a:rPr>
              <a:t>Administración</a:t>
            </a:r>
            <a:endParaRPr lang="en-US" sz="1400" dirty="0"/>
          </a:p>
        </p:txBody>
      </p:sp>
      <p:sp>
        <p:nvSpPr>
          <p:cNvPr id="28" name="Text 20"/>
          <p:cNvSpPr txBox="1"/>
          <p:nvPr/>
        </p:nvSpPr>
        <p:spPr>
          <a:xfrm>
            <a:off x="5577840" y="3813048"/>
            <a:ext cx="2926080" cy="457200"/>
          </a:xfrm>
          <a:prstGeom prst="rect">
            <a:avLst/>
          </a:prstGeom>
          <a:noFill/>
          <a:ln/>
        </p:spPr>
        <p:txBody>
          <a:bodyPr wrap="square" lIns="0" tIns="0" rIns="0" bIns="0" rtlCol="0" anchor="t"/>
          <a:lstStyle/>
          <a:p>
            <a:pPr indent="0" marL="0">
              <a:buNone/>
            </a:pPr>
            <a:r>
              <a:rPr lang="en-US" sz="1200" dirty="0">
                <a:solidFill>
                  <a:srgbClr val="FFFFFF"/>
                </a:solidFill>
              </a:rPr>
              <a:t>edita menú, premios y promociones, y ve indicadores.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Qué cambió desde la Fase 1</a:t>
            </a:r>
            <a:endParaRPr lang="en-US" sz="2600" dirty="0"/>
          </a:p>
        </p:txBody>
      </p:sp>
      <p:sp>
        <p:nvSpPr>
          <p:cNvPr id="3" name="Text 1"/>
          <p:cNvSpPr txBox="1"/>
          <p:nvPr/>
        </p:nvSpPr>
        <p:spPr>
          <a:xfrm>
            <a:off x="457200" y="987552"/>
            <a:ext cx="3291840" cy="292608"/>
          </a:xfrm>
          <a:prstGeom prst="rect">
            <a:avLst/>
          </a:prstGeom>
          <a:noFill/>
          <a:ln/>
        </p:spPr>
        <p:txBody>
          <a:bodyPr wrap="square" lIns="0" tIns="0" rIns="0" bIns="0" rtlCol="0" anchor="t"/>
          <a:lstStyle/>
          <a:p>
            <a:pPr indent="0" marL="0">
              <a:buNone/>
            </a:pPr>
            <a:r>
              <a:rPr lang="en-US" sz="1300" b="1" dirty="0">
                <a:solidFill>
                  <a:srgbClr val="6B6B6B"/>
                </a:solidFill>
              </a:rPr>
              <a:t>Retroalimentación recibida</a:t>
            </a:r>
            <a:endParaRPr lang="en-US" sz="1300" dirty="0"/>
          </a:p>
        </p:txBody>
      </p:sp>
      <p:sp>
        <p:nvSpPr>
          <p:cNvPr id="4" name="Text 2"/>
          <p:cNvSpPr txBox="1"/>
          <p:nvPr/>
        </p:nvSpPr>
        <p:spPr>
          <a:xfrm>
            <a:off x="4069080" y="987552"/>
            <a:ext cx="4572000" cy="292608"/>
          </a:xfrm>
          <a:prstGeom prst="rect">
            <a:avLst/>
          </a:prstGeom>
          <a:noFill/>
          <a:ln/>
        </p:spPr>
        <p:txBody>
          <a:bodyPr wrap="square" lIns="0" tIns="0" rIns="0" bIns="0" rtlCol="0" anchor="t"/>
          <a:lstStyle/>
          <a:p>
            <a:pPr indent="0" marL="0">
              <a:buNone/>
            </a:pPr>
            <a:r>
              <a:rPr lang="en-US" sz="1300" b="1" dirty="0">
                <a:solidFill>
                  <a:srgbClr val="6B6B6B"/>
                </a:solidFill>
              </a:rPr>
              <a:t>Qué hice</a:t>
            </a:r>
            <a:endParaRPr lang="en-US" sz="1300" dirty="0"/>
          </a:p>
        </p:txBody>
      </p:sp>
      <p:sp>
        <p:nvSpPr>
          <p:cNvPr id="5" name="Shape 3"/>
          <p:cNvSpPr/>
          <p:nvPr/>
        </p:nvSpPr>
        <p:spPr>
          <a:xfrm>
            <a:off x="457200" y="1325880"/>
            <a:ext cx="3429000" cy="438912"/>
          </a:xfrm>
          <a:prstGeom prst="roundRect">
            <a:avLst>
              <a:gd name="adj" fmla="val 16667"/>
            </a:avLst>
          </a:prstGeom>
          <a:solidFill>
            <a:srgbClr val="F2F2F2"/>
          </a:solidFill>
          <a:ln w="12700">
            <a:solidFill>
              <a:srgbClr val="F2F2F2"/>
            </a:solidFill>
            <a:prstDash val="solid"/>
          </a:ln>
        </p:spPr>
      </p:sp>
      <p:sp>
        <p:nvSpPr>
          <p:cNvPr id="6" name="Text 4"/>
          <p:cNvSpPr txBox="1"/>
          <p:nvPr/>
        </p:nvSpPr>
        <p:spPr>
          <a:xfrm>
            <a:off x="621792" y="1325880"/>
            <a:ext cx="3200400" cy="438912"/>
          </a:xfrm>
          <a:prstGeom prst="rect">
            <a:avLst/>
          </a:prstGeom>
          <a:noFill/>
          <a:ln/>
        </p:spPr>
        <p:txBody>
          <a:bodyPr wrap="square" lIns="0" tIns="0" rIns="0" bIns="0" rtlCol="0" anchor="ctr"/>
          <a:lstStyle/>
          <a:p>
            <a:pPr indent="0" marL="0">
              <a:buNone/>
            </a:pPr>
            <a:r>
              <a:rPr lang="en-US" sz="1200" b="1" dirty="0">
                <a:solidFill>
                  <a:srgbClr val="111111"/>
                </a:solidFill>
              </a:rPr>
              <a:t>Faltaba una tabla de requisitos</a:t>
            </a:r>
            <a:endParaRPr lang="en-US" sz="1200" dirty="0"/>
          </a:p>
        </p:txBody>
      </p:sp>
      <p:sp>
        <p:nvSpPr>
          <p:cNvPr id="7" name="Shape 5"/>
          <p:cNvSpPr/>
          <p:nvPr/>
        </p:nvSpPr>
        <p:spPr>
          <a:xfrm>
            <a:off x="3931920" y="1417320"/>
            <a:ext cx="91440" cy="256032"/>
          </a:xfrm>
          <a:prstGeom prst="rightArrow">
            <a:avLst/>
          </a:prstGeom>
          <a:solidFill>
            <a:srgbClr val="F5C400"/>
          </a:solidFill>
          <a:ln w="12700">
            <a:solidFill>
              <a:srgbClr val="F5C400"/>
            </a:solidFill>
            <a:prstDash val="solid"/>
          </a:ln>
        </p:spPr>
      </p:sp>
      <p:sp>
        <p:nvSpPr>
          <p:cNvPr id="8" name="Shape 6"/>
          <p:cNvSpPr/>
          <p:nvPr/>
        </p:nvSpPr>
        <p:spPr>
          <a:xfrm>
            <a:off x="4069080" y="1325880"/>
            <a:ext cx="4617720" cy="438912"/>
          </a:xfrm>
          <a:prstGeom prst="roundRect">
            <a:avLst>
              <a:gd name="adj" fmla="val 16667"/>
            </a:avLst>
          </a:prstGeom>
          <a:solidFill>
            <a:srgbClr val="FFF4BF"/>
          </a:solidFill>
          <a:ln w="12700">
            <a:solidFill>
              <a:srgbClr val="FFF4BF"/>
            </a:solidFill>
            <a:prstDash val="solid"/>
          </a:ln>
        </p:spPr>
      </p:sp>
      <p:sp>
        <p:nvSpPr>
          <p:cNvPr id="9" name="Text 7"/>
          <p:cNvSpPr txBox="1"/>
          <p:nvPr/>
        </p:nvSpPr>
        <p:spPr>
          <a:xfrm>
            <a:off x="4224528" y="1325880"/>
            <a:ext cx="4389120" cy="438912"/>
          </a:xfrm>
          <a:prstGeom prst="rect">
            <a:avLst/>
          </a:prstGeom>
          <a:noFill/>
          <a:ln/>
        </p:spPr>
        <p:txBody>
          <a:bodyPr wrap="square" lIns="0" tIns="0" rIns="0" bIns="0" rtlCol="0" anchor="ctr"/>
          <a:lstStyle/>
          <a:p>
            <a:pPr indent="0" marL="0">
              <a:buNone/>
            </a:pPr>
            <a:r>
              <a:rPr lang="en-US" sz="1200" dirty="0">
                <a:solidFill>
                  <a:srgbClr val="111111"/>
                </a:solidFill>
              </a:rPr>
              <a:t>Matriz en Excel: 28 requisitos con criterio de aceptación, estado y sprint.</a:t>
            </a:r>
            <a:endParaRPr lang="en-US" sz="1200" dirty="0"/>
          </a:p>
        </p:txBody>
      </p:sp>
      <p:sp>
        <p:nvSpPr>
          <p:cNvPr id="10" name="Shape 8"/>
          <p:cNvSpPr/>
          <p:nvPr/>
        </p:nvSpPr>
        <p:spPr>
          <a:xfrm>
            <a:off x="457200" y="1837944"/>
            <a:ext cx="3429000" cy="438912"/>
          </a:xfrm>
          <a:prstGeom prst="roundRect">
            <a:avLst>
              <a:gd name="adj" fmla="val 16667"/>
            </a:avLst>
          </a:prstGeom>
          <a:solidFill>
            <a:srgbClr val="F2F2F2"/>
          </a:solidFill>
          <a:ln w="12700">
            <a:solidFill>
              <a:srgbClr val="F2F2F2"/>
            </a:solidFill>
            <a:prstDash val="solid"/>
          </a:ln>
        </p:spPr>
      </p:sp>
      <p:sp>
        <p:nvSpPr>
          <p:cNvPr id="11" name="Text 9"/>
          <p:cNvSpPr txBox="1"/>
          <p:nvPr/>
        </p:nvSpPr>
        <p:spPr>
          <a:xfrm>
            <a:off x="621792" y="1837944"/>
            <a:ext cx="3200400" cy="438912"/>
          </a:xfrm>
          <a:prstGeom prst="rect">
            <a:avLst/>
          </a:prstGeom>
          <a:noFill/>
          <a:ln/>
        </p:spPr>
        <p:txBody>
          <a:bodyPr wrap="square" lIns="0" tIns="0" rIns="0" bIns="0" rtlCol="0" anchor="ctr"/>
          <a:lstStyle/>
          <a:p>
            <a:pPr indent="0" marL="0">
              <a:buNone/>
            </a:pPr>
            <a:r>
              <a:rPr lang="en-US" sz="1200" b="1" dirty="0">
                <a:solidFill>
                  <a:srgbClr val="111111"/>
                </a:solidFill>
              </a:rPr>
              <a:t>Las imágenes no se veían y la demo falló</a:t>
            </a:r>
            <a:endParaRPr lang="en-US" sz="1200" dirty="0"/>
          </a:p>
        </p:txBody>
      </p:sp>
      <p:sp>
        <p:nvSpPr>
          <p:cNvPr id="12" name="Shape 10"/>
          <p:cNvSpPr/>
          <p:nvPr/>
        </p:nvSpPr>
        <p:spPr>
          <a:xfrm>
            <a:off x="3931920" y="1929384"/>
            <a:ext cx="91440" cy="256032"/>
          </a:xfrm>
          <a:prstGeom prst="rightArrow">
            <a:avLst/>
          </a:prstGeom>
          <a:solidFill>
            <a:srgbClr val="F5C400"/>
          </a:solidFill>
          <a:ln w="12700">
            <a:solidFill>
              <a:srgbClr val="F5C400"/>
            </a:solidFill>
            <a:prstDash val="solid"/>
          </a:ln>
        </p:spPr>
      </p:sp>
      <p:sp>
        <p:nvSpPr>
          <p:cNvPr id="13" name="Shape 11"/>
          <p:cNvSpPr/>
          <p:nvPr/>
        </p:nvSpPr>
        <p:spPr>
          <a:xfrm>
            <a:off x="4069080" y="1837944"/>
            <a:ext cx="4617720" cy="438912"/>
          </a:xfrm>
          <a:prstGeom prst="roundRect">
            <a:avLst>
              <a:gd name="adj" fmla="val 16667"/>
            </a:avLst>
          </a:prstGeom>
          <a:solidFill>
            <a:srgbClr val="FFF4BF"/>
          </a:solidFill>
          <a:ln w="12700">
            <a:solidFill>
              <a:srgbClr val="FFF4BF"/>
            </a:solidFill>
            <a:prstDash val="solid"/>
          </a:ln>
        </p:spPr>
      </p:sp>
      <p:sp>
        <p:nvSpPr>
          <p:cNvPr id="14" name="Text 12"/>
          <p:cNvSpPr txBox="1"/>
          <p:nvPr/>
        </p:nvSpPr>
        <p:spPr>
          <a:xfrm>
            <a:off x="4224528" y="1837944"/>
            <a:ext cx="4389120" cy="438912"/>
          </a:xfrm>
          <a:prstGeom prst="rect">
            <a:avLst/>
          </a:prstGeom>
          <a:noFill/>
          <a:ln/>
        </p:spPr>
        <p:txBody>
          <a:bodyPr wrap="square" lIns="0" tIns="0" rIns="0" bIns="0" rtlCol="0" anchor="ctr"/>
          <a:lstStyle/>
          <a:p>
            <a:pPr indent="0" marL="0">
              <a:buNone/>
            </a:pPr>
            <a:r>
              <a:rPr lang="en-US" sz="1200" dirty="0">
                <a:solidFill>
                  <a:srgbClr val="111111"/>
                </a:solidFill>
              </a:rPr>
              <a:t>Mockups grandes con capturas de la versión actual de la app.</a:t>
            </a:r>
            <a:endParaRPr lang="en-US" sz="1200" dirty="0"/>
          </a:p>
        </p:txBody>
      </p:sp>
      <p:sp>
        <p:nvSpPr>
          <p:cNvPr id="15" name="Shape 13"/>
          <p:cNvSpPr/>
          <p:nvPr/>
        </p:nvSpPr>
        <p:spPr>
          <a:xfrm>
            <a:off x="457200" y="2350008"/>
            <a:ext cx="3429000" cy="438912"/>
          </a:xfrm>
          <a:prstGeom prst="roundRect">
            <a:avLst>
              <a:gd name="adj" fmla="val 16667"/>
            </a:avLst>
          </a:prstGeom>
          <a:solidFill>
            <a:srgbClr val="F2F2F2"/>
          </a:solidFill>
          <a:ln w="12700">
            <a:solidFill>
              <a:srgbClr val="F2F2F2"/>
            </a:solidFill>
            <a:prstDash val="solid"/>
          </a:ln>
        </p:spPr>
      </p:sp>
      <p:sp>
        <p:nvSpPr>
          <p:cNvPr id="16" name="Text 14"/>
          <p:cNvSpPr txBox="1"/>
          <p:nvPr/>
        </p:nvSpPr>
        <p:spPr>
          <a:xfrm>
            <a:off x="621792" y="2350008"/>
            <a:ext cx="3200400" cy="438912"/>
          </a:xfrm>
          <a:prstGeom prst="rect">
            <a:avLst/>
          </a:prstGeom>
          <a:noFill/>
          <a:ln/>
        </p:spPr>
        <p:txBody>
          <a:bodyPr wrap="square" lIns="0" tIns="0" rIns="0" bIns="0" rtlCol="0" anchor="ctr"/>
          <a:lstStyle/>
          <a:p>
            <a:pPr indent="0" marL="0">
              <a:buNone/>
            </a:pPr>
            <a:r>
              <a:rPr lang="en-US" sz="1200" b="1" dirty="0">
                <a:solidFill>
                  <a:srgbClr val="111111"/>
                </a:solidFill>
              </a:rPr>
              <a:t>La planificación tenía demasiado detalle</a:t>
            </a:r>
            <a:endParaRPr lang="en-US" sz="1200" dirty="0"/>
          </a:p>
        </p:txBody>
      </p:sp>
      <p:sp>
        <p:nvSpPr>
          <p:cNvPr id="17" name="Shape 15"/>
          <p:cNvSpPr/>
          <p:nvPr/>
        </p:nvSpPr>
        <p:spPr>
          <a:xfrm>
            <a:off x="3931920" y="2441448"/>
            <a:ext cx="91440" cy="256032"/>
          </a:xfrm>
          <a:prstGeom prst="rightArrow">
            <a:avLst/>
          </a:prstGeom>
          <a:solidFill>
            <a:srgbClr val="F5C400"/>
          </a:solidFill>
          <a:ln w="12700">
            <a:solidFill>
              <a:srgbClr val="F5C400"/>
            </a:solidFill>
            <a:prstDash val="solid"/>
          </a:ln>
        </p:spPr>
      </p:sp>
      <p:sp>
        <p:nvSpPr>
          <p:cNvPr id="18" name="Shape 16"/>
          <p:cNvSpPr/>
          <p:nvPr/>
        </p:nvSpPr>
        <p:spPr>
          <a:xfrm>
            <a:off x="4069080" y="2350008"/>
            <a:ext cx="4617720" cy="438912"/>
          </a:xfrm>
          <a:prstGeom prst="roundRect">
            <a:avLst>
              <a:gd name="adj" fmla="val 16667"/>
            </a:avLst>
          </a:prstGeom>
          <a:solidFill>
            <a:srgbClr val="FFF4BF"/>
          </a:solidFill>
          <a:ln w="12700">
            <a:solidFill>
              <a:srgbClr val="FFF4BF"/>
            </a:solidFill>
            <a:prstDash val="solid"/>
          </a:ln>
        </p:spPr>
      </p:sp>
      <p:sp>
        <p:nvSpPr>
          <p:cNvPr id="19" name="Text 17"/>
          <p:cNvSpPr txBox="1"/>
          <p:nvPr/>
        </p:nvSpPr>
        <p:spPr>
          <a:xfrm>
            <a:off x="4224528" y="2350008"/>
            <a:ext cx="4389120" cy="438912"/>
          </a:xfrm>
          <a:prstGeom prst="rect">
            <a:avLst/>
          </a:prstGeom>
          <a:noFill/>
          <a:ln/>
        </p:spPr>
        <p:txBody>
          <a:bodyPr wrap="square" lIns="0" tIns="0" rIns="0" bIns="0" rtlCol="0" anchor="ctr"/>
          <a:lstStyle/>
          <a:p>
            <a:pPr indent="0" marL="0">
              <a:buNone/>
            </a:pPr>
            <a:r>
              <a:rPr lang="en-US" sz="1200" dirty="0">
                <a:solidFill>
                  <a:srgbClr val="111111"/>
                </a:solidFill>
              </a:rPr>
              <a:t>Plan por metas de sprint, con la razón de su orden.</a:t>
            </a:r>
            <a:endParaRPr lang="en-US" sz="1200" dirty="0"/>
          </a:p>
        </p:txBody>
      </p:sp>
      <p:sp>
        <p:nvSpPr>
          <p:cNvPr id="20" name="Shape 18"/>
          <p:cNvSpPr/>
          <p:nvPr/>
        </p:nvSpPr>
        <p:spPr>
          <a:xfrm>
            <a:off x="457200" y="2862072"/>
            <a:ext cx="3429000" cy="438912"/>
          </a:xfrm>
          <a:prstGeom prst="roundRect">
            <a:avLst>
              <a:gd name="adj" fmla="val 16667"/>
            </a:avLst>
          </a:prstGeom>
          <a:solidFill>
            <a:srgbClr val="F2F2F2"/>
          </a:solidFill>
          <a:ln w="12700">
            <a:solidFill>
              <a:srgbClr val="F2F2F2"/>
            </a:solidFill>
            <a:prstDash val="solid"/>
          </a:ln>
        </p:spPr>
      </p:sp>
      <p:sp>
        <p:nvSpPr>
          <p:cNvPr id="21" name="Text 19"/>
          <p:cNvSpPr txBox="1"/>
          <p:nvPr/>
        </p:nvSpPr>
        <p:spPr>
          <a:xfrm>
            <a:off x="621792" y="2862072"/>
            <a:ext cx="3200400" cy="438912"/>
          </a:xfrm>
          <a:prstGeom prst="rect">
            <a:avLst/>
          </a:prstGeom>
          <a:noFill/>
          <a:ln/>
        </p:spPr>
        <p:txBody>
          <a:bodyPr wrap="square" lIns="0" tIns="0" rIns="0" bIns="0" rtlCol="0" anchor="ctr"/>
          <a:lstStyle/>
          <a:p>
            <a:pPr indent="0" marL="0">
              <a:buNone/>
            </a:pPr>
            <a:r>
              <a:rPr lang="en-US" sz="1200" b="1" dirty="0">
                <a:solidFill>
                  <a:srgbClr val="111111"/>
                </a:solidFill>
              </a:rPr>
              <a:t>Muchos clientes en Irlanda usan iPhone</a:t>
            </a:r>
            <a:endParaRPr lang="en-US" sz="1200" dirty="0"/>
          </a:p>
        </p:txBody>
      </p:sp>
      <p:sp>
        <p:nvSpPr>
          <p:cNvPr id="22" name="Shape 20"/>
          <p:cNvSpPr/>
          <p:nvPr/>
        </p:nvSpPr>
        <p:spPr>
          <a:xfrm>
            <a:off x="3931920" y="2953512"/>
            <a:ext cx="91440" cy="256032"/>
          </a:xfrm>
          <a:prstGeom prst="rightArrow">
            <a:avLst/>
          </a:prstGeom>
          <a:solidFill>
            <a:srgbClr val="F5C400"/>
          </a:solidFill>
          <a:ln w="12700">
            <a:solidFill>
              <a:srgbClr val="F5C400"/>
            </a:solidFill>
            <a:prstDash val="solid"/>
          </a:ln>
        </p:spPr>
      </p:sp>
      <p:sp>
        <p:nvSpPr>
          <p:cNvPr id="23" name="Shape 21"/>
          <p:cNvSpPr/>
          <p:nvPr/>
        </p:nvSpPr>
        <p:spPr>
          <a:xfrm>
            <a:off x="4069080" y="2862072"/>
            <a:ext cx="4617720" cy="438912"/>
          </a:xfrm>
          <a:prstGeom prst="roundRect">
            <a:avLst>
              <a:gd name="adj" fmla="val 16667"/>
            </a:avLst>
          </a:prstGeom>
          <a:solidFill>
            <a:srgbClr val="FFF4BF"/>
          </a:solidFill>
          <a:ln w="12700">
            <a:solidFill>
              <a:srgbClr val="FFF4BF"/>
            </a:solidFill>
            <a:prstDash val="solid"/>
          </a:ln>
        </p:spPr>
      </p:sp>
      <p:sp>
        <p:nvSpPr>
          <p:cNvPr id="24" name="Text 22"/>
          <p:cNvSpPr txBox="1"/>
          <p:nvPr/>
        </p:nvSpPr>
        <p:spPr>
          <a:xfrm>
            <a:off x="4224528" y="2862072"/>
            <a:ext cx="4389120" cy="438912"/>
          </a:xfrm>
          <a:prstGeom prst="rect">
            <a:avLst/>
          </a:prstGeom>
          <a:noFill/>
          <a:ln/>
        </p:spPr>
        <p:txBody>
          <a:bodyPr wrap="square" lIns="0" tIns="0" rIns="0" bIns="0" rtlCol="0" anchor="ctr"/>
          <a:lstStyle/>
          <a:p>
            <a:pPr indent="0" marL="0">
              <a:buNone/>
            </a:pPr>
            <a:r>
              <a:rPr lang="en-US" sz="1200" dirty="0">
                <a:solidFill>
                  <a:srgbClr val="111111"/>
                </a:solidFill>
              </a:rPr>
              <a:t>Publicación también en App Store, compilando en la nube, sin Mac.</a:t>
            </a:r>
            <a:endParaRPr lang="en-US" sz="1200" dirty="0"/>
          </a:p>
        </p:txBody>
      </p:sp>
      <p:sp>
        <p:nvSpPr>
          <p:cNvPr id="25" name="Shape 23"/>
          <p:cNvSpPr/>
          <p:nvPr/>
        </p:nvSpPr>
        <p:spPr>
          <a:xfrm>
            <a:off x="457200" y="3374136"/>
            <a:ext cx="3429000" cy="438912"/>
          </a:xfrm>
          <a:prstGeom prst="roundRect">
            <a:avLst>
              <a:gd name="adj" fmla="val 16667"/>
            </a:avLst>
          </a:prstGeom>
          <a:solidFill>
            <a:srgbClr val="F2F2F2"/>
          </a:solidFill>
          <a:ln w="12700">
            <a:solidFill>
              <a:srgbClr val="F2F2F2"/>
            </a:solidFill>
            <a:prstDash val="solid"/>
          </a:ln>
        </p:spPr>
      </p:sp>
      <p:sp>
        <p:nvSpPr>
          <p:cNvPr id="26" name="Text 24"/>
          <p:cNvSpPr txBox="1"/>
          <p:nvPr/>
        </p:nvSpPr>
        <p:spPr>
          <a:xfrm>
            <a:off x="621792" y="3374136"/>
            <a:ext cx="3200400" cy="438912"/>
          </a:xfrm>
          <a:prstGeom prst="rect">
            <a:avLst/>
          </a:prstGeom>
          <a:noFill/>
          <a:ln/>
        </p:spPr>
        <p:txBody>
          <a:bodyPr wrap="square" lIns="0" tIns="0" rIns="0" bIns="0" rtlCol="0" anchor="ctr"/>
          <a:lstStyle/>
          <a:p>
            <a:pPr indent="0" marL="0">
              <a:buNone/>
            </a:pPr>
            <a:r>
              <a:rPr lang="en-US" sz="1200" b="1" dirty="0">
                <a:solidFill>
                  <a:srgbClr val="111111"/>
                </a:solidFill>
              </a:rPr>
              <a:t>Subir todo a GitHub</a:t>
            </a:r>
            <a:endParaRPr lang="en-US" sz="1200" dirty="0"/>
          </a:p>
        </p:txBody>
      </p:sp>
      <p:sp>
        <p:nvSpPr>
          <p:cNvPr id="27" name="Shape 25"/>
          <p:cNvSpPr/>
          <p:nvPr/>
        </p:nvSpPr>
        <p:spPr>
          <a:xfrm>
            <a:off x="3931920" y="3465576"/>
            <a:ext cx="91440" cy="256032"/>
          </a:xfrm>
          <a:prstGeom prst="rightArrow">
            <a:avLst/>
          </a:prstGeom>
          <a:solidFill>
            <a:srgbClr val="F5C400"/>
          </a:solidFill>
          <a:ln w="12700">
            <a:solidFill>
              <a:srgbClr val="F5C400"/>
            </a:solidFill>
            <a:prstDash val="solid"/>
          </a:ln>
        </p:spPr>
      </p:sp>
      <p:sp>
        <p:nvSpPr>
          <p:cNvPr id="28" name="Shape 26"/>
          <p:cNvSpPr/>
          <p:nvPr/>
        </p:nvSpPr>
        <p:spPr>
          <a:xfrm>
            <a:off x="4069080" y="3374136"/>
            <a:ext cx="4617720" cy="438912"/>
          </a:xfrm>
          <a:prstGeom prst="roundRect">
            <a:avLst>
              <a:gd name="adj" fmla="val 16667"/>
            </a:avLst>
          </a:prstGeom>
          <a:solidFill>
            <a:srgbClr val="FFF4BF"/>
          </a:solidFill>
          <a:ln w="12700">
            <a:solidFill>
              <a:srgbClr val="FFF4BF"/>
            </a:solidFill>
            <a:prstDash val="solid"/>
          </a:ln>
        </p:spPr>
      </p:sp>
      <p:sp>
        <p:nvSpPr>
          <p:cNvPr id="29" name="Text 27"/>
          <p:cNvSpPr txBox="1"/>
          <p:nvPr/>
        </p:nvSpPr>
        <p:spPr>
          <a:xfrm>
            <a:off x="4224528" y="3374136"/>
            <a:ext cx="4389120" cy="438912"/>
          </a:xfrm>
          <a:prstGeom prst="rect">
            <a:avLst/>
          </a:prstGeom>
          <a:noFill/>
          <a:ln/>
        </p:spPr>
        <p:txBody>
          <a:bodyPr wrap="square" lIns="0" tIns="0" rIns="0" bIns="0" rtlCol="0" anchor="ctr"/>
          <a:lstStyle/>
          <a:p>
            <a:pPr indent="0" marL="0">
              <a:buNone/>
            </a:pPr>
            <a:r>
              <a:rPr lang="en-US" sz="1200" dirty="0">
                <a:solidFill>
                  <a:srgbClr val="111111"/>
                </a:solidFill>
              </a:rPr>
              <a:t>Repositorio público con código, informes, matriz y backlog.</a:t>
            </a:r>
            <a:endParaRPr lang="en-US" sz="1200" dirty="0"/>
          </a:p>
        </p:txBody>
      </p:sp>
      <p:sp>
        <p:nvSpPr>
          <p:cNvPr id="30" name="Shape 28"/>
          <p:cNvSpPr/>
          <p:nvPr/>
        </p:nvSpPr>
        <p:spPr>
          <a:xfrm>
            <a:off x="457200" y="3977640"/>
            <a:ext cx="8229600" cy="640080"/>
          </a:xfrm>
          <a:prstGeom prst="roundRect">
            <a:avLst>
              <a:gd name="adj" fmla="val 11429"/>
            </a:avLst>
          </a:prstGeom>
          <a:solidFill>
            <a:srgbClr val="111111"/>
          </a:solidFill>
          <a:ln w="12700">
            <a:solidFill>
              <a:srgbClr val="111111"/>
            </a:solidFill>
            <a:prstDash val="solid"/>
          </a:ln>
        </p:spPr>
      </p:sp>
      <p:sp>
        <p:nvSpPr>
          <p:cNvPr id="31" name="Text 29"/>
          <p:cNvSpPr txBox="1"/>
          <p:nvPr/>
        </p:nvSpPr>
        <p:spPr>
          <a:xfrm>
            <a:off x="658368" y="3977640"/>
            <a:ext cx="7863840" cy="640080"/>
          </a:xfrm>
          <a:prstGeom prst="rect">
            <a:avLst/>
          </a:prstGeom>
          <a:noFill/>
          <a:ln/>
        </p:spPr>
        <p:txBody>
          <a:bodyPr wrap="square" lIns="0" tIns="0" rIns="0" bIns="0" rtlCol="0" anchor="ctr"/>
          <a:lstStyle/>
          <a:p>
            <a:pPr indent="0" marL="0">
              <a:buNone/>
            </a:pPr>
            <a:r>
              <a:rPr lang="en-US" sz="1300" b="1" dirty="0">
                <a:solidFill>
                  <a:srgbClr val="F5C400"/>
                </a:solidFill>
              </a:rPr>
              <a:t>Avance desde el 15 de octubre: </a:t>
            </a:r>
            <a:pPr indent="0" marL="0">
              <a:buNone/>
            </a:pPr>
            <a:r>
              <a:rPr lang="en-US" sz="1300" dirty="0">
                <a:solidFill>
                  <a:srgbClr val="FFFFFF"/>
                </a:solidFill>
              </a:rPr>
              <a:t>Sprint 0 completado. En el Sprint 1 ya están CORS, el límite de intentos en login y escaneo, y las primeras 10 pruebas automatizadas.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Requisitos del sistema</a:t>
            </a:r>
            <a:endParaRPr lang="en-US" sz="2600" dirty="0"/>
          </a:p>
        </p:txBody>
      </p:sp>
      <p:sp>
        <p:nvSpPr>
          <p:cNvPr id="3" name="Shape 1"/>
          <p:cNvSpPr/>
          <p:nvPr/>
        </p:nvSpPr>
        <p:spPr>
          <a:xfrm>
            <a:off x="457200" y="1005840"/>
            <a:ext cx="4023360" cy="3429000"/>
          </a:xfrm>
          <a:prstGeom prst="roundRect">
            <a:avLst>
              <a:gd name="adj" fmla="val 2133"/>
            </a:avLst>
          </a:prstGeom>
          <a:solidFill>
            <a:srgbClr val="F2F2F2"/>
          </a:solidFill>
          <a:ln w="12700">
            <a:solidFill>
              <a:srgbClr val="F2F2F2"/>
            </a:solidFill>
            <a:prstDash val="solid"/>
          </a:ln>
        </p:spPr>
      </p:sp>
      <p:sp>
        <p:nvSpPr>
          <p:cNvPr id="4" name="Text 2"/>
          <p:cNvSpPr txBox="1"/>
          <p:nvPr/>
        </p:nvSpPr>
        <p:spPr>
          <a:xfrm>
            <a:off x="68580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Funcionales</a:t>
            </a:r>
            <a:endParaRPr lang="en-US" sz="1600" dirty="0"/>
          </a:p>
        </p:txBody>
      </p:sp>
      <p:sp>
        <p:nvSpPr>
          <p:cNvPr id="5" name="Text 3"/>
          <p:cNvSpPr txBox="1"/>
          <p:nvPr/>
        </p:nvSpPr>
        <p:spPr>
          <a:xfrm>
            <a:off x="68580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RF-01</a:t>
            </a:r>
            <a:endParaRPr lang="en-US" sz="1200" dirty="0"/>
          </a:p>
        </p:txBody>
      </p:sp>
      <p:sp>
        <p:nvSpPr>
          <p:cNvPr id="6" name="Text 4"/>
          <p:cNvSpPr txBox="1"/>
          <p:nvPr/>
        </p:nvSpPr>
        <p:spPr>
          <a:xfrm>
            <a:off x="118872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Registro e inicio de sesión con correo</a:t>
            </a:r>
            <a:endParaRPr lang="en-US" sz="1200" dirty="0"/>
          </a:p>
        </p:txBody>
      </p:sp>
      <p:sp>
        <p:nvSpPr>
          <p:cNvPr id="7" name="Shape 5"/>
          <p:cNvSpPr/>
          <p:nvPr/>
        </p:nvSpPr>
        <p:spPr>
          <a:xfrm>
            <a:off x="3547872" y="1623060"/>
            <a:ext cx="777240" cy="237744"/>
          </a:xfrm>
          <a:prstGeom prst="roundRect">
            <a:avLst>
              <a:gd name="adj" fmla="val 50000"/>
            </a:avLst>
          </a:prstGeom>
          <a:solidFill>
            <a:srgbClr val="111111"/>
          </a:solidFill>
          <a:ln w="12700">
            <a:solidFill>
              <a:srgbClr val="111111"/>
            </a:solidFill>
            <a:prstDash val="solid"/>
          </a:ln>
        </p:spPr>
      </p:sp>
      <p:sp>
        <p:nvSpPr>
          <p:cNvPr id="8" name="Text 6"/>
          <p:cNvSpPr txBox="1"/>
          <p:nvPr/>
        </p:nvSpPr>
        <p:spPr>
          <a:xfrm>
            <a:off x="354787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9" name="Text 7"/>
          <p:cNvSpPr txBox="1"/>
          <p:nvPr/>
        </p:nvSpPr>
        <p:spPr>
          <a:xfrm>
            <a:off x="68580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RF-03</a:t>
            </a:r>
            <a:endParaRPr lang="en-US" sz="1200" dirty="0"/>
          </a:p>
        </p:txBody>
      </p:sp>
      <p:sp>
        <p:nvSpPr>
          <p:cNvPr id="10" name="Text 8"/>
          <p:cNvSpPr txBox="1"/>
          <p:nvPr/>
        </p:nvSpPr>
        <p:spPr>
          <a:xfrm>
            <a:off x="118872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Tarjeta de socio con el avance hacia el premio</a:t>
            </a:r>
            <a:endParaRPr lang="en-US" sz="1200" dirty="0"/>
          </a:p>
        </p:txBody>
      </p:sp>
      <p:sp>
        <p:nvSpPr>
          <p:cNvPr id="11" name="Shape 9"/>
          <p:cNvSpPr/>
          <p:nvPr/>
        </p:nvSpPr>
        <p:spPr>
          <a:xfrm>
            <a:off x="3547872" y="2098548"/>
            <a:ext cx="777240" cy="237744"/>
          </a:xfrm>
          <a:prstGeom prst="roundRect">
            <a:avLst>
              <a:gd name="adj" fmla="val 50000"/>
            </a:avLst>
          </a:prstGeom>
          <a:solidFill>
            <a:srgbClr val="111111"/>
          </a:solidFill>
          <a:ln w="12700">
            <a:solidFill>
              <a:srgbClr val="111111"/>
            </a:solidFill>
            <a:prstDash val="solid"/>
          </a:ln>
        </p:spPr>
      </p:sp>
      <p:sp>
        <p:nvSpPr>
          <p:cNvPr id="12" name="Text 10"/>
          <p:cNvSpPr txBox="1"/>
          <p:nvPr/>
        </p:nvSpPr>
        <p:spPr>
          <a:xfrm>
            <a:off x="354787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3" name="Text 11"/>
          <p:cNvSpPr txBox="1"/>
          <p:nvPr/>
        </p:nvSpPr>
        <p:spPr>
          <a:xfrm>
            <a:off x="68580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RF-04</a:t>
            </a:r>
            <a:endParaRPr lang="en-US" sz="1200" dirty="0"/>
          </a:p>
        </p:txBody>
      </p:sp>
      <p:sp>
        <p:nvSpPr>
          <p:cNvPr id="14" name="Text 12"/>
          <p:cNvSpPr txBox="1"/>
          <p:nvPr/>
        </p:nvSpPr>
        <p:spPr>
          <a:xfrm>
            <a:off x="118872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QR personal de 3 minutos y un solo uso</a:t>
            </a:r>
            <a:endParaRPr lang="en-US" sz="1200" dirty="0"/>
          </a:p>
        </p:txBody>
      </p:sp>
      <p:sp>
        <p:nvSpPr>
          <p:cNvPr id="15" name="Shape 13"/>
          <p:cNvSpPr/>
          <p:nvPr/>
        </p:nvSpPr>
        <p:spPr>
          <a:xfrm>
            <a:off x="3547872" y="2574036"/>
            <a:ext cx="777240" cy="237744"/>
          </a:xfrm>
          <a:prstGeom prst="roundRect">
            <a:avLst>
              <a:gd name="adj" fmla="val 50000"/>
            </a:avLst>
          </a:prstGeom>
          <a:solidFill>
            <a:srgbClr val="111111"/>
          </a:solidFill>
          <a:ln w="12700">
            <a:solidFill>
              <a:srgbClr val="111111"/>
            </a:solidFill>
            <a:prstDash val="solid"/>
          </a:ln>
        </p:spPr>
      </p:sp>
      <p:sp>
        <p:nvSpPr>
          <p:cNvPr id="16" name="Text 14"/>
          <p:cNvSpPr txBox="1"/>
          <p:nvPr/>
        </p:nvSpPr>
        <p:spPr>
          <a:xfrm>
            <a:off x="3547872" y="2574036"/>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7" name="Text 15"/>
          <p:cNvSpPr txBox="1"/>
          <p:nvPr/>
        </p:nvSpPr>
        <p:spPr>
          <a:xfrm>
            <a:off x="68580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RF-05</a:t>
            </a:r>
            <a:endParaRPr lang="en-US" sz="1200" dirty="0"/>
          </a:p>
        </p:txBody>
      </p:sp>
      <p:sp>
        <p:nvSpPr>
          <p:cNvPr id="18" name="Text 16"/>
          <p:cNvSpPr txBox="1"/>
          <p:nvPr/>
        </p:nvSpPr>
        <p:spPr>
          <a:xfrm>
            <a:off x="118872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Escaneo del personal para sumar visitas</a:t>
            </a:r>
            <a:endParaRPr lang="en-US" sz="1200" dirty="0"/>
          </a:p>
        </p:txBody>
      </p:sp>
      <p:sp>
        <p:nvSpPr>
          <p:cNvPr id="19" name="Shape 17"/>
          <p:cNvSpPr/>
          <p:nvPr/>
        </p:nvSpPr>
        <p:spPr>
          <a:xfrm>
            <a:off x="3547872" y="3049524"/>
            <a:ext cx="777240" cy="237744"/>
          </a:xfrm>
          <a:prstGeom prst="roundRect">
            <a:avLst>
              <a:gd name="adj" fmla="val 50000"/>
            </a:avLst>
          </a:prstGeom>
          <a:solidFill>
            <a:srgbClr val="111111"/>
          </a:solidFill>
          <a:ln w="12700">
            <a:solidFill>
              <a:srgbClr val="111111"/>
            </a:solidFill>
            <a:prstDash val="solid"/>
          </a:ln>
        </p:spPr>
      </p:sp>
      <p:sp>
        <p:nvSpPr>
          <p:cNvPr id="20" name="Text 18"/>
          <p:cNvSpPr txBox="1"/>
          <p:nvPr/>
        </p:nvSpPr>
        <p:spPr>
          <a:xfrm>
            <a:off x="3547872" y="3049524"/>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1" name="Text 19"/>
          <p:cNvSpPr txBox="1"/>
          <p:nvPr/>
        </p:nvSpPr>
        <p:spPr>
          <a:xfrm>
            <a:off x="68580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RF-06</a:t>
            </a:r>
            <a:endParaRPr lang="en-US" sz="1200" dirty="0"/>
          </a:p>
        </p:txBody>
      </p:sp>
      <p:sp>
        <p:nvSpPr>
          <p:cNvPr id="22" name="Text 20"/>
          <p:cNvSpPr txBox="1"/>
          <p:nvPr/>
        </p:nvSpPr>
        <p:spPr>
          <a:xfrm>
            <a:off x="118872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Canje del premio en dos pasos</a:t>
            </a:r>
            <a:endParaRPr lang="en-US" sz="1200" dirty="0"/>
          </a:p>
        </p:txBody>
      </p:sp>
      <p:sp>
        <p:nvSpPr>
          <p:cNvPr id="23" name="Shape 21"/>
          <p:cNvSpPr/>
          <p:nvPr/>
        </p:nvSpPr>
        <p:spPr>
          <a:xfrm>
            <a:off x="3547872" y="3525012"/>
            <a:ext cx="777240" cy="237744"/>
          </a:xfrm>
          <a:prstGeom prst="roundRect">
            <a:avLst>
              <a:gd name="adj" fmla="val 50000"/>
            </a:avLst>
          </a:prstGeom>
          <a:solidFill>
            <a:srgbClr val="111111"/>
          </a:solidFill>
          <a:ln w="12700">
            <a:solidFill>
              <a:srgbClr val="111111"/>
            </a:solidFill>
            <a:prstDash val="solid"/>
          </a:ln>
        </p:spPr>
      </p:sp>
      <p:sp>
        <p:nvSpPr>
          <p:cNvPr id="24" name="Text 22"/>
          <p:cNvSpPr txBox="1"/>
          <p:nvPr/>
        </p:nvSpPr>
        <p:spPr>
          <a:xfrm>
            <a:off x="3547872" y="3525012"/>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5" name="Text 23"/>
          <p:cNvSpPr txBox="1"/>
          <p:nvPr/>
        </p:nvSpPr>
        <p:spPr>
          <a:xfrm>
            <a:off x="68580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RF-08</a:t>
            </a:r>
            <a:endParaRPr lang="en-US" sz="1200" dirty="0"/>
          </a:p>
        </p:txBody>
      </p:sp>
      <p:sp>
        <p:nvSpPr>
          <p:cNvPr id="26" name="Text 24"/>
          <p:cNvSpPr txBox="1"/>
          <p:nvPr/>
        </p:nvSpPr>
        <p:spPr>
          <a:xfrm>
            <a:off x="118872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Menú, premios y promociones editables</a:t>
            </a:r>
            <a:endParaRPr lang="en-US" sz="1200" dirty="0"/>
          </a:p>
        </p:txBody>
      </p:sp>
      <p:sp>
        <p:nvSpPr>
          <p:cNvPr id="27" name="Shape 25"/>
          <p:cNvSpPr/>
          <p:nvPr/>
        </p:nvSpPr>
        <p:spPr>
          <a:xfrm>
            <a:off x="3547872" y="4000500"/>
            <a:ext cx="777240" cy="237744"/>
          </a:xfrm>
          <a:prstGeom prst="roundRect">
            <a:avLst>
              <a:gd name="adj" fmla="val 50000"/>
            </a:avLst>
          </a:prstGeom>
          <a:solidFill>
            <a:srgbClr val="111111"/>
          </a:solidFill>
          <a:ln w="12700">
            <a:solidFill>
              <a:srgbClr val="111111"/>
            </a:solidFill>
            <a:prstDash val="solid"/>
          </a:ln>
        </p:spPr>
      </p:sp>
      <p:sp>
        <p:nvSpPr>
          <p:cNvPr id="28" name="Text 26"/>
          <p:cNvSpPr txBox="1"/>
          <p:nvPr/>
        </p:nvSpPr>
        <p:spPr>
          <a:xfrm>
            <a:off x="3547872" y="400050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9" name="Shape 27"/>
          <p:cNvSpPr/>
          <p:nvPr/>
        </p:nvSpPr>
        <p:spPr>
          <a:xfrm>
            <a:off x="4663440" y="1005840"/>
            <a:ext cx="4023360" cy="3429000"/>
          </a:xfrm>
          <a:prstGeom prst="roundRect">
            <a:avLst>
              <a:gd name="adj" fmla="val 2133"/>
            </a:avLst>
          </a:prstGeom>
          <a:solidFill>
            <a:srgbClr val="F2F2F2"/>
          </a:solidFill>
          <a:ln w="12700">
            <a:solidFill>
              <a:srgbClr val="F2F2F2"/>
            </a:solidFill>
            <a:prstDash val="solid"/>
          </a:ln>
        </p:spPr>
      </p:sp>
      <p:sp>
        <p:nvSpPr>
          <p:cNvPr id="30" name="Text 28"/>
          <p:cNvSpPr txBox="1"/>
          <p:nvPr/>
        </p:nvSpPr>
        <p:spPr>
          <a:xfrm>
            <a:off x="489204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No funcionales</a:t>
            </a:r>
            <a:endParaRPr lang="en-US" sz="1600" dirty="0"/>
          </a:p>
        </p:txBody>
      </p:sp>
      <p:sp>
        <p:nvSpPr>
          <p:cNvPr id="31" name="Text 29"/>
          <p:cNvSpPr txBox="1"/>
          <p:nvPr/>
        </p:nvSpPr>
        <p:spPr>
          <a:xfrm>
            <a:off x="489204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RNF-01</a:t>
            </a:r>
            <a:endParaRPr lang="en-US" sz="1200" dirty="0"/>
          </a:p>
        </p:txBody>
      </p:sp>
      <p:sp>
        <p:nvSpPr>
          <p:cNvPr id="32" name="Text 30"/>
          <p:cNvSpPr txBox="1"/>
          <p:nvPr/>
        </p:nvSpPr>
        <p:spPr>
          <a:xfrm>
            <a:off x="539496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contraseñas cifradas y permisos por rol</a:t>
            </a:r>
            <a:endParaRPr lang="en-US" sz="1200" dirty="0"/>
          </a:p>
        </p:txBody>
      </p:sp>
      <p:sp>
        <p:nvSpPr>
          <p:cNvPr id="33" name="Shape 31"/>
          <p:cNvSpPr/>
          <p:nvPr/>
        </p:nvSpPr>
        <p:spPr>
          <a:xfrm>
            <a:off x="7754112" y="1623060"/>
            <a:ext cx="777240" cy="237744"/>
          </a:xfrm>
          <a:prstGeom prst="roundRect">
            <a:avLst>
              <a:gd name="adj" fmla="val 50000"/>
            </a:avLst>
          </a:prstGeom>
          <a:solidFill>
            <a:srgbClr val="111111"/>
          </a:solidFill>
          <a:ln w="12700">
            <a:solidFill>
              <a:srgbClr val="111111"/>
            </a:solidFill>
            <a:prstDash val="solid"/>
          </a:ln>
        </p:spPr>
      </p:sp>
      <p:sp>
        <p:nvSpPr>
          <p:cNvPr id="34" name="Text 32"/>
          <p:cNvSpPr txBox="1"/>
          <p:nvPr/>
        </p:nvSpPr>
        <p:spPr>
          <a:xfrm>
            <a:off x="775411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5" name="Text 33"/>
          <p:cNvSpPr txBox="1"/>
          <p:nvPr/>
        </p:nvSpPr>
        <p:spPr>
          <a:xfrm>
            <a:off x="489204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RNF-04</a:t>
            </a:r>
            <a:endParaRPr lang="en-US" sz="1200" dirty="0"/>
          </a:p>
        </p:txBody>
      </p:sp>
      <p:sp>
        <p:nvSpPr>
          <p:cNvPr id="36" name="Text 34"/>
          <p:cNvSpPr txBox="1"/>
          <p:nvPr/>
        </p:nvSpPr>
        <p:spPr>
          <a:xfrm>
            <a:off x="539496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credenciales fuera del código</a:t>
            </a:r>
            <a:endParaRPr lang="en-US" sz="1200" dirty="0"/>
          </a:p>
        </p:txBody>
      </p:sp>
      <p:sp>
        <p:nvSpPr>
          <p:cNvPr id="37" name="Shape 35"/>
          <p:cNvSpPr/>
          <p:nvPr/>
        </p:nvSpPr>
        <p:spPr>
          <a:xfrm>
            <a:off x="7754112" y="2098548"/>
            <a:ext cx="777240" cy="237744"/>
          </a:xfrm>
          <a:prstGeom prst="roundRect">
            <a:avLst>
              <a:gd name="adj" fmla="val 50000"/>
            </a:avLst>
          </a:prstGeom>
          <a:solidFill>
            <a:srgbClr val="111111"/>
          </a:solidFill>
          <a:ln w="12700">
            <a:solidFill>
              <a:srgbClr val="111111"/>
            </a:solidFill>
            <a:prstDash val="solid"/>
          </a:ln>
        </p:spPr>
      </p:sp>
      <p:sp>
        <p:nvSpPr>
          <p:cNvPr id="38" name="Text 36"/>
          <p:cNvSpPr txBox="1"/>
          <p:nvPr/>
        </p:nvSpPr>
        <p:spPr>
          <a:xfrm>
            <a:off x="775411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9" name="Text 37"/>
          <p:cNvSpPr txBox="1"/>
          <p:nvPr/>
        </p:nvSpPr>
        <p:spPr>
          <a:xfrm>
            <a:off x="489204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RNF-05</a:t>
            </a:r>
            <a:endParaRPr lang="en-US" sz="1200" dirty="0"/>
          </a:p>
        </p:txBody>
      </p:sp>
      <p:sp>
        <p:nvSpPr>
          <p:cNvPr id="40" name="Text 38"/>
          <p:cNvSpPr txBox="1"/>
          <p:nvPr/>
        </p:nvSpPr>
        <p:spPr>
          <a:xfrm>
            <a:off x="539496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límite de intentos y CORS</a:t>
            </a:r>
            <a:endParaRPr lang="en-US" sz="1200" dirty="0"/>
          </a:p>
        </p:txBody>
      </p:sp>
      <p:sp>
        <p:nvSpPr>
          <p:cNvPr id="41" name="Shape 39"/>
          <p:cNvSpPr/>
          <p:nvPr/>
        </p:nvSpPr>
        <p:spPr>
          <a:xfrm>
            <a:off x="7754112" y="2574036"/>
            <a:ext cx="777240" cy="237744"/>
          </a:xfrm>
          <a:prstGeom prst="roundRect">
            <a:avLst>
              <a:gd name="adj" fmla="val 50000"/>
            </a:avLst>
          </a:prstGeom>
          <a:solidFill>
            <a:srgbClr val="111111"/>
          </a:solidFill>
          <a:ln w="12700">
            <a:solidFill>
              <a:srgbClr val="111111"/>
            </a:solidFill>
            <a:prstDash val="solid"/>
          </a:ln>
        </p:spPr>
      </p:sp>
      <p:sp>
        <p:nvSpPr>
          <p:cNvPr id="42" name="Text 40"/>
          <p:cNvSpPr txBox="1"/>
          <p:nvPr/>
        </p:nvSpPr>
        <p:spPr>
          <a:xfrm>
            <a:off x="7754112" y="2574036"/>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43" name="Text 41"/>
          <p:cNvSpPr txBox="1"/>
          <p:nvPr/>
        </p:nvSpPr>
        <p:spPr>
          <a:xfrm>
            <a:off x="489204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RNF-07</a:t>
            </a:r>
            <a:endParaRPr lang="en-US" sz="1200" dirty="0"/>
          </a:p>
        </p:txBody>
      </p:sp>
      <p:sp>
        <p:nvSpPr>
          <p:cNvPr id="44" name="Text 42"/>
          <p:cNvSpPr txBox="1"/>
          <p:nvPr/>
        </p:nvSpPr>
        <p:spPr>
          <a:xfrm>
            <a:off x="539496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Disponibilidad: servidor en la nube con HTTPS</a:t>
            </a:r>
            <a:endParaRPr lang="en-US" sz="1200" dirty="0"/>
          </a:p>
        </p:txBody>
      </p:sp>
      <p:sp>
        <p:nvSpPr>
          <p:cNvPr id="45" name="Shape 43"/>
          <p:cNvSpPr/>
          <p:nvPr/>
        </p:nvSpPr>
        <p:spPr>
          <a:xfrm>
            <a:off x="7754112" y="3049524"/>
            <a:ext cx="777240" cy="237744"/>
          </a:xfrm>
          <a:prstGeom prst="roundRect">
            <a:avLst>
              <a:gd name="adj" fmla="val 50000"/>
            </a:avLst>
          </a:prstGeom>
          <a:solidFill>
            <a:srgbClr val="F5C400"/>
          </a:solidFill>
          <a:ln w="12700">
            <a:solidFill>
              <a:srgbClr val="F5C400"/>
            </a:solidFill>
            <a:prstDash val="solid"/>
          </a:ln>
        </p:spPr>
      </p:sp>
      <p:sp>
        <p:nvSpPr>
          <p:cNvPr id="46" name="Text 44"/>
          <p:cNvSpPr txBox="1"/>
          <p:nvPr/>
        </p:nvSpPr>
        <p:spPr>
          <a:xfrm>
            <a:off x="7754112" y="3049524"/>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47" name="Text 45"/>
          <p:cNvSpPr txBox="1"/>
          <p:nvPr/>
        </p:nvSpPr>
        <p:spPr>
          <a:xfrm>
            <a:off x="489204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RNF-08</a:t>
            </a:r>
            <a:endParaRPr lang="en-US" sz="1200" dirty="0"/>
          </a:p>
        </p:txBody>
      </p:sp>
      <p:sp>
        <p:nvSpPr>
          <p:cNvPr id="48" name="Text 46"/>
          <p:cNvSpPr txBox="1"/>
          <p:nvPr/>
        </p:nvSpPr>
        <p:spPr>
          <a:xfrm>
            <a:off x="539496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Privacidad: cumplimiento del RGPD</a:t>
            </a:r>
            <a:endParaRPr lang="en-US" sz="1200" dirty="0"/>
          </a:p>
        </p:txBody>
      </p:sp>
      <p:sp>
        <p:nvSpPr>
          <p:cNvPr id="49" name="Shape 47"/>
          <p:cNvSpPr/>
          <p:nvPr/>
        </p:nvSpPr>
        <p:spPr>
          <a:xfrm>
            <a:off x="7754112" y="3525012"/>
            <a:ext cx="777240" cy="237744"/>
          </a:xfrm>
          <a:prstGeom prst="roundRect">
            <a:avLst>
              <a:gd name="adj" fmla="val 50000"/>
            </a:avLst>
          </a:prstGeom>
          <a:solidFill>
            <a:srgbClr val="F5C400"/>
          </a:solidFill>
          <a:ln w="12700">
            <a:solidFill>
              <a:srgbClr val="F5C400"/>
            </a:solidFill>
            <a:prstDash val="solid"/>
          </a:ln>
        </p:spPr>
      </p:sp>
      <p:sp>
        <p:nvSpPr>
          <p:cNvPr id="50" name="Text 48"/>
          <p:cNvSpPr txBox="1"/>
          <p:nvPr/>
        </p:nvSpPr>
        <p:spPr>
          <a:xfrm>
            <a:off x="7754112" y="3525012"/>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3</a:t>
            </a:r>
            <a:endParaRPr lang="en-US" sz="1000" dirty="0"/>
          </a:p>
        </p:txBody>
      </p:sp>
      <p:sp>
        <p:nvSpPr>
          <p:cNvPr id="51" name="Text 49"/>
          <p:cNvSpPr txBox="1"/>
          <p:nvPr/>
        </p:nvSpPr>
        <p:spPr>
          <a:xfrm>
            <a:off x="489204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RNF-09</a:t>
            </a:r>
            <a:endParaRPr lang="en-US" sz="1200" dirty="0"/>
          </a:p>
        </p:txBody>
      </p:sp>
      <p:sp>
        <p:nvSpPr>
          <p:cNvPr id="52" name="Text 50"/>
          <p:cNvSpPr txBox="1"/>
          <p:nvPr/>
        </p:nvSpPr>
        <p:spPr>
          <a:xfrm>
            <a:off x="539496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Publicación en Google Play y App Store</a:t>
            </a:r>
            <a:endParaRPr lang="en-US" sz="1200" dirty="0"/>
          </a:p>
        </p:txBody>
      </p:sp>
      <p:sp>
        <p:nvSpPr>
          <p:cNvPr id="53" name="Shape 51"/>
          <p:cNvSpPr/>
          <p:nvPr/>
        </p:nvSpPr>
        <p:spPr>
          <a:xfrm>
            <a:off x="7754112" y="4000500"/>
            <a:ext cx="777240" cy="237744"/>
          </a:xfrm>
          <a:prstGeom prst="roundRect">
            <a:avLst>
              <a:gd name="adj" fmla="val 50000"/>
            </a:avLst>
          </a:prstGeom>
          <a:solidFill>
            <a:srgbClr val="F5C400"/>
          </a:solidFill>
          <a:ln w="12700">
            <a:solidFill>
              <a:srgbClr val="F5C400"/>
            </a:solidFill>
            <a:prstDash val="solid"/>
          </a:ln>
        </p:spPr>
      </p:sp>
      <p:sp>
        <p:nvSpPr>
          <p:cNvPr id="54" name="Text 52"/>
          <p:cNvSpPr txBox="1"/>
          <p:nvPr/>
        </p:nvSpPr>
        <p:spPr>
          <a:xfrm>
            <a:off x="7754112" y="4000500"/>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55" name="Text 53"/>
          <p:cNvSpPr txBox="1"/>
          <p:nvPr/>
        </p:nvSpPr>
        <p:spPr>
          <a:xfrm>
            <a:off x="457200" y="4498848"/>
            <a:ext cx="8229600" cy="228600"/>
          </a:xfrm>
          <a:prstGeom prst="rect">
            <a:avLst/>
          </a:prstGeom>
          <a:noFill/>
          <a:ln/>
        </p:spPr>
        <p:txBody>
          <a:bodyPr wrap="square" lIns="0" tIns="0" rIns="0" bIns="0" rtlCol="0" anchor="t"/>
          <a:lstStyle/>
          <a:p>
            <a:pPr indent="0" marL="0">
              <a:buNone/>
            </a:pPr>
            <a:r>
              <a:rPr lang="en-US" sz="1100" i="1" dirty="0">
                <a:solidFill>
                  <a:srgbClr val="6B6B6B"/>
                </a:solidFill>
              </a:rPr>
              <a:t>Matriz completa con 28 requisitos, criterios de aceptación y estado: Matriz_de_Requisitos.xlsx en el repositorio.</a:t>
            </a:r>
            <a:endParaRPr lang="en-US" sz="1100" dirty="0"/>
          </a:p>
        </p:txBody>
      </p:sp>
      <p:sp>
        <p:nvSpPr>
          <p:cNvPr id="57" name="Shape 54"/>
          <p:cNvSpPr/>
          <p:nvPr/>
        </p:nvSpPr>
        <p:spPr>
          <a:xfrm>
            <a:off x="6446520" y="4745736"/>
            <a:ext cx="1600200" cy="246888"/>
          </a:xfrm>
          <a:prstGeom prst="roundRect">
            <a:avLst>
              <a:gd name="adj" fmla="val 48148"/>
            </a:avLst>
          </a:prstGeom>
          <a:solidFill>
            <a:srgbClr val="F5C400"/>
          </a:solidFill>
          <a:ln w="12700">
            <a:solidFill>
              <a:srgbClr val="F5C400"/>
            </a:solidFill>
            <a:prstDash val="solid"/>
          </a:ln>
        </p:spPr>
      </p:sp>
      <p:sp>
        <p:nvSpPr>
          <p:cNvPr id="58" name="Text 55"/>
          <p:cNvSpPr txBox="1"/>
          <p:nvPr/>
        </p:nvSpPr>
        <p:spPr>
          <a:xfrm>
            <a:off x="6446520" y="4745736"/>
            <a:ext cx="1600200" cy="246888"/>
          </a:xfrm>
          <a:prstGeom prst="rect">
            <a:avLst/>
          </a:prstGeom>
          <a:noFill/>
          <a:ln/>
        </p:spPr>
        <p:txBody>
          <a:bodyPr wrap="square" lIns="0" tIns="0" rIns="0" bIns="0" rtlCol="0" anchor="ctr"/>
          <a:lstStyle/>
          <a:p>
            <a:pPr algn="ctr" indent="0" marL="0">
              <a:buNone/>
            </a:pPr>
            <a:r>
              <a:rPr lang="en-US" sz="1000" b="1" dirty="0">
                <a:solidFill>
                  <a:srgbClr val="111111"/>
                </a:solidFill>
              </a:rPr>
              <a:t>Ajuste por feedback</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Metodología: Scrum en sprints de 2 semanas</a:t>
            </a:r>
            <a:endParaRPr lang="en-US" sz="2600" dirty="0"/>
          </a:p>
        </p:txBody>
      </p:sp>
      <p:sp>
        <p:nvSpPr>
          <p:cNvPr id="3" name="Shape 1"/>
          <p:cNvSpPr/>
          <p:nvPr/>
        </p:nvSpPr>
        <p:spPr>
          <a:xfrm>
            <a:off x="457200" y="1051560"/>
            <a:ext cx="2743200" cy="3520440"/>
          </a:xfrm>
          <a:prstGeom prst="roundRect">
            <a:avLst>
              <a:gd name="adj" fmla="val 2667"/>
            </a:avLst>
          </a:prstGeom>
          <a:solidFill>
            <a:srgbClr val="111111"/>
          </a:solidFill>
          <a:ln w="12700">
            <a:solidFill>
              <a:srgbClr val="111111"/>
            </a:solidFill>
            <a:prstDash val="solid"/>
          </a:ln>
        </p:spPr>
      </p:sp>
      <p:sp>
        <p:nvSpPr>
          <p:cNvPr id="4" name="Text 2"/>
          <p:cNvSpPr txBox="1"/>
          <p:nvPr/>
        </p:nvSpPr>
        <p:spPr>
          <a:xfrm>
            <a:off x="658368" y="1188720"/>
            <a:ext cx="2377440" cy="347472"/>
          </a:xfrm>
          <a:prstGeom prst="rect">
            <a:avLst/>
          </a:prstGeom>
          <a:noFill/>
          <a:ln/>
        </p:spPr>
        <p:txBody>
          <a:bodyPr wrap="square" lIns="0" tIns="0" rIns="0" bIns="0" rtlCol="0" anchor="t"/>
          <a:lstStyle/>
          <a:p>
            <a:pPr indent="0" marL="0">
              <a:buNone/>
            </a:pPr>
            <a:r>
              <a:rPr lang="en-US" sz="1700" b="1" dirty="0">
                <a:solidFill>
                  <a:srgbClr val="F5C400"/>
                </a:solidFill>
                <a:latin typeface="Arial" pitchFamily="34" charset="0"/>
                <a:ea typeface="Arial" pitchFamily="34" charset="-122"/>
                <a:cs typeface="Arial" pitchFamily="34" charset="-120"/>
              </a:rPr>
              <a:t>Por qué Scrum</a:t>
            </a:r>
            <a:endParaRPr lang="en-US" sz="1700" dirty="0"/>
          </a:p>
        </p:txBody>
      </p:sp>
      <p:sp>
        <p:nvSpPr>
          <p:cNvPr id="5" name="Text 3"/>
          <p:cNvSpPr txBox="1"/>
          <p:nvPr/>
        </p:nvSpPr>
        <p:spPr>
          <a:xfrm>
            <a:off x="658368" y="1645920"/>
            <a:ext cx="237744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Cada dos semanas hay algo funcionando para mostrar.</a:t>
            </a:r>
            <a:endParaRPr lang="en-US" sz="1400" dirty="0"/>
          </a:p>
          <a:p>
            <a:pPr marL="342900" indent="-342900">
              <a:spcAft>
                <a:spcPts val="800"/>
              </a:spcAft>
              <a:buSzPct val="100000"/>
              <a:buChar char="•"/>
            </a:pPr>
            <a:r>
              <a:rPr lang="en-US" sz="1400" dirty="0">
                <a:solidFill>
                  <a:srgbClr val="FFFFFF"/>
                </a:solidFill>
              </a:rPr>
              <a:t>En cada revisión recibo feedback de la docente y del local.</a:t>
            </a:r>
            <a:endParaRPr lang="en-US" sz="1400" dirty="0"/>
          </a:p>
          <a:p>
            <a:pPr marL="342900" indent="-342900">
              <a:spcAft>
                <a:spcPts val="800"/>
              </a:spcAft>
              <a:buSzPct val="100000"/>
              <a:buChar char="•"/>
            </a:pPr>
            <a:r>
              <a:rPr lang="en-US" sz="1400" dirty="0">
                <a:solidFill>
                  <a:srgbClr val="FFFFFF"/>
                </a:solidFill>
              </a:rPr>
              <a:t>Si algo cambia, ajusto el sprint siguiente sin rehacer el plan.</a:t>
            </a:r>
            <a:endParaRPr lang="en-US" sz="1400" dirty="0"/>
          </a:p>
        </p:txBody>
      </p:sp>
      <p:sp>
        <p:nvSpPr>
          <p:cNvPr id="6" name="Text 4"/>
          <p:cNvSpPr txBox="1"/>
          <p:nvPr/>
        </p:nvSpPr>
        <p:spPr>
          <a:xfrm>
            <a:off x="658368" y="3794760"/>
            <a:ext cx="2377440" cy="640080"/>
          </a:xfrm>
          <a:prstGeom prst="rect">
            <a:avLst/>
          </a:prstGeom>
          <a:noFill/>
          <a:ln/>
        </p:spPr>
        <p:txBody>
          <a:bodyPr wrap="square" lIns="0" tIns="0" rIns="0" bIns="0" rtlCol="0" anchor="t"/>
          <a:lstStyle/>
          <a:p>
            <a:pPr indent="0" marL="0">
              <a:buNone/>
            </a:pPr>
            <a:r>
              <a:rPr lang="en-US" sz="1200" i="1" dirty="0">
                <a:solidFill>
                  <a:srgbClr val="F5C400"/>
                </a:solidFill>
              </a:rPr>
              <a:t>Ciclo de cada sprint: planificación, desarrollo, demo y retrospectiva.</a:t>
            </a:r>
            <a:endParaRPr lang="en-US" sz="1200" dirty="0"/>
          </a:p>
        </p:txBody>
      </p:sp>
      <p:sp>
        <p:nvSpPr>
          <p:cNvPr id="7" name="Text 5"/>
          <p:cNvSpPr txBox="1"/>
          <p:nvPr/>
        </p:nvSpPr>
        <p:spPr>
          <a:xfrm>
            <a:off x="3474720" y="1051560"/>
            <a:ext cx="5212080" cy="32004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Orden del backlog: primero lo que impide publicar</a:t>
            </a:r>
            <a:endParaRPr lang="en-US" sz="1500" dirty="0"/>
          </a:p>
        </p:txBody>
      </p:sp>
      <p:sp>
        <p:nvSpPr>
          <p:cNvPr id="8" name="Shape 6"/>
          <p:cNvSpPr/>
          <p:nvPr/>
        </p:nvSpPr>
        <p:spPr>
          <a:xfrm>
            <a:off x="3474720" y="1463040"/>
            <a:ext cx="5212080" cy="548640"/>
          </a:xfrm>
          <a:prstGeom prst="roundRect">
            <a:avLst>
              <a:gd name="adj" fmla="val 13333"/>
            </a:avLst>
          </a:prstGeom>
          <a:solidFill>
            <a:srgbClr val="FFF4BF"/>
          </a:solidFill>
          <a:ln w="12700">
            <a:solidFill>
              <a:srgbClr val="FFF4BF"/>
            </a:solidFill>
            <a:prstDash val="solid"/>
          </a:ln>
        </p:spPr>
      </p:sp>
      <p:sp>
        <p:nvSpPr>
          <p:cNvPr id="9" name="Text 7"/>
          <p:cNvSpPr txBox="1"/>
          <p:nvPr/>
        </p:nvSpPr>
        <p:spPr>
          <a:xfrm>
            <a:off x="3639312" y="146304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1</a:t>
            </a:r>
            <a:endParaRPr lang="en-US" sz="1200" dirty="0"/>
          </a:p>
        </p:txBody>
      </p:sp>
      <p:sp>
        <p:nvSpPr>
          <p:cNvPr id="10" name="Text 8"/>
          <p:cNvSpPr txBox="1"/>
          <p:nvPr/>
        </p:nvSpPr>
        <p:spPr>
          <a:xfrm>
            <a:off x="4434840" y="146304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Seguridad</a:t>
            </a:r>
            <a:endParaRPr lang="en-US" sz="1300" dirty="0"/>
          </a:p>
        </p:txBody>
      </p:sp>
      <p:sp>
        <p:nvSpPr>
          <p:cNvPr id="11" name="Text 9"/>
          <p:cNvSpPr txBox="1"/>
          <p:nvPr/>
        </p:nvSpPr>
        <p:spPr>
          <a:xfrm>
            <a:off x="5806440" y="1463040"/>
            <a:ext cx="2743200" cy="548640"/>
          </a:xfrm>
          <a:prstGeom prst="rect">
            <a:avLst/>
          </a:prstGeom>
          <a:noFill/>
          <a:ln/>
        </p:spPr>
        <p:txBody>
          <a:bodyPr wrap="square" lIns="0" tIns="0" rIns="0" bIns="0" rtlCol="0" anchor="ctr"/>
          <a:lstStyle/>
          <a:p>
            <a:pPr indent="0" marL="0">
              <a:buNone/>
            </a:pPr>
            <a:r>
              <a:rPr lang="en-US" sz="1100" dirty="0">
                <a:solidFill>
                  <a:srgbClr val="111111"/>
                </a:solidFill>
              </a:rPr>
              <a:t>Con vulnerabilidades abiertas la app no se puede publicar.</a:t>
            </a:r>
            <a:endParaRPr lang="en-US" sz="1100" dirty="0"/>
          </a:p>
        </p:txBody>
      </p:sp>
      <p:sp>
        <p:nvSpPr>
          <p:cNvPr id="12" name="Shape 10"/>
          <p:cNvSpPr/>
          <p:nvPr/>
        </p:nvSpPr>
        <p:spPr>
          <a:xfrm>
            <a:off x="3474720" y="2103120"/>
            <a:ext cx="5212080" cy="548640"/>
          </a:xfrm>
          <a:prstGeom prst="roundRect">
            <a:avLst>
              <a:gd name="adj" fmla="val 13333"/>
            </a:avLst>
          </a:prstGeom>
          <a:solidFill>
            <a:srgbClr val="F2F2F2"/>
          </a:solidFill>
          <a:ln w="12700">
            <a:solidFill>
              <a:srgbClr val="F2F2F2"/>
            </a:solidFill>
            <a:prstDash val="solid"/>
          </a:ln>
        </p:spPr>
      </p:sp>
      <p:sp>
        <p:nvSpPr>
          <p:cNvPr id="13" name="Text 11"/>
          <p:cNvSpPr txBox="1"/>
          <p:nvPr/>
        </p:nvSpPr>
        <p:spPr>
          <a:xfrm>
            <a:off x="3639312" y="210312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2</a:t>
            </a:r>
            <a:endParaRPr lang="en-US" sz="1200" dirty="0"/>
          </a:p>
        </p:txBody>
      </p:sp>
      <p:sp>
        <p:nvSpPr>
          <p:cNvPr id="14" name="Text 12"/>
          <p:cNvSpPr txBox="1"/>
          <p:nvPr/>
        </p:nvSpPr>
        <p:spPr>
          <a:xfrm>
            <a:off x="4434840" y="210312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Nube: Android e iOS</a:t>
            </a:r>
            <a:endParaRPr lang="en-US" sz="1300" dirty="0"/>
          </a:p>
        </p:txBody>
      </p:sp>
      <p:sp>
        <p:nvSpPr>
          <p:cNvPr id="15" name="Text 13"/>
          <p:cNvSpPr txBox="1"/>
          <p:nvPr/>
        </p:nvSpPr>
        <p:spPr>
          <a:xfrm>
            <a:off x="5806440" y="2103120"/>
            <a:ext cx="2743200" cy="548640"/>
          </a:xfrm>
          <a:prstGeom prst="rect">
            <a:avLst/>
          </a:prstGeom>
          <a:noFill/>
          <a:ln/>
        </p:spPr>
        <p:txBody>
          <a:bodyPr wrap="square" lIns="0" tIns="0" rIns="0" bIns="0" rtlCol="0" anchor="ctr"/>
          <a:lstStyle/>
          <a:p>
            <a:pPr indent="0" marL="0">
              <a:buNone/>
            </a:pPr>
            <a:r>
              <a:rPr lang="en-US" sz="1100" dirty="0">
                <a:solidFill>
                  <a:srgbClr val="111111"/>
                </a:solidFill>
              </a:rPr>
              <a:t>Google Play pide 14 días de prueba cerrada y Apple una cuenta verificada: deben partir a tiempo.</a:t>
            </a:r>
            <a:endParaRPr lang="en-US" sz="1100" dirty="0"/>
          </a:p>
        </p:txBody>
      </p:sp>
      <p:sp>
        <p:nvSpPr>
          <p:cNvPr id="16" name="Shape 14"/>
          <p:cNvSpPr/>
          <p:nvPr/>
        </p:nvSpPr>
        <p:spPr>
          <a:xfrm>
            <a:off x="3474720" y="2743200"/>
            <a:ext cx="5212080" cy="548640"/>
          </a:xfrm>
          <a:prstGeom prst="roundRect">
            <a:avLst>
              <a:gd name="adj" fmla="val 13333"/>
            </a:avLst>
          </a:prstGeom>
          <a:solidFill>
            <a:srgbClr val="F2F2F2"/>
          </a:solidFill>
          <a:ln w="12700">
            <a:solidFill>
              <a:srgbClr val="F2F2F2"/>
            </a:solidFill>
            <a:prstDash val="solid"/>
          </a:ln>
        </p:spPr>
      </p:sp>
      <p:sp>
        <p:nvSpPr>
          <p:cNvPr id="17" name="Text 15"/>
          <p:cNvSpPr txBox="1"/>
          <p:nvPr/>
        </p:nvSpPr>
        <p:spPr>
          <a:xfrm>
            <a:off x="3639312" y="274320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3</a:t>
            </a:r>
            <a:endParaRPr lang="en-US" sz="1200" dirty="0"/>
          </a:p>
        </p:txBody>
      </p:sp>
      <p:sp>
        <p:nvSpPr>
          <p:cNvPr id="18" name="Text 16"/>
          <p:cNvSpPr txBox="1"/>
          <p:nvPr/>
        </p:nvSpPr>
        <p:spPr>
          <a:xfrm>
            <a:off x="4434840" y="274320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Privacidad y pruebas</a:t>
            </a:r>
            <a:endParaRPr lang="en-US" sz="1300" dirty="0"/>
          </a:p>
        </p:txBody>
      </p:sp>
      <p:sp>
        <p:nvSpPr>
          <p:cNvPr id="19" name="Text 17"/>
          <p:cNvSpPr txBox="1"/>
          <p:nvPr/>
        </p:nvSpPr>
        <p:spPr>
          <a:xfrm>
            <a:off x="5806440" y="2743200"/>
            <a:ext cx="2743200" cy="548640"/>
          </a:xfrm>
          <a:prstGeom prst="rect">
            <a:avLst/>
          </a:prstGeom>
          <a:noFill/>
          <a:ln/>
        </p:spPr>
        <p:txBody>
          <a:bodyPr wrap="square" lIns="0" tIns="0" rIns="0" bIns="0" rtlCol="0" anchor="ctr"/>
          <a:lstStyle/>
          <a:p>
            <a:pPr indent="0" marL="0">
              <a:buNone/>
            </a:pPr>
            <a:r>
              <a:rPr lang="en-US" sz="1100" dirty="0">
                <a:solidFill>
                  <a:srgbClr val="111111"/>
                </a:solidFill>
              </a:rPr>
              <a:t>La ley europea de datos y las pruebas son requisito antes de abrirla al público.</a:t>
            </a:r>
            <a:endParaRPr lang="en-US" sz="1100" dirty="0"/>
          </a:p>
        </p:txBody>
      </p:sp>
      <p:sp>
        <p:nvSpPr>
          <p:cNvPr id="20" name="Shape 18"/>
          <p:cNvSpPr/>
          <p:nvPr/>
        </p:nvSpPr>
        <p:spPr>
          <a:xfrm>
            <a:off x="3474720" y="3383280"/>
            <a:ext cx="5212080" cy="548640"/>
          </a:xfrm>
          <a:prstGeom prst="roundRect">
            <a:avLst>
              <a:gd name="adj" fmla="val 13333"/>
            </a:avLst>
          </a:prstGeom>
          <a:solidFill>
            <a:srgbClr val="F2F2F2"/>
          </a:solidFill>
          <a:ln w="12700">
            <a:solidFill>
              <a:srgbClr val="F2F2F2"/>
            </a:solidFill>
            <a:prstDash val="solid"/>
          </a:ln>
        </p:spPr>
      </p:sp>
      <p:sp>
        <p:nvSpPr>
          <p:cNvPr id="21" name="Text 19"/>
          <p:cNvSpPr txBox="1"/>
          <p:nvPr/>
        </p:nvSpPr>
        <p:spPr>
          <a:xfrm>
            <a:off x="3639312" y="338328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Cierre</a:t>
            </a:r>
            <a:endParaRPr lang="en-US" sz="1200" dirty="0"/>
          </a:p>
        </p:txBody>
      </p:sp>
      <p:sp>
        <p:nvSpPr>
          <p:cNvPr id="22" name="Text 20"/>
          <p:cNvSpPr txBox="1"/>
          <p:nvPr/>
        </p:nvSpPr>
        <p:spPr>
          <a:xfrm>
            <a:off x="4434840" y="338328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Producción</a:t>
            </a:r>
            <a:endParaRPr lang="en-US" sz="1300" dirty="0"/>
          </a:p>
        </p:txBody>
      </p:sp>
      <p:sp>
        <p:nvSpPr>
          <p:cNvPr id="23" name="Text 21"/>
          <p:cNvSpPr txBox="1"/>
          <p:nvPr/>
        </p:nvSpPr>
        <p:spPr>
          <a:xfrm>
            <a:off x="5806440" y="3383280"/>
            <a:ext cx="2743200" cy="548640"/>
          </a:xfrm>
          <a:prstGeom prst="rect">
            <a:avLst/>
          </a:prstGeom>
          <a:noFill/>
          <a:ln/>
        </p:spPr>
        <p:txBody>
          <a:bodyPr wrap="square" lIns="0" tIns="0" rIns="0" bIns="0" rtlCol="0" anchor="ctr"/>
          <a:lstStyle/>
          <a:p>
            <a:pPr indent="0" marL="0">
              <a:buNone/>
            </a:pPr>
            <a:r>
              <a:rPr lang="en-US" sz="1100" dirty="0">
                <a:solidFill>
                  <a:srgbClr val="111111"/>
                </a:solidFill>
              </a:rPr>
              <a:t>Prueba con el personal y publicación en Google Play y App Store.</a:t>
            </a:r>
            <a:endParaRPr lang="en-US" sz="1100" dirty="0"/>
          </a:p>
        </p:txBody>
      </p:sp>
      <p:sp>
        <p:nvSpPr>
          <p:cNvPr id="24" name="Text 22"/>
          <p:cNvSpPr txBox="1"/>
          <p:nvPr/>
        </p:nvSpPr>
        <p:spPr>
          <a:xfrm>
            <a:off x="3474720" y="4069080"/>
            <a:ext cx="5212080" cy="457200"/>
          </a:xfrm>
          <a:prstGeom prst="rect">
            <a:avLst/>
          </a:prstGeom>
          <a:noFill/>
          <a:ln/>
        </p:spPr>
        <p:txBody>
          <a:bodyPr wrap="square" lIns="0" tIns="0" rIns="0" bIns="0" rtlCol="0" anchor="ctr"/>
          <a:lstStyle/>
          <a:p>
            <a:pPr indent="0" marL="0">
              <a:buNone/>
            </a:pPr>
            <a:r>
              <a:rPr lang="en-US" sz="1300" b="1" dirty="0">
                <a:solidFill>
                  <a:srgbClr val="111111"/>
                </a:solidFill>
              </a:rPr>
              <a:t>Avance: </a:t>
            </a:r>
            <a:pPr indent="0" marL="0">
              <a:buNone/>
            </a:pPr>
            <a:r>
              <a:rPr lang="en-US" sz="1300" dirty="0">
                <a:solidFill>
                  <a:srgbClr val="111111"/>
                </a:solidFill>
              </a:rPr>
              <a:t>Sprint 0 completado y Sprint 1 en curso. Backlog en GitHub: un milestone por sprint y un issue por tarea.</a:t>
            </a:r>
            <a:endParaRPr lang="en-US" sz="1300" dirty="0"/>
          </a:p>
        </p:txBody>
      </p:sp>
      <p:sp>
        <p:nvSpPr>
          <p:cNvPr id="26" name="Shape 23"/>
          <p:cNvSpPr/>
          <p:nvPr/>
        </p:nvSpPr>
        <p:spPr>
          <a:xfrm>
            <a:off x="6446520" y="4745736"/>
            <a:ext cx="1600200" cy="246888"/>
          </a:xfrm>
          <a:prstGeom prst="roundRect">
            <a:avLst>
              <a:gd name="adj" fmla="val 48148"/>
            </a:avLst>
          </a:prstGeom>
          <a:solidFill>
            <a:srgbClr val="F5C400"/>
          </a:solidFill>
          <a:ln w="12700">
            <a:solidFill>
              <a:srgbClr val="F5C400"/>
            </a:solidFill>
            <a:prstDash val="solid"/>
          </a:ln>
        </p:spPr>
      </p:sp>
      <p:sp>
        <p:nvSpPr>
          <p:cNvPr id="27" name="Text 24"/>
          <p:cNvSpPr txBox="1"/>
          <p:nvPr/>
        </p:nvSpPr>
        <p:spPr>
          <a:xfrm>
            <a:off x="6446520" y="4745736"/>
            <a:ext cx="1600200" cy="246888"/>
          </a:xfrm>
          <a:prstGeom prst="rect">
            <a:avLst/>
          </a:prstGeom>
          <a:noFill/>
          <a:ln/>
        </p:spPr>
        <p:txBody>
          <a:bodyPr wrap="square" lIns="0" tIns="0" rIns="0" bIns="0" rtlCol="0" anchor="ctr"/>
          <a:lstStyle/>
          <a:p>
            <a:pPr algn="ctr" indent="0" marL="0">
              <a:buNone/>
            </a:pPr>
            <a:r>
              <a:rPr lang="en-US" sz="1000" b="1" dirty="0">
                <a:solidFill>
                  <a:srgbClr val="111111"/>
                </a:solidFill>
              </a:rPr>
              <a:t>Ajuste por feedback</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Arquitectura: cliente-servidor en tres capas</a:t>
            </a:r>
            <a:endParaRPr lang="en-US" sz="2600" dirty="0"/>
          </a:p>
        </p:txBody>
      </p:sp>
      <p:sp>
        <p:nvSpPr>
          <p:cNvPr id="3" name="Shape 1"/>
          <p:cNvSpPr/>
          <p:nvPr/>
        </p:nvSpPr>
        <p:spPr>
          <a:xfrm>
            <a:off x="457200" y="1051560"/>
            <a:ext cx="2514600" cy="2240280"/>
          </a:xfrm>
          <a:prstGeom prst="roundRect">
            <a:avLst>
              <a:gd name="adj" fmla="val 3265"/>
            </a:avLst>
          </a:prstGeom>
          <a:solidFill>
            <a:srgbClr val="F2F2F2"/>
          </a:solidFill>
          <a:ln w="12700">
            <a:solidFill>
              <a:srgbClr val="F2F2F2"/>
            </a:solidFill>
            <a:prstDash val="solid"/>
          </a:ln>
        </p:spPr>
      </p:sp>
      <p:sp>
        <p:nvSpPr>
          <p:cNvPr id="4" name="Shape 2"/>
          <p:cNvSpPr/>
          <p:nvPr/>
        </p:nvSpPr>
        <p:spPr>
          <a:xfrm>
            <a:off x="640080" y="1188720"/>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6" name="Text 3"/>
          <p:cNvSpPr txBox="1"/>
          <p:nvPr/>
        </p:nvSpPr>
        <p:spPr>
          <a:xfrm>
            <a:off x="120700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App móvil</a:t>
            </a:r>
            <a:endParaRPr lang="en-US" sz="1600" dirty="0"/>
          </a:p>
        </p:txBody>
      </p:sp>
      <p:sp>
        <p:nvSpPr>
          <p:cNvPr id="7" name="Text 4"/>
          <p:cNvSpPr txBox="1"/>
          <p:nvPr/>
        </p:nvSpPr>
        <p:spPr>
          <a:xfrm>
            <a:off x="120700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React Native + Expo</a:t>
            </a:r>
            <a:endParaRPr lang="en-US" sz="1200" dirty="0"/>
          </a:p>
        </p:txBody>
      </p:sp>
      <p:sp>
        <p:nvSpPr>
          <p:cNvPr id="8" name="Text 5"/>
          <p:cNvSpPr txBox="1"/>
          <p:nvPr/>
        </p:nvSpPr>
        <p:spPr>
          <a:xfrm>
            <a:off x="64008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Pantallas de cliente, personal y administrador</a:t>
            </a:r>
            <a:endParaRPr lang="en-US" sz="1200" dirty="0"/>
          </a:p>
          <a:p>
            <a:pPr marL="342900" indent="-342900">
              <a:spcAft>
                <a:spcPts val="400"/>
              </a:spcAft>
              <a:buSzPct val="100000"/>
              <a:buChar char="•"/>
            </a:pPr>
            <a:r>
              <a:rPr lang="en-US" sz="1200" dirty="0">
                <a:solidFill>
                  <a:srgbClr val="111111"/>
                </a:solidFill>
              </a:rPr>
              <a:t>Cámara para leer el QR</a:t>
            </a:r>
            <a:endParaRPr lang="en-US" sz="1200" dirty="0"/>
          </a:p>
          <a:p>
            <a:pPr marL="342900" indent="-342900">
              <a:spcAft>
                <a:spcPts val="400"/>
              </a:spcAft>
              <a:buSzPct val="100000"/>
              <a:buChar char="•"/>
            </a:pPr>
            <a:r>
              <a:rPr lang="en-US" sz="1200" dirty="0">
                <a:solidFill>
                  <a:srgbClr val="111111"/>
                </a:solidFill>
              </a:rPr>
              <a:t>Habla con la API por HTTPS</a:t>
            </a:r>
            <a:endParaRPr lang="en-US" sz="1200" dirty="0"/>
          </a:p>
        </p:txBody>
      </p:sp>
      <p:sp>
        <p:nvSpPr>
          <p:cNvPr id="9" name="Shape 6"/>
          <p:cNvSpPr/>
          <p:nvPr/>
        </p:nvSpPr>
        <p:spPr>
          <a:xfrm>
            <a:off x="2999232" y="2057400"/>
            <a:ext cx="265176" cy="256032"/>
          </a:xfrm>
          <a:prstGeom prst="rightArrow">
            <a:avLst/>
          </a:prstGeom>
          <a:solidFill>
            <a:srgbClr val="F5C400"/>
          </a:solidFill>
          <a:ln w="12700">
            <a:solidFill>
              <a:srgbClr val="F5C400"/>
            </a:solidFill>
            <a:prstDash val="solid"/>
          </a:ln>
        </p:spPr>
      </p:sp>
      <p:sp>
        <p:nvSpPr>
          <p:cNvPr id="10" name="Shape 7"/>
          <p:cNvSpPr/>
          <p:nvPr/>
        </p:nvSpPr>
        <p:spPr>
          <a:xfrm>
            <a:off x="3291840" y="1051560"/>
            <a:ext cx="2514600" cy="2240280"/>
          </a:xfrm>
          <a:prstGeom prst="roundRect">
            <a:avLst>
              <a:gd name="adj" fmla="val 3265"/>
            </a:avLst>
          </a:prstGeom>
          <a:solidFill>
            <a:srgbClr val="111111"/>
          </a:solidFill>
          <a:ln w="12700">
            <a:solidFill>
              <a:srgbClr val="111111"/>
            </a:solidFill>
            <a:prstDash val="solid"/>
          </a:ln>
        </p:spPr>
      </p:sp>
      <p:sp>
        <p:nvSpPr>
          <p:cNvPr id="11" name="Shape 8"/>
          <p:cNvSpPr/>
          <p:nvPr/>
        </p:nvSpPr>
        <p:spPr>
          <a:xfrm>
            <a:off x="3474720" y="1188720"/>
            <a:ext cx="457200" cy="457200"/>
          </a:xfrm>
          <a:prstGeom prst="ellipse">
            <a:avLst/>
          </a:prstGeom>
          <a:solidFill>
            <a:srgbClr val="F5C400"/>
          </a:solidFill>
          <a:ln w="12700">
            <a:solidFill>
              <a:srgbClr val="F5C400"/>
            </a:solidFill>
            <a:prstDash val="solid"/>
          </a:ln>
        </p:spPr>
      </p:sp>
      <p:pic>
        <p:nvPicPr>
          <p:cNvPr id="12" name="Image 1" descr="preencoded.png">    </p:cNvPr>
          <p:cNvPicPr>
            <a:picLocks noChangeAspect="1"/>
          </p:cNvPicPr>
          <p:nvPr/>
        </p:nvPicPr>
        <p:blipFill>
          <a:blip r:embed="rId2"/>
          <a:stretch>
            <a:fillRect/>
          </a:stretch>
        </p:blipFill>
        <p:spPr>
          <a:xfrm>
            <a:off x="3589020" y="1303020"/>
            <a:ext cx="228600" cy="228600"/>
          </a:xfrm>
          <a:prstGeom prst="rect">
            <a:avLst/>
          </a:prstGeom>
        </p:spPr>
      </p:pic>
      <p:sp>
        <p:nvSpPr>
          <p:cNvPr id="13" name="Text 9"/>
          <p:cNvSpPr txBox="1"/>
          <p:nvPr/>
        </p:nvSpPr>
        <p:spPr>
          <a:xfrm>
            <a:off x="4041648" y="1170432"/>
            <a:ext cx="164592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API REST</a:t>
            </a:r>
            <a:endParaRPr lang="en-US" sz="1600" dirty="0"/>
          </a:p>
        </p:txBody>
      </p:sp>
      <p:sp>
        <p:nvSpPr>
          <p:cNvPr id="14" name="Text 10"/>
          <p:cNvSpPr txBox="1"/>
          <p:nvPr/>
        </p:nvSpPr>
        <p:spPr>
          <a:xfrm>
            <a:off x="4041648" y="1444752"/>
            <a:ext cx="1645920" cy="228600"/>
          </a:xfrm>
          <a:prstGeom prst="rect">
            <a:avLst/>
          </a:prstGeom>
          <a:noFill/>
          <a:ln/>
        </p:spPr>
        <p:txBody>
          <a:bodyPr wrap="square" lIns="0" tIns="0" rIns="0" bIns="0" rtlCol="0" anchor="t"/>
          <a:lstStyle/>
          <a:p>
            <a:pPr indent="0" marL="0">
              <a:buNone/>
            </a:pPr>
            <a:r>
              <a:rPr lang="en-US" sz="1200" b="1" dirty="0">
                <a:solidFill>
                  <a:srgbClr val="F5C400"/>
                </a:solidFill>
              </a:rPr>
              <a:t>Python + FastAPI</a:t>
            </a:r>
            <a:endParaRPr lang="en-US" sz="1200" dirty="0"/>
          </a:p>
        </p:txBody>
      </p:sp>
      <p:sp>
        <p:nvSpPr>
          <p:cNvPr id="15" name="Text 11"/>
          <p:cNvSpPr txBox="1"/>
          <p:nvPr/>
        </p:nvSpPr>
        <p:spPr>
          <a:xfrm>
            <a:off x="347472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FFFFFF"/>
                </a:solidFill>
              </a:rPr>
              <a:t>Login y permisos por rol (JWT)</a:t>
            </a:r>
            <a:endParaRPr lang="en-US" sz="1200" dirty="0"/>
          </a:p>
          <a:p>
            <a:pPr marL="342900" indent="-342900">
              <a:spcAft>
                <a:spcPts val="400"/>
              </a:spcAft>
              <a:buSzPct val="100000"/>
              <a:buChar char="•"/>
            </a:pPr>
            <a:r>
              <a:rPr lang="en-US" sz="1200" dirty="0">
                <a:solidFill>
                  <a:srgbClr val="FFFFFF"/>
                </a:solidFill>
              </a:rPr>
              <a:t>Valida el QR: vigente y sin usar</a:t>
            </a:r>
            <a:endParaRPr lang="en-US" sz="1200" dirty="0"/>
          </a:p>
          <a:p>
            <a:pPr marL="342900" indent="-342900">
              <a:spcAft>
                <a:spcPts val="400"/>
              </a:spcAft>
              <a:buSzPct val="100000"/>
              <a:buChar char="•"/>
            </a:pPr>
            <a:r>
              <a:rPr lang="en-US" sz="1200" dirty="0">
                <a:solidFill>
                  <a:srgbClr val="FFFFFF"/>
                </a:solidFill>
              </a:rPr>
              <a:t>Visitas, canjes y panel</a:t>
            </a:r>
            <a:endParaRPr lang="en-US" sz="1200" dirty="0"/>
          </a:p>
        </p:txBody>
      </p:sp>
      <p:sp>
        <p:nvSpPr>
          <p:cNvPr id="16" name="Shape 12"/>
          <p:cNvSpPr/>
          <p:nvPr/>
        </p:nvSpPr>
        <p:spPr>
          <a:xfrm>
            <a:off x="5833872" y="2057400"/>
            <a:ext cx="265176" cy="256032"/>
          </a:xfrm>
          <a:prstGeom prst="rightArrow">
            <a:avLst/>
          </a:prstGeom>
          <a:solidFill>
            <a:srgbClr val="F5C400"/>
          </a:solidFill>
          <a:ln w="12700">
            <a:solidFill>
              <a:srgbClr val="F5C400"/>
            </a:solidFill>
            <a:prstDash val="solid"/>
          </a:ln>
        </p:spPr>
      </p:sp>
      <p:sp>
        <p:nvSpPr>
          <p:cNvPr id="17" name="Shape 13"/>
          <p:cNvSpPr/>
          <p:nvPr/>
        </p:nvSpPr>
        <p:spPr>
          <a:xfrm>
            <a:off x="6126480" y="1051560"/>
            <a:ext cx="2514600" cy="2240280"/>
          </a:xfrm>
          <a:prstGeom prst="roundRect">
            <a:avLst>
              <a:gd name="adj" fmla="val 3265"/>
            </a:avLst>
          </a:prstGeom>
          <a:solidFill>
            <a:srgbClr val="F2F2F2"/>
          </a:solidFill>
          <a:ln w="12700">
            <a:solidFill>
              <a:srgbClr val="F2F2F2"/>
            </a:solidFill>
            <a:prstDash val="solid"/>
          </a:ln>
        </p:spPr>
      </p:sp>
      <p:sp>
        <p:nvSpPr>
          <p:cNvPr id="18" name="Shape 14"/>
          <p:cNvSpPr/>
          <p:nvPr/>
        </p:nvSpPr>
        <p:spPr>
          <a:xfrm>
            <a:off x="6309360" y="1188720"/>
            <a:ext cx="457200" cy="457200"/>
          </a:xfrm>
          <a:prstGeom prst="ellipse">
            <a:avLst/>
          </a:prstGeom>
          <a:solidFill>
            <a:srgbClr val="111111"/>
          </a:solidFill>
          <a:ln w="12700">
            <a:solidFill>
              <a:srgbClr val="111111"/>
            </a:solidFill>
            <a:prstDash val="solid"/>
          </a:ln>
        </p:spPr>
      </p:sp>
      <p:pic>
        <p:nvPicPr>
          <p:cNvPr id="19" name="Image 2" descr="preencoded.png">    </p:cNvPr>
          <p:cNvPicPr>
            <a:picLocks noChangeAspect="1"/>
          </p:cNvPicPr>
          <p:nvPr/>
        </p:nvPicPr>
        <p:blipFill>
          <a:blip r:embed="rId3"/>
          <a:stretch>
            <a:fillRect/>
          </a:stretch>
        </p:blipFill>
        <p:spPr>
          <a:xfrm>
            <a:off x="6423660" y="1303020"/>
            <a:ext cx="228600" cy="228600"/>
          </a:xfrm>
          <a:prstGeom prst="rect">
            <a:avLst/>
          </a:prstGeom>
        </p:spPr>
      </p:pic>
      <p:sp>
        <p:nvSpPr>
          <p:cNvPr id="20" name="Text 15"/>
          <p:cNvSpPr txBox="1"/>
          <p:nvPr/>
        </p:nvSpPr>
        <p:spPr>
          <a:xfrm>
            <a:off x="687628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Base de datos</a:t>
            </a:r>
            <a:endParaRPr lang="en-US" sz="1600" dirty="0"/>
          </a:p>
        </p:txBody>
      </p:sp>
      <p:sp>
        <p:nvSpPr>
          <p:cNvPr id="21" name="Text 16"/>
          <p:cNvSpPr txBox="1"/>
          <p:nvPr/>
        </p:nvSpPr>
        <p:spPr>
          <a:xfrm>
            <a:off x="687628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MongoDB</a:t>
            </a:r>
            <a:endParaRPr lang="en-US" sz="1200" dirty="0"/>
          </a:p>
        </p:txBody>
      </p:sp>
      <p:sp>
        <p:nvSpPr>
          <p:cNvPr id="22" name="Text 17"/>
          <p:cNvSpPr txBox="1"/>
          <p:nvPr/>
        </p:nvSpPr>
        <p:spPr>
          <a:xfrm>
            <a:off x="630936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12 colecciones: usuarios, visitas, QR, canjes, menú, premios y más</a:t>
            </a:r>
            <a:endParaRPr lang="en-US" sz="1200" dirty="0"/>
          </a:p>
        </p:txBody>
      </p:sp>
      <p:sp>
        <p:nvSpPr>
          <p:cNvPr id="23" name="Text 18"/>
          <p:cNvSpPr txBox="1"/>
          <p:nvPr/>
        </p:nvSpPr>
        <p:spPr>
          <a:xfrm>
            <a:off x="457200" y="3474720"/>
            <a:ext cx="3657600" cy="274320"/>
          </a:xfrm>
          <a:prstGeom prst="rect">
            <a:avLst/>
          </a:prstGeom>
          <a:noFill/>
          <a:ln/>
        </p:spPr>
        <p:txBody>
          <a:bodyPr wrap="square" lIns="0" tIns="0" rIns="0" bIns="0" rtlCol="0" anchor="t"/>
          <a:lstStyle/>
          <a:p>
            <a:pPr indent="0" marL="0">
              <a:buNone/>
            </a:pPr>
            <a:r>
              <a:rPr lang="en-US" sz="1300" b="1" dirty="0">
                <a:solidFill>
                  <a:srgbClr val="111111"/>
                </a:solidFill>
              </a:rPr>
              <a:t>Servicios externos</a:t>
            </a:r>
            <a:endParaRPr lang="en-US" sz="1300" dirty="0"/>
          </a:p>
        </p:txBody>
      </p:sp>
      <p:sp>
        <p:nvSpPr>
          <p:cNvPr id="24" name="Shape 19"/>
          <p:cNvSpPr/>
          <p:nvPr/>
        </p:nvSpPr>
        <p:spPr>
          <a:xfrm>
            <a:off x="457200" y="3840480"/>
            <a:ext cx="411480" cy="411480"/>
          </a:xfrm>
          <a:prstGeom prst="ellipse">
            <a:avLst/>
          </a:prstGeom>
          <a:solidFill>
            <a:srgbClr val="F5C400"/>
          </a:solidFill>
          <a:ln w="12700">
            <a:solidFill>
              <a:srgbClr val="F5C400"/>
            </a:solidFill>
            <a:prstDash val="solid"/>
          </a:ln>
        </p:spPr>
      </p:sp>
      <p:pic>
        <p:nvPicPr>
          <p:cNvPr id="25" name="Image 3" descr="preencoded.png">    </p:cNvPr>
          <p:cNvPicPr>
            <a:picLocks noChangeAspect="1"/>
          </p:cNvPicPr>
          <p:nvPr/>
        </p:nvPicPr>
        <p:blipFill>
          <a:blip r:embed="rId4"/>
          <a:stretch>
            <a:fillRect/>
          </a:stretch>
        </p:blipFill>
        <p:spPr>
          <a:xfrm>
            <a:off x="560070" y="3943350"/>
            <a:ext cx="205740" cy="205740"/>
          </a:xfrm>
          <a:prstGeom prst="rect">
            <a:avLst/>
          </a:prstGeom>
        </p:spPr>
      </p:pic>
      <p:sp>
        <p:nvSpPr>
          <p:cNvPr id="26" name="Text 20"/>
          <p:cNvSpPr txBox="1"/>
          <p:nvPr/>
        </p:nvSpPr>
        <p:spPr>
          <a:xfrm>
            <a:off x="98755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Google Sign-In</a:t>
            </a:r>
            <a:endParaRPr lang="en-US" sz="1300" dirty="0"/>
          </a:p>
        </p:txBody>
      </p:sp>
      <p:sp>
        <p:nvSpPr>
          <p:cNvPr id="27" name="Text 21"/>
          <p:cNvSpPr txBox="1"/>
          <p:nvPr/>
        </p:nvSpPr>
        <p:spPr>
          <a:xfrm>
            <a:off x="98755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verifica el login con Google</a:t>
            </a:r>
            <a:endParaRPr lang="en-US" sz="1200" dirty="0"/>
          </a:p>
        </p:txBody>
      </p:sp>
      <p:sp>
        <p:nvSpPr>
          <p:cNvPr id="28" name="Shape 22"/>
          <p:cNvSpPr/>
          <p:nvPr/>
        </p:nvSpPr>
        <p:spPr>
          <a:xfrm>
            <a:off x="3291840" y="3840480"/>
            <a:ext cx="411480" cy="411480"/>
          </a:xfrm>
          <a:prstGeom prst="ellipse">
            <a:avLst/>
          </a:prstGeom>
          <a:solidFill>
            <a:srgbClr val="F5C400"/>
          </a:solidFill>
          <a:ln w="12700">
            <a:solidFill>
              <a:srgbClr val="F5C400"/>
            </a:solidFill>
            <a:prstDash val="solid"/>
          </a:ln>
        </p:spPr>
      </p:sp>
      <p:pic>
        <p:nvPicPr>
          <p:cNvPr id="29" name="Image 4" descr="preencoded.png">    </p:cNvPr>
          <p:cNvPicPr>
            <a:picLocks noChangeAspect="1"/>
          </p:cNvPicPr>
          <p:nvPr/>
        </p:nvPicPr>
        <p:blipFill>
          <a:blip r:embed="rId5"/>
          <a:stretch>
            <a:fillRect/>
          </a:stretch>
        </p:blipFill>
        <p:spPr>
          <a:xfrm>
            <a:off x="3394710" y="3943350"/>
            <a:ext cx="205740" cy="205740"/>
          </a:xfrm>
          <a:prstGeom prst="rect">
            <a:avLst/>
          </a:prstGeom>
        </p:spPr>
      </p:pic>
      <p:sp>
        <p:nvSpPr>
          <p:cNvPr id="30" name="Text 23"/>
          <p:cNvSpPr txBox="1"/>
          <p:nvPr/>
        </p:nvSpPr>
        <p:spPr>
          <a:xfrm>
            <a:off x="382219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Notificaciones push</a:t>
            </a:r>
            <a:endParaRPr lang="en-US" sz="1300" dirty="0"/>
          </a:p>
        </p:txBody>
      </p:sp>
      <p:sp>
        <p:nvSpPr>
          <p:cNvPr id="31" name="Text 24"/>
          <p:cNvSpPr txBox="1"/>
          <p:nvPr/>
        </p:nvSpPr>
        <p:spPr>
          <a:xfrm>
            <a:off x="382219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avisa de promociones y premios</a:t>
            </a:r>
            <a:endParaRPr lang="en-US" sz="1200" dirty="0"/>
          </a:p>
        </p:txBody>
      </p:sp>
      <p:sp>
        <p:nvSpPr>
          <p:cNvPr id="32" name="Shape 25"/>
          <p:cNvSpPr/>
          <p:nvPr/>
        </p:nvSpPr>
        <p:spPr>
          <a:xfrm>
            <a:off x="6126480" y="3840480"/>
            <a:ext cx="411480" cy="411480"/>
          </a:xfrm>
          <a:prstGeom prst="ellipse">
            <a:avLst/>
          </a:prstGeom>
          <a:solidFill>
            <a:srgbClr val="F5C400"/>
          </a:solidFill>
          <a:ln w="12700">
            <a:solidFill>
              <a:srgbClr val="F5C400"/>
            </a:solidFill>
            <a:prstDash val="solid"/>
          </a:ln>
        </p:spPr>
      </p:sp>
      <p:pic>
        <p:nvPicPr>
          <p:cNvPr id="33" name="Image 5" descr="preencoded.png">    </p:cNvPr>
          <p:cNvPicPr>
            <a:picLocks noChangeAspect="1"/>
          </p:cNvPicPr>
          <p:nvPr/>
        </p:nvPicPr>
        <p:blipFill>
          <a:blip r:embed="rId6"/>
          <a:stretch>
            <a:fillRect/>
          </a:stretch>
        </p:blipFill>
        <p:spPr>
          <a:xfrm>
            <a:off x="6229350" y="3943350"/>
            <a:ext cx="205740" cy="205740"/>
          </a:xfrm>
          <a:prstGeom prst="rect">
            <a:avLst/>
          </a:prstGeom>
        </p:spPr>
      </p:pic>
      <p:sp>
        <p:nvSpPr>
          <p:cNvPr id="34" name="Text 26"/>
          <p:cNvSpPr txBox="1"/>
          <p:nvPr/>
        </p:nvSpPr>
        <p:spPr>
          <a:xfrm>
            <a:off x="665683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Nube (Sprint 2)</a:t>
            </a:r>
            <a:endParaRPr lang="en-US" sz="1300" dirty="0"/>
          </a:p>
        </p:txBody>
      </p:sp>
      <p:sp>
        <p:nvSpPr>
          <p:cNvPr id="35" name="Text 27"/>
          <p:cNvSpPr txBox="1"/>
          <p:nvPr/>
        </p:nvSpPr>
        <p:spPr>
          <a:xfrm>
            <a:off x="665683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API y base de datos en Europa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Lanzamiento en Android e iOS, sin Mac</a:t>
            </a:r>
            <a:endParaRPr lang="en-US" sz="2600" dirty="0"/>
          </a:p>
        </p:txBody>
      </p:sp>
      <p:sp>
        <p:nvSpPr>
          <p:cNvPr id="3" name="Shape 1"/>
          <p:cNvSpPr/>
          <p:nvPr/>
        </p:nvSpPr>
        <p:spPr>
          <a:xfrm>
            <a:off x="457200" y="1051560"/>
            <a:ext cx="2560320" cy="3520440"/>
          </a:xfrm>
          <a:prstGeom prst="roundRect">
            <a:avLst>
              <a:gd name="adj" fmla="val 2857"/>
            </a:avLst>
          </a:prstGeom>
          <a:solidFill>
            <a:srgbClr val="111111"/>
          </a:solidFill>
          <a:ln w="12700">
            <a:solidFill>
              <a:srgbClr val="111111"/>
            </a:solidFill>
            <a:prstDash val="solid"/>
          </a:ln>
        </p:spPr>
      </p:sp>
      <p:sp>
        <p:nvSpPr>
          <p:cNvPr id="4" name="Text 2"/>
          <p:cNvSpPr txBox="1"/>
          <p:nvPr/>
        </p:nvSpPr>
        <p:spPr>
          <a:xfrm>
            <a:off x="685800" y="1234440"/>
            <a:ext cx="2194560" cy="822960"/>
          </a:xfrm>
          <a:prstGeom prst="rect">
            <a:avLst/>
          </a:prstGeom>
          <a:noFill/>
          <a:ln/>
        </p:spPr>
        <p:txBody>
          <a:bodyPr wrap="square" lIns="0" tIns="0" rIns="0" bIns="0" rtlCol="0" anchor="t"/>
          <a:lstStyle/>
          <a:p>
            <a:pPr indent="0" marL="0">
              <a:buNone/>
            </a:pPr>
            <a:r>
              <a:rPr lang="en-US" sz="4800" b="1" dirty="0">
                <a:solidFill>
                  <a:srgbClr val="F5C400"/>
                </a:solidFill>
                <a:latin typeface="Arial" pitchFamily="34" charset="0"/>
                <a:ea typeface="Arial" pitchFamily="34" charset="-122"/>
                <a:cs typeface="Arial" pitchFamily="34" charset="-120"/>
              </a:rPr>
              <a:t>47 %</a:t>
            </a:r>
            <a:endParaRPr lang="en-US" sz="4800" dirty="0"/>
          </a:p>
        </p:txBody>
      </p:sp>
      <p:sp>
        <p:nvSpPr>
          <p:cNvPr id="5" name="Text 3"/>
          <p:cNvSpPr txBox="1"/>
          <p:nvPr/>
        </p:nvSpPr>
        <p:spPr>
          <a:xfrm>
            <a:off x="685800" y="2103120"/>
            <a:ext cx="2148840" cy="822960"/>
          </a:xfrm>
          <a:prstGeom prst="rect">
            <a:avLst/>
          </a:prstGeom>
          <a:noFill/>
          <a:ln/>
        </p:spPr>
        <p:txBody>
          <a:bodyPr wrap="square" lIns="0" tIns="0" rIns="0" bIns="0" rtlCol="0" anchor="t"/>
          <a:lstStyle/>
          <a:p>
            <a:pPr indent="0" marL="0">
              <a:buNone/>
            </a:pPr>
            <a:r>
              <a:rPr lang="en-US" sz="1400" dirty="0">
                <a:solidFill>
                  <a:srgbClr val="FFFFFF"/>
                </a:solidFill>
              </a:rPr>
              <a:t>de los teléfonos en Irlanda usa iOS (StatCounter, septiembre de 2026).</a:t>
            </a:r>
            <a:endParaRPr lang="en-US" sz="1400" dirty="0"/>
          </a:p>
        </p:txBody>
      </p:sp>
      <p:sp>
        <p:nvSpPr>
          <p:cNvPr id="6" name="Text 4"/>
          <p:cNvSpPr txBox="1"/>
          <p:nvPr/>
        </p:nvSpPr>
        <p:spPr>
          <a:xfrm>
            <a:off x="685800" y="3108960"/>
            <a:ext cx="2148840" cy="1188720"/>
          </a:xfrm>
          <a:prstGeom prst="rect">
            <a:avLst/>
          </a:prstGeom>
          <a:noFill/>
          <a:ln/>
        </p:spPr>
        <p:txBody>
          <a:bodyPr wrap="square" lIns="0" tIns="0" rIns="0" bIns="0" rtlCol="0" anchor="t"/>
          <a:lstStyle/>
          <a:p>
            <a:pPr indent="0" marL="0">
              <a:buNone/>
            </a:pPr>
            <a:r>
              <a:rPr lang="en-US" sz="1300" dirty="0">
                <a:solidFill>
                  <a:srgbClr val="FFFFFF"/>
                </a:solidFill>
              </a:rPr>
              <a:t>Por la retroalimentación de la Fase 1, la app se publica en Google Play y en App Store.</a:t>
            </a:r>
            <a:endParaRPr lang="en-US" sz="1300" dirty="0"/>
          </a:p>
        </p:txBody>
      </p:sp>
      <p:sp>
        <p:nvSpPr>
          <p:cNvPr id="7" name="Shape 5"/>
          <p:cNvSpPr/>
          <p:nvPr/>
        </p:nvSpPr>
        <p:spPr>
          <a:xfrm>
            <a:off x="3291840" y="1051560"/>
            <a:ext cx="1188720" cy="1188720"/>
          </a:xfrm>
          <a:prstGeom prst="roundRect">
            <a:avLst>
              <a:gd name="adj" fmla="val 6154"/>
            </a:avLst>
          </a:prstGeom>
          <a:solidFill>
            <a:srgbClr val="F2F2F2"/>
          </a:solidFill>
          <a:ln w="12700">
            <a:solidFill>
              <a:srgbClr val="F2F2F2"/>
            </a:solidFill>
            <a:prstDash val="solid"/>
          </a:ln>
        </p:spPr>
      </p:sp>
      <p:sp>
        <p:nvSpPr>
          <p:cNvPr id="8" name="Shape 6"/>
          <p:cNvSpPr/>
          <p:nvPr/>
        </p:nvSpPr>
        <p:spPr>
          <a:xfrm>
            <a:off x="3401568" y="1143000"/>
            <a:ext cx="329184" cy="329184"/>
          </a:xfrm>
          <a:prstGeom prst="ellipse">
            <a:avLst/>
          </a:prstGeom>
          <a:solidFill>
            <a:srgbClr val="F5C400"/>
          </a:solidFill>
          <a:ln w="12700">
            <a:solidFill>
              <a:srgbClr val="F5C400"/>
            </a:solidFill>
            <a:prstDash val="solid"/>
          </a:ln>
        </p:spPr>
      </p:sp>
      <p:sp>
        <p:nvSpPr>
          <p:cNvPr id="9" name="Text 7"/>
          <p:cNvSpPr txBox="1"/>
          <p:nvPr/>
        </p:nvSpPr>
        <p:spPr>
          <a:xfrm>
            <a:off x="34015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1</a:t>
            </a:r>
            <a:endParaRPr lang="en-US" sz="1300" dirty="0"/>
          </a:p>
        </p:txBody>
      </p:sp>
      <p:sp>
        <p:nvSpPr>
          <p:cNvPr id="10" name="Text 8"/>
          <p:cNvSpPr txBox="1"/>
          <p:nvPr/>
        </p:nvSpPr>
        <p:spPr>
          <a:xfrm>
            <a:off x="34015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Mismo código Expo</a:t>
            </a:r>
            <a:endParaRPr lang="en-US" sz="1200" dirty="0"/>
          </a:p>
        </p:txBody>
      </p:sp>
      <p:sp>
        <p:nvSpPr>
          <p:cNvPr id="11" name="Shape 9"/>
          <p:cNvSpPr/>
          <p:nvPr/>
        </p:nvSpPr>
        <p:spPr>
          <a:xfrm>
            <a:off x="4498848" y="1517904"/>
            <a:ext cx="146304" cy="256032"/>
          </a:xfrm>
          <a:prstGeom prst="rightArrow">
            <a:avLst/>
          </a:prstGeom>
          <a:solidFill>
            <a:srgbClr val="F5C400"/>
          </a:solidFill>
          <a:ln w="12700">
            <a:solidFill>
              <a:srgbClr val="F5C400"/>
            </a:solidFill>
            <a:prstDash val="solid"/>
          </a:ln>
        </p:spPr>
      </p:sp>
      <p:sp>
        <p:nvSpPr>
          <p:cNvPr id="12" name="Shape 10"/>
          <p:cNvSpPr/>
          <p:nvPr/>
        </p:nvSpPr>
        <p:spPr>
          <a:xfrm>
            <a:off x="4663440" y="1051560"/>
            <a:ext cx="1188720" cy="1188720"/>
          </a:xfrm>
          <a:prstGeom prst="roundRect">
            <a:avLst>
              <a:gd name="adj" fmla="val 6154"/>
            </a:avLst>
          </a:prstGeom>
          <a:solidFill>
            <a:srgbClr val="F2F2F2"/>
          </a:solidFill>
          <a:ln w="12700">
            <a:solidFill>
              <a:srgbClr val="F2F2F2"/>
            </a:solidFill>
            <a:prstDash val="solid"/>
          </a:ln>
        </p:spPr>
      </p:sp>
      <p:sp>
        <p:nvSpPr>
          <p:cNvPr id="13" name="Shape 11"/>
          <p:cNvSpPr/>
          <p:nvPr/>
        </p:nvSpPr>
        <p:spPr>
          <a:xfrm>
            <a:off x="4773168" y="1143000"/>
            <a:ext cx="329184" cy="329184"/>
          </a:xfrm>
          <a:prstGeom prst="ellipse">
            <a:avLst/>
          </a:prstGeom>
          <a:solidFill>
            <a:srgbClr val="F5C400"/>
          </a:solidFill>
          <a:ln w="12700">
            <a:solidFill>
              <a:srgbClr val="F5C400"/>
            </a:solidFill>
            <a:prstDash val="solid"/>
          </a:ln>
        </p:spPr>
      </p:sp>
      <p:sp>
        <p:nvSpPr>
          <p:cNvPr id="14" name="Text 12"/>
          <p:cNvSpPr txBox="1"/>
          <p:nvPr/>
        </p:nvSpPr>
        <p:spPr>
          <a:xfrm>
            <a:off x="47731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2</a:t>
            </a:r>
            <a:endParaRPr lang="en-US" sz="1300" dirty="0"/>
          </a:p>
        </p:txBody>
      </p:sp>
      <p:sp>
        <p:nvSpPr>
          <p:cNvPr id="15" name="Text 13"/>
          <p:cNvSpPr txBox="1"/>
          <p:nvPr/>
        </p:nvSpPr>
        <p:spPr>
          <a:xfrm>
            <a:off x="47731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EAS Build compila iOS en la nube</a:t>
            </a:r>
            <a:endParaRPr lang="en-US" sz="1200" dirty="0"/>
          </a:p>
        </p:txBody>
      </p:sp>
      <p:sp>
        <p:nvSpPr>
          <p:cNvPr id="16" name="Shape 14"/>
          <p:cNvSpPr/>
          <p:nvPr/>
        </p:nvSpPr>
        <p:spPr>
          <a:xfrm>
            <a:off x="5870448" y="1517904"/>
            <a:ext cx="146304" cy="256032"/>
          </a:xfrm>
          <a:prstGeom prst="rightArrow">
            <a:avLst/>
          </a:prstGeom>
          <a:solidFill>
            <a:srgbClr val="F5C400"/>
          </a:solidFill>
          <a:ln w="12700">
            <a:solidFill>
              <a:srgbClr val="F5C400"/>
            </a:solidFill>
            <a:prstDash val="solid"/>
          </a:ln>
        </p:spPr>
      </p:sp>
      <p:sp>
        <p:nvSpPr>
          <p:cNvPr id="17" name="Shape 15"/>
          <p:cNvSpPr/>
          <p:nvPr/>
        </p:nvSpPr>
        <p:spPr>
          <a:xfrm>
            <a:off x="6035040" y="1051560"/>
            <a:ext cx="1188720" cy="1188720"/>
          </a:xfrm>
          <a:prstGeom prst="roundRect">
            <a:avLst>
              <a:gd name="adj" fmla="val 6154"/>
            </a:avLst>
          </a:prstGeom>
          <a:solidFill>
            <a:srgbClr val="F2F2F2"/>
          </a:solidFill>
          <a:ln w="12700">
            <a:solidFill>
              <a:srgbClr val="F2F2F2"/>
            </a:solidFill>
            <a:prstDash val="solid"/>
          </a:ln>
        </p:spPr>
      </p:sp>
      <p:sp>
        <p:nvSpPr>
          <p:cNvPr id="18" name="Shape 16"/>
          <p:cNvSpPr/>
          <p:nvPr/>
        </p:nvSpPr>
        <p:spPr>
          <a:xfrm>
            <a:off x="6144768" y="1143000"/>
            <a:ext cx="329184" cy="329184"/>
          </a:xfrm>
          <a:prstGeom prst="ellipse">
            <a:avLst/>
          </a:prstGeom>
          <a:solidFill>
            <a:srgbClr val="F5C400"/>
          </a:solidFill>
          <a:ln w="12700">
            <a:solidFill>
              <a:srgbClr val="F5C400"/>
            </a:solidFill>
            <a:prstDash val="solid"/>
          </a:ln>
        </p:spPr>
      </p:sp>
      <p:sp>
        <p:nvSpPr>
          <p:cNvPr id="19" name="Text 17"/>
          <p:cNvSpPr txBox="1"/>
          <p:nvPr/>
        </p:nvSpPr>
        <p:spPr>
          <a:xfrm>
            <a:off x="61447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3</a:t>
            </a:r>
            <a:endParaRPr lang="en-US" sz="1300" dirty="0"/>
          </a:p>
        </p:txBody>
      </p:sp>
      <p:sp>
        <p:nvSpPr>
          <p:cNvPr id="20" name="Text 18"/>
          <p:cNvSpPr txBox="1"/>
          <p:nvPr/>
        </p:nvSpPr>
        <p:spPr>
          <a:xfrm>
            <a:off x="61447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TestFlight: prueba en iPhones reales</a:t>
            </a:r>
            <a:endParaRPr lang="en-US" sz="1200" dirty="0"/>
          </a:p>
        </p:txBody>
      </p:sp>
      <p:sp>
        <p:nvSpPr>
          <p:cNvPr id="21" name="Shape 19"/>
          <p:cNvSpPr/>
          <p:nvPr/>
        </p:nvSpPr>
        <p:spPr>
          <a:xfrm>
            <a:off x="7242048" y="1517904"/>
            <a:ext cx="146304" cy="256032"/>
          </a:xfrm>
          <a:prstGeom prst="rightArrow">
            <a:avLst/>
          </a:prstGeom>
          <a:solidFill>
            <a:srgbClr val="F5C400"/>
          </a:solidFill>
          <a:ln w="12700">
            <a:solidFill>
              <a:srgbClr val="F5C400"/>
            </a:solidFill>
            <a:prstDash val="solid"/>
          </a:ln>
        </p:spPr>
      </p:sp>
      <p:sp>
        <p:nvSpPr>
          <p:cNvPr id="22" name="Shape 20"/>
          <p:cNvSpPr/>
          <p:nvPr/>
        </p:nvSpPr>
        <p:spPr>
          <a:xfrm>
            <a:off x="7406640" y="1051560"/>
            <a:ext cx="1188720" cy="1188720"/>
          </a:xfrm>
          <a:prstGeom prst="roundRect">
            <a:avLst>
              <a:gd name="adj" fmla="val 6154"/>
            </a:avLst>
          </a:prstGeom>
          <a:solidFill>
            <a:srgbClr val="F2F2F2"/>
          </a:solidFill>
          <a:ln w="12700">
            <a:solidFill>
              <a:srgbClr val="F2F2F2"/>
            </a:solidFill>
            <a:prstDash val="solid"/>
          </a:ln>
        </p:spPr>
      </p:sp>
      <p:sp>
        <p:nvSpPr>
          <p:cNvPr id="23" name="Shape 21"/>
          <p:cNvSpPr/>
          <p:nvPr/>
        </p:nvSpPr>
        <p:spPr>
          <a:xfrm>
            <a:off x="7516368" y="1143000"/>
            <a:ext cx="329184" cy="329184"/>
          </a:xfrm>
          <a:prstGeom prst="ellipse">
            <a:avLst/>
          </a:prstGeom>
          <a:solidFill>
            <a:srgbClr val="F5C400"/>
          </a:solidFill>
          <a:ln w="12700">
            <a:solidFill>
              <a:srgbClr val="F5C400"/>
            </a:solidFill>
            <a:prstDash val="solid"/>
          </a:ln>
        </p:spPr>
      </p:sp>
      <p:sp>
        <p:nvSpPr>
          <p:cNvPr id="24" name="Text 22"/>
          <p:cNvSpPr txBox="1"/>
          <p:nvPr/>
        </p:nvSpPr>
        <p:spPr>
          <a:xfrm>
            <a:off x="75163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4</a:t>
            </a:r>
            <a:endParaRPr lang="en-US" sz="1300" dirty="0"/>
          </a:p>
        </p:txBody>
      </p:sp>
      <p:sp>
        <p:nvSpPr>
          <p:cNvPr id="25" name="Text 23"/>
          <p:cNvSpPr txBox="1"/>
          <p:nvPr/>
        </p:nvSpPr>
        <p:spPr>
          <a:xfrm>
            <a:off x="75163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Revisión de Apple y App Store</a:t>
            </a:r>
            <a:endParaRPr lang="en-US" sz="1200" dirty="0"/>
          </a:p>
        </p:txBody>
      </p:sp>
      <p:sp>
        <p:nvSpPr>
          <p:cNvPr id="26" name="Shape 24"/>
          <p:cNvSpPr/>
          <p:nvPr/>
        </p:nvSpPr>
        <p:spPr>
          <a:xfrm>
            <a:off x="3291840" y="2423160"/>
            <a:ext cx="5394960" cy="868680"/>
          </a:xfrm>
          <a:prstGeom prst="roundRect">
            <a:avLst>
              <a:gd name="adj" fmla="val 8421"/>
            </a:avLst>
          </a:prstGeom>
          <a:solidFill>
            <a:srgbClr val="FFF4BF"/>
          </a:solidFill>
          <a:ln w="12700">
            <a:solidFill>
              <a:srgbClr val="FFF4BF"/>
            </a:solidFill>
            <a:prstDash val="solid"/>
          </a:ln>
        </p:spPr>
      </p:sp>
      <p:sp>
        <p:nvSpPr>
          <p:cNvPr id="27" name="Text 25"/>
          <p:cNvSpPr txBox="1"/>
          <p:nvPr/>
        </p:nvSpPr>
        <p:spPr>
          <a:xfrm>
            <a:off x="3474720" y="2487168"/>
            <a:ext cx="5074920" cy="749808"/>
          </a:xfrm>
          <a:prstGeom prst="rect">
            <a:avLst/>
          </a:prstGeom>
          <a:noFill/>
          <a:ln/>
        </p:spPr>
        <p:txBody>
          <a:bodyPr wrap="square" lIns="0" tIns="0" rIns="0" bIns="0" rtlCol="0" anchor="ctr"/>
          <a:lstStyle/>
          <a:p>
            <a:pPr indent="0" marL="0">
              <a:buNone/>
            </a:pPr>
            <a:r>
              <a:rPr lang="en-US" sz="1200" b="1" dirty="0">
                <a:solidFill>
                  <a:srgbClr val="111111"/>
                </a:solidFill>
              </a:rPr>
              <a:t>Qué exige Apple: </a:t>
            </a:r>
            <a:pPr indent="0" marL="0">
              <a:buNone/>
            </a:pPr>
            <a:r>
              <a:rPr lang="en-US" sz="1200" dirty="0">
                <a:solidFill>
                  <a:srgbClr val="111111"/>
                </a:solidFill>
              </a:rPr>
              <a:t>iniciar sesión con Apple si la app ofrece login con Google (nueva HU-20, Sprint 2), borrado de cuenta en la app y etiqueta de privacidad (Sprint 3).</a:t>
            </a:r>
            <a:endParaRPr lang="en-US" sz="1200" dirty="0"/>
          </a:p>
        </p:txBody>
      </p:sp>
      <p:sp>
        <p:nvSpPr>
          <p:cNvPr id="28" name="Text 26"/>
          <p:cNvSpPr txBox="1"/>
          <p:nvPr/>
        </p:nvSpPr>
        <p:spPr>
          <a:xfrm>
            <a:off x="32918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99 USD</a:t>
            </a:r>
            <a:endParaRPr lang="en-US" sz="2000" dirty="0"/>
          </a:p>
        </p:txBody>
      </p:sp>
      <p:sp>
        <p:nvSpPr>
          <p:cNvPr id="29" name="Text 27"/>
          <p:cNvSpPr txBox="1"/>
          <p:nvPr/>
        </p:nvSpPr>
        <p:spPr>
          <a:xfrm>
            <a:off x="32918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al año, cuenta de Apple (se inscribe en el Sprint 1)</a:t>
            </a:r>
            <a:endParaRPr lang="en-US" sz="1100" dirty="0"/>
          </a:p>
        </p:txBody>
      </p:sp>
      <p:sp>
        <p:nvSpPr>
          <p:cNvPr id="30" name="Text 28"/>
          <p:cNvSpPr txBox="1"/>
          <p:nvPr/>
        </p:nvSpPr>
        <p:spPr>
          <a:xfrm>
            <a:off x="46634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25 USD</a:t>
            </a:r>
            <a:endParaRPr lang="en-US" sz="2000" dirty="0"/>
          </a:p>
        </p:txBody>
      </p:sp>
      <p:sp>
        <p:nvSpPr>
          <p:cNvPr id="31" name="Text 29"/>
          <p:cNvSpPr txBox="1"/>
          <p:nvPr/>
        </p:nvSpPr>
        <p:spPr>
          <a:xfrm>
            <a:off x="46634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una vez, cuenta de Google Play</a:t>
            </a:r>
            <a:endParaRPr lang="en-US" sz="1100" dirty="0"/>
          </a:p>
        </p:txBody>
      </p:sp>
      <p:sp>
        <p:nvSpPr>
          <p:cNvPr id="32" name="Text 30"/>
          <p:cNvSpPr txBox="1"/>
          <p:nvPr/>
        </p:nvSpPr>
        <p:spPr>
          <a:xfrm>
            <a:off x="60350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 USD</a:t>
            </a:r>
            <a:endParaRPr lang="en-US" sz="2000" dirty="0"/>
          </a:p>
        </p:txBody>
      </p:sp>
      <p:sp>
        <p:nvSpPr>
          <p:cNvPr id="33" name="Text 31"/>
          <p:cNvSpPr txBox="1"/>
          <p:nvPr/>
        </p:nvSpPr>
        <p:spPr>
          <a:xfrm>
            <a:off x="60350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EAS Build: 15 builds de iOS gratis al mes</a:t>
            </a:r>
            <a:endParaRPr lang="en-US" sz="1100" dirty="0"/>
          </a:p>
        </p:txBody>
      </p:sp>
      <p:sp>
        <p:nvSpPr>
          <p:cNvPr id="34" name="Text 32"/>
          <p:cNvSpPr txBox="1"/>
          <p:nvPr/>
        </p:nvSpPr>
        <p:spPr>
          <a:xfrm>
            <a:off x="74066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1 USD/h</a:t>
            </a:r>
            <a:endParaRPr lang="en-US" sz="2000" dirty="0"/>
          </a:p>
        </p:txBody>
      </p:sp>
      <p:sp>
        <p:nvSpPr>
          <p:cNvPr id="35" name="Text 33"/>
          <p:cNvSpPr txBox="1"/>
          <p:nvPr/>
        </p:nvSpPr>
        <p:spPr>
          <a:xfrm>
            <a:off x="74066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Mac en la nube, solo si hace falta</a:t>
            </a:r>
            <a:endParaRPr lang="en-US" sz="1100" dirty="0"/>
          </a:p>
        </p:txBody>
      </p:sp>
      <p:sp>
        <p:nvSpPr>
          <p:cNvPr id="37" name="Shape 34"/>
          <p:cNvSpPr/>
          <p:nvPr/>
        </p:nvSpPr>
        <p:spPr>
          <a:xfrm>
            <a:off x="6446520" y="4745736"/>
            <a:ext cx="1600200" cy="246888"/>
          </a:xfrm>
          <a:prstGeom prst="roundRect">
            <a:avLst>
              <a:gd name="adj" fmla="val 48148"/>
            </a:avLst>
          </a:prstGeom>
          <a:solidFill>
            <a:srgbClr val="F5C400"/>
          </a:solidFill>
          <a:ln w="12700">
            <a:solidFill>
              <a:srgbClr val="F5C400"/>
            </a:solidFill>
            <a:prstDash val="solid"/>
          </a:ln>
        </p:spPr>
      </p:sp>
      <p:sp>
        <p:nvSpPr>
          <p:cNvPr id="38" name="Text 35"/>
          <p:cNvSpPr txBox="1"/>
          <p:nvPr/>
        </p:nvSpPr>
        <p:spPr>
          <a:xfrm>
            <a:off x="6446520" y="4745736"/>
            <a:ext cx="1600200" cy="246888"/>
          </a:xfrm>
          <a:prstGeom prst="rect">
            <a:avLst/>
          </a:prstGeom>
          <a:noFill/>
          <a:ln/>
        </p:spPr>
        <p:txBody>
          <a:bodyPr wrap="square" lIns="0" tIns="0" rIns="0" bIns="0" rtlCol="0" anchor="ctr"/>
          <a:lstStyle/>
          <a:p>
            <a:pPr algn="ctr" indent="0" marL="0">
              <a:buNone/>
            </a:pPr>
            <a:r>
              <a:rPr lang="en-US" sz="1000" b="1" dirty="0">
                <a:solidFill>
                  <a:srgbClr val="111111"/>
                </a:solidFill>
              </a:rPr>
              <a:t>Ajuste por feedback</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Modelo de negocio: pago inicial y mantención</a:t>
            </a:r>
            <a:endParaRPr lang="en-US" sz="2600" dirty="0"/>
          </a:p>
        </p:txBody>
      </p:sp>
      <p:sp>
        <p:nvSpPr>
          <p:cNvPr id="3" name="Shape 1"/>
          <p:cNvSpPr/>
          <p:nvPr/>
        </p:nvSpPr>
        <p:spPr>
          <a:xfrm>
            <a:off x="457200" y="1051560"/>
            <a:ext cx="2606040" cy="3520440"/>
          </a:xfrm>
          <a:prstGeom prst="roundRect">
            <a:avLst>
              <a:gd name="adj" fmla="val 2807"/>
            </a:avLst>
          </a:prstGeom>
          <a:solidFill>
            <a:srgbClr val="F2F2F2"/>
          </a:solidFill>
          <a:ln w="12700">
            <a:solidFill>
              <a:srgbClr val="F2F2F2"/>
            </a:solidFill>
            <a:prstDash val="solid"/>
          </a:ln>
        </p:spPr>
      </p:sp>
      <p:sp>
        <p:nvSpPr>
          <p:cNvPr id="4" name="Shape 2"/>
          <p:cNvSpPr/>
          <p:nvPr/>
        </p:nvSpPr>
        <p:spPr>
          <a:xfrm>
            <a:off x="658368" y="1207008"/>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72668" y="1321308"/>
            <a:ext cx="228600" cy="228600"/>
          </a:xfrm>
          <a:prstGeom prst="rect">
            <a:avLst/>
          </a:prstGeom>
        </p:spPr>
      </p:pic>
      <p:sp>
        <p:nvSpPr>
          <p:cNvPr id="6" name="Text 3"/>
          <p:cNvSpPr txBox="1"/>
          <p:nvPr/>
        </p:nvSpPr>
        <p:spPr>
          <a:xfrm>
            <a:off x="123444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Propuesta de valor</a:t>
            </a:r>
            <a:endParaRPr lang="en-US" sz="1500" dirty="0"/>
          </a:p>
        </p:txBody>
      </p:sp>
      <p:sp>
        <p:nvSpPr>
          <p:cNvPr id="7" name="Text 4"/>
          <p:cNvSpPr txBox="1"/>
          <p:nvPr/>
        </p:nvSpPr>
        <p:spPr>
          <a:xfrm>
            <a:off x="65836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reemplaza la tarjeta de papel y evita sellos falsos.</a:t>
            </a:r>
            <a:endParaRPr lang="en-US" sz="1400" dirty="0"/>
          </a:p>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muestra quién vuelve y qué premio funciona.</a:t>
            </a:r>
            <a:endParaRPr lang="en-US" sz="1400" dirty="0"/>
          </a:p>
          <a:p>
            <a:pPr indent="0" marL="0">
              <a:spcAft>
                <a:spcPts val="1200"/>
              </a:spcAft>
              <a:buNone/>
            </a:pPr>
            <a:r>
              <a:rPr lang="en-US" sz="1400" b="1" dirty="0">
                <a:solidFill>
                  <a:srgbClr val="111111"/>
                </a:solidFill>
              </a:rPr>
              <a:t>Para el cliente: </a:t>
            </a:r>
            <a:pPr indent="0" marL="0">
              <a:spcAft>
                <a:spcPts val="1200"/>
              </a:spcAft>
              <a:buNone/>
            </a:pPr>
            <a:r>
              <a:rPr lang="en-US" sz="1400" dirty="0">
                <a:solidFill>
                  <a:srgbClr val="111111"/>
                </a:solidFill>
              </a:rPr>
              <a:t>premios por volver, sin tarjeta que perder.</a:t>
            </a:r>
            <a:endParaRPr lang="en-US" sz="1400" dirty="0"/>
          </a:p>
        </p:txBody>
      </p:sp>
      <p:sp>
        <p:nvSpPr>
          <p:cNvPr id="8" name="Shape 5"/>
          <p:cNvSpPr/>
          <p:nvPr/>
        </p:nvSpPr>
        <p:spPr>
          <a:xfrm>
            <a:off x="3246120" y="1051560"/>
            <a:ext cx="2606040" cy="3520440"/>
          </a:xfrm>
          <a:prstGeom prst="roundRect">
            <a:avLst>
              <a:gd name="adj" fmla="val 2807"/>
            </a:avLst>
          </a:prstGeom>
          <a:solidFill>
            <a:srgbClr val="F2F2F2"/>
          </a:solidFill>
          <a:ln w="12700">
            <a:solidFill>
              <a:srgbClr val="F2F2F2"/>
            </a:solidFill>
            <a:prstDash val="solid"/>
          </a:ln>
        </p:spPr>
      </p:sp>
      <p:sp>
        <p:nvSpPr>
          <p:cNvPr id="9" name="Shape 6"/>
          <p:cNvSpPr/>
          <p:nvPr/>
        </p:nvSpPr>
        <p:spPr>
          <a:xfrm>
            <a:off x="3447288" y="1207008"/>
            <a:ext cx="457200" cy="457200"/>
          </a:xfrm>
          <a:prstGeom prst="ellipse">
            <a:avLst/>
          </a:prstGeom>
          <a:solidFill>
            <a:srgbClr val="111111"/>
          </a:solidFill>
          <a:ln w="12700">
            <a:solidFill>
              <a:srgbClr val="111111"/>
            </a:solidFill>
            <a:prstDash val="solid"/>
          </a:ln>
        </p:spPr>
      </p:sp>
      <p:pic>
        <p:nvPicPr>
          <p:cNvPr id="10" name="Image 1" descr="preencoded.png">    </p:cNvPr>
          <p:cNvPicPr>
            <a:picLocks noChangeAspect="1"/>
          </p:cNvPicPr>
          <p:nvPr/>
        </p:nvPicPr>
        <p:blipFill>
          <a:blip r:embed="rId2"/>
          <a:stretch>
            <a:fillRect/>
          </a:stretch>
        </p:blipFill>
        <p:spPr>
          <a:xfrm>
            <a:off x="3561588" y="1321308"/>
            <a:ext cx="228600" cy="228600"/>
          </a:xfrm>
          <a:prstGeom prst="rect">
            <a:avLst/>
          </a:prstGeom>
        </p:spPr>
      </p:pic>
      <p:sp>
        <p:nvSpPr>
          <p:cNvPr id="11" name="Text 7"/>
          <p:cNvSpPr txBox="1"/>
          <p:nvPr/>
        </p:nvSpPr>
        <p:spPr>
          <a:xfrm>
            <a:off x="402336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Clientes y usuarios</a:t>
            </a:r>
            <a:endParaRPr lang="en-US" sz="1500" dirty="0"/>
          </a:p>
        </p:txBody>
      </p:sp>
      <p:sp>
        <p:nvSpPr>
          <p:cNvPr id="12" name="Text 8"/>
          <p:cNvSpPr txBox="1"/>
          <p:nvPr/>
        </p:nvSpPr>
        <p:spPr>
          <a:xfrm>
            <a:off x="344728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Paga: </a:t>
            </a:r>
            <a:pPr indent="0" marL="0">
              <a:spcAft>
                <a:spcPts val="1200"/>
              </a:spcAft>
              <a:buNone/>
            </a:pPr>
            <a:r>
              <a:rPr lang="en-US" sz="1400" dirty="0">
                <a:solidFill>
                  <a:srgbClr val="111111"/>
                </a:solidFill>
              </a:rPr>
              <a:t>Clancy's Cork.</a:t>
            </a:r>
            <a:endParaRPr lang="en-US" sz="1400" dirty="0"/>
          </a:p>
          <a:p>
            <a:pPr indent="0" marL="0">
              <a:spcAft>
                <a:spcPts val="1200"/>
              </a:spcAft>
              <a:buNone/>
            </a:pPr>
            <a:r>
              <a:rPr lang="en-US" sz="1400" b="1" dirty="0">
                <a:solidFill>
                  <a:srgbClr val="111111"/>
                </a:solidFill>
              </a:rPr>
              <a:t>La usan: </a:t>
            </a:r>
            <a:pPr indent="0" marL="0">
              <a:spcAft>
                <a:spcPts val="1200"/>
              </a:spcAft>
              <a:buNone/>
            </a:pPr>
            <a:r>
              <a:rPr lang="en-US" sz="1400" dirty="0">
                <a:solidFill>
                  <a:srgbClr val="111111"/>
                </a:solidFill>
              </a:rPr>
              <a:t>clientes del local, meseros y administración.</a:t>
            </a:r>
            <a:endParaRPr lang="en-US" sz="1400" dirty="0"/>
          </a:p>
          <a:p>
            <a:pPr indent="0" marL="0">
              <a:spcAft>
                <a:spcPts val="1200"/>
              </a:spcAft>
              <a:buNone/>
            </a:pPr>
            <a:r>
              <a:rPr lang="en-US" sz="1400" b="1" dirty="0">
                <a:solidFill>
                  <a:srgbClr val="111111"/>
                </a:solidFill>
              </a:rPr>
              <a:t>Sus clientes: </a:t>
            </a:r>
            <a:pPr indent="0" marL="0">
              <a:spcAft>
                <a:spcPts val="1200"/>
              </a:spcAft>
              <a:buNone/>
            </a:pPr>
            <a:r>
              <a:rPr lang="en-US" sz="1400" dirty="0">
                <a:solidFill>
                  <a:srgbClr val="111111"/>
                </a:solidFill>
              </a:rPr>
              <a:t>gente de Cork y turistas que visitan el pub.</a:t>
            </a:r>
            <a:endParaRPr lang="en-US" sz="1400" dirty="0"/>
          </a:p>
          <a:p>
            <a:pPr indent="0" marL="0">
              <a:spcAft>
                <a:spcPts val="1200"/>
              </a:spcAft>
              <a:buNone/>
            </a:pPr>
            <a:r>
              <a:rPr lang="en-US" sz="1400" b="1" dirty="0">
                <a:solidFill>
                  <a:srgbClr val="111111"/>
                </a:solidFill>
              </a:rPr>
              <a:t>A futuro: </a:t>
            </a:r>
            <a:pPr indent="0" marL="0">
              <a:spcAft>
                <a:spcPts val="1200"/>
              </a:spcAft>
              <a:buNone/>
            </a:pPr>
            <a:r>
              <a:rPr lang="en-US" sz="1400" dirty="0">
                <a:solidFill>
                  <a:srgbClr val="111111"/>
                </a:solidFill>
              </a:rPr>
              <a:t>otros bares.</a:t>
            </a:r>
            <a:endParaRPr lang="en-US" sz="1400" dirty="0"/>
          </a:p>
        </p:txBody>
      </p:sp>
      <p:sp>
        <p:nvSpPr>
          <p:cNvPr id="13" name="Shape 9"/>
          <p:cNvSpPr/>
          <p:nvPr/>
        </p:nvSpPr>
        <p:spPr>
          <a:xfrm>
            <a:off x="6035040" y="1051560"/>
            <a:ext cx="2651760" cy="3520440"/>
          </a:xfrm>
          <a:prstGeom prst="roundRect">
            <a:avLst>
              <a:gd name="adj" fmla="val 2759"/>
            </a:avLst>
          </a:prstGeom>
          <a:solidFill>
            <a:srgbClr val="111111"/>
          </a:solidFill>
          <a:ln w="12700">
            <a:solidFill>
              <a:srgbClr val="111111"/>
            </a:solidFill>
            <a:prstDash val="solid"/>
          </a:ln>
        </p:spPr>
      </p:sp>
      <p:sp>
        <p:nvSpPr>
          <p:cNvPr id="14" name="Text 10"/>
          <p:cNvSpPr txBox="1"/>
          <p:nvPr/>
        </p:nvSpPr>
        <p:spPr>
          <a:xfrm>
            <a:off x="6236208" y="1188720"/>
            <a:ext cx="228600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Sostenibilidad</a:t>
            </a:r>
            <a:endParaRPr lang="en-US" sz="1500" dirty="0"/>
          </a:p>
        </p:txBody>
      </p:sp>
      <p:sp>
        <p:nvSpPr>
          <p:cNvPr id="15" name="Text 11"/>
          <p:cNvSpPr txBox="1"/>
          <p:nvPr/>
        </p:nvSpPr>
        <p:spPr>
          <a:xfrm>
            <a:off x="6236208" y="155448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€2.500</a:t>
            </a:r>
            <a:endParaRPr lang="en-US" sz="3200" dirty="0"/>
          </a:p>
        </p:txBody>
      </p:sp>
      <p:sp>
        <p:nvSpPr>
          <p:cNvPr id="16" name="Text 12"/>
          <p:cNvSpPr txBox="1"/>
          <p:nvPr/>
        </p:nvSpPr>
        <p:spPr>
          <a:xfrm>
            <a:off x="6236208" y="2103120"/>
            <a:ext cx="2286000" cy="274320"/>
          </a:xfrm>
          <a:prstGeom prst="rect">
            <a:avLst/>
          </a:prstGeom>
          <a:noFill/>
          <a:ln/>
        </p:spPr>
        <p:txBody>
          <a:bodyPr wrap="square" lIns="0" tIns="0" rIns="0" bIns="0" rtlCol="0" anchor="t"/>
          <a:lstStyle/>
          <a:p>
            <a:pPr indent="0" marL="0">
              <a:buNone/>
            </a:pPr>
            <a:r>
              <a:rPr lang="en-US" sz="1200" dirty="0">
                <a:solidFill>
                  <a:srgbClr val="F5C400"/>
                </a:solidFill>
              </a:rPr>
              <a:t>pago inicial para terminarla y publicarla</a:t>
            </a:r>
            <a:endParaRPr lang="en-US" sz="1200" dirty="0"/>
          </a:p>
        </p:txBody>
      </p:sp>
      <p:sp>
        <p:nvSpPr>
          <p:cNvPr id="17" name="Text 13"/>
          <p:cNvSpPr txBox="1"/>
          <p:nvPr/>
        </p:nvSpPr>
        <p:spPr>
          <a:xfrm>
            <a:off x="6236208" y="251460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€75–90</a:t>
            </a:r>
            <a:endParaRPr lang="en-US" sz="3200" dirty="0"/>
          </a:p>
        </p:txBody>
      </p:sp>
      <p:sp>
        <p:nvSpPr>
          <p:cNvPr id="18" name="Text 14"/>
          <p:cNvSpPr txBox="1"/>
          <p:nvPr/>
        </p:nvSpPr>
        <p:spPr>
          <a:xfrm>
            <a:off x="6236208" y="3063240"/>
            <a:ext cx="2286000" cy="274320"/>
          </a:xfrm>
          <a:prstGeom prst="rect">
            <a:avLst/>
          </a:prstGeom>
          <a:noFill/>
          <a:ln/>
        </p:spPr>
        <p:txBody>
          <a:bodyPr wrap="square" lIns="0" tIns="0" rIns="0" bIns="0" rtlCol="0" anchor="t"/>
          <a:lstStyle/>
          <a:p>
            <a:pPr indent="0" marL="0">
              <a:buNone/>
            </a:pPr>
            <a:r>
              <a:rPr lang="en-US" sz="1200" dirty="0">
                <a:solidFill>
                  <a:srgbClr val="F5C400"/>
                </a:solidFill>
              </a:rPr>
              <a:t>por semana de mantención</a:t>
            </a:r>
            <a:endParaRPr lang="en-US" sz="1200" dirty="0"/>
          </a:p>
        </p:txBody>
      </p:sp>
      <p:sp>
        <p:nvSpPr>
          <p:cNvPr id="19" name="Text 15"/>
          <p:cNvSpPr txBox="1"/>
          <p:nvPr/>
        </p:nvSpPr>
        <p:spPr>
          <a:xfrm>
            <a:off x="6236208" y="3474720"/>
            <a:ext cx="2286000" cy="1005840"/>
          </a:xfrm>
          <a:prstGeom prst="rect">
            <a:avLst/>
          </a:prstGeom>
          <a:noFill/>
          <a:ln/>
        </p:spPr>
        <p:txBody>
          <a:bodyPr wrap="square" lIns="0" tIns="0" rIns="0" bIns="0" rtlCol="0" anchor="t"/>
          <a:lstStyle/>
          <a:p>
            <a:pPr indent="0" marL="0">
              <a:buNone/>
            </a:pPr>
            <a:r>
              <a:rPr lang="en-US" sz="1200" dirty="0">
                <a:solidFill>
                  <a:srgbClr val="FFFFFF"/>
                </a:solidFill>
              </a:rPr>
              <a:t>Publicar en las dos tiendas: Google Play 25 USD (una vez) y Apple 99 USD al año. Servidor y base de datos parten en plan gratuito.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cliente</a:t>
            </a:r>
            <a:endParaRPr lang="en-US" sz="2400" dirty="0"/>
          </a:p>
        </p:txBody>
      </p:sp>
      <p:sp>
        <p:nvSpPr>
          <p:cNvPr id="3" name="Shape 1"/>
          <p:cNvSpPr/>
          <p:nvPr/>
        </p:nvSpPr>
        <p:spPr>
          <a:xfrm>
            <a:off x="7086600" y="347472"/>
            <a:ext cx="1600200" cy="246888"/>
          </a:xfrm>
          <a:prstGeom prst="roundRect">
            <a:avLst>
              <a:gd name="adj" fmla="val 48148"/>
            </a:avLst>
          </a:prstGeom>
          <a:solidFill>
            <a:srgbClr val="F5C400"/>
          </a:solidFill>
          <a:ln w="12700">
            <a:solidFill>
              <a:srgbClr val="F5C400"/>
            </a:solidFill>
            <a:prstDash val="solid"/>
          </a:ln>
        </p:spPr>
      </p:sp>
      <p:sp>
        <p:nvSpPr>
          <p:cNvPr id="4" name="Text 2"/>
          <p:cNvSpPr txBox="1"/>
          <p:nvPr/>
        </p:nvSpPr>
        <p:spPr>
          <a:xfrm>
            <a:off x="7086600" y="347472"/>
            <a:ext cx="1600200" cy="246888"/>
          </a:xfrm>
          <a:prstGeom prst="rect">
            <a:avLst/>
          </a:prstGeom>
          <a:noFill/>
          <a:ln/>
        </p:spPr>
        <p:txBody>
          <a:bodyPr wrap="square" lIns="0" tIns="0" rIns="0" bIns="0" rtlCol="0" anchor="ctr"/>
          <a:lstStyle/>
          <a:p>
            <a:pPr algn="ctr" indent="0" marL="0">
              <a:buNone/>
            </a:pPr>
            <a:r>
              <a:rPr lang="en-US" sz="1000" b="1" dirty="0">
                <a:solidFill>
                  <a:srgbClr val="111111"/>
                </a:solidFill>
              </a:rPr>
              <a:t>Ajuste por feedback</a:t>
            </a:r>
            <a:endParaRPr lang="en-US" sz="1000" dirty="0"/>
          </a:p>
        </p:txBody>
      </p:sp>
      <p:sp>
        <p:nvSpPr>
          <p:cNvPr id="5" name="Shape 3"/>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6" name="Text 4"/>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Bienvenida</a:t>
            </a:r>
            <a:endParaRPr lang="en-US" sz="1100" dirty="0"/>
          </a:p>
        </p:txBody>
      </p:sp>
      <p:sp>
        <p:nvSpPr>
          <p:cNvPr id="7" name="Shape 5"/>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8" name="Image 0" descr="Captura de la app: Bienvenida">    </p:cNvPr>
          <p:cNvPicPr>
            <a:picLocks noChangeAspect="1"/>
          </p:cNvPicPr>
          <p:nvPr/>
        </p:nvPicPr>
        <p:blipFill>
          <a:blip r:embed="rId1"/>
          <a:stretch>
            <a:fillRect/>
          </a:stretch>
        </p:blipFill>
        <p:spPr>
          <a:xfrm>
            <a:off x="457200" y="1143000"/>
            <a:ext cx="1647812" cy="3566160"/>
          </a:xfrm>
          <a:prstGeom prst="rect">
            <a:avLst/>
          </a:prstGeom>
        </p:spPr>
      </p:pic>
      <p:sp>
        <p:nvSpPr>
          <p:cNvPr id="9" name="Shape 6"/>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10" name="Text 7"/>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Tarjeta de socio</a:t>
            </a:r>
            <a:endParaRPr lang="en-US" sz="1100" dirty="0"/>
          </a:p>
        </p:txBody>
      </p:sp>
      <p:sp>
        <p:nvSpPr>
          <p:cNvPr id="11" name="Shape 8"/>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2" name="Image 1" descr="Captura de la app: Tarjeta de socio">    </p:cNvPr>
          <p:cNvPicPr>
            <a:picLocks noChangeAspect="1"/>
          </p:cNvPicPr>
          <p:nvPr/>
        </p:nvPicPr>
        <p:blipFill>
          <a:blip r:embed="rId2"/>
          <a:stretch>
            <a:fillRect/>
          </a:stretch>
        </p:blipFill>
        <p:spPr>
          <a:xfrm>
            <a:off x="2651129" y="1143000"/>
            <a:ext cx="1647812" cy="3566160"/>
          </a:xfrm>
          <a:prstGeom prst="rect">
            <a:avLst/>
          </a:prstGeom>
        </p:spPr>
      </p:pic>
      <p:sp>
        <p:nvSpPr>
          <p:cNvPr id="13" name="Shape 9"/>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4" name="Text 10"/>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un solo uso</a:t>
            </a:r>
            <a:endParaRPr lang="en-US" sz="1100" dirty="0"/>
          </a:p>
        </p:txBody>
      </p:sp>
      <p:sp>
        <p:nvSpPr>
          <p:cNvPr id="15" name="Shape 11"/>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6" name="Image 2" descr="Captura de la app: Pase QR del cliente">    </p:cNvPr>
          <p:cNvPicPr>
            <a:picLocks noChangeAspect="1"/>
          </p:cNvPicPr>
          <p:nvPr/>
        </p:nvPicPr>
        <p:blipFill>
          <a:blip r:embed="rId3"/>
          <a:stretch>
            <a:fillRect/>
          </a:stretch>
        </p:blipFill>
        <p:spPr>
          <a:xfrm>
            <a:off x="4845059" y="1143000"/>
            <a:ext cx="1647812" cy="3566160"/>
          </a:xfrm>
          <a:prstGeom prst="rect">
            <a:avLst/>
          </a:prstGeom>
        </p:spPr>
      </p:pic>
      <p:sp>
        <p:nvSpPr>
          <p:cNvPr id="17" name="Shape 12"/>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8" name="Text 13"/>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Premios</a:t>
            </a:r>
            <a:endParaRPr lang="en-US" sz="1100" dirty="0"/>
          </a:p>
        </p:txBody>
      </p:sp>
      <p:sp>
        <p:nvSpPr>
          <p:cNvPr id="19" name="Shape 14"/>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20" name="Image 3" descr="Captura de la app: Recompensas del cliente">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personal en el local</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QR del cliente</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Captura de la app: Pase QR del cliente">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Visita sumada</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Captura de la app: Resultado de visita">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canje</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Captura de la app: QR de canje">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Entregar premio</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Captura de la app: Canje - entregar al cliente">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la administración</a:t>
            </a:r>
            <a:endParaRPr lang="en-US" sz="2400" dirty="0"/>
          </a:p>
        </p:txBody>
      </p:sp>
      <p:sp>
        <p:nvSpPr>
          <p:cNvPr id="3" name="Shape 1"/>
          <p:cNvSpPr/>
          <p:nvPr/>
        </p:nvSpPr>
        <p:spPr>
          <a:xfrm>
            <a:off x="768096" y="1088136"/>
            <a:ext cx="1757540" cy="3675888"/>
          </a:xfrm>
          <a:prstGeom prst="roundRect">
            <a:avLst>
              <a:gd name="adj" fmla="val 7284"/>
            </a:avLst>
          </a:prstGeom>
          <a:solidFill>
            <a:srgbClr val="3A3A3A"/>
          </a:solidFill>
          <a:ln w="12700">
            <a:solidFill>
              <a:srgbClr val="3A3A3A"/>
            </a:solidFill>
            <a:prstDash val="solid"/>
          </a:ln>
        </p:spPr>
      </p:sp>
      <p:pic>
        <p:nvPicPr>
          <p:cNvPr id="4" name="Image 0" descr="Captura de la app: Panel del dueno">    </p:cNvPr>
          <p:cNvPicPr>
            <a:picLocks noChangeAspect="1"/>
          </p:cNvPicPr>
          <p:nvPr/>
        </p:nvPicPr>
        <p:blipFill>
          <a:blip r:embed="rId1"/>
          <a:stretch>
            <a:fillRect/>
          </a:stretch>
        </p:blipFill>
        <p:spPr>
          <a:xfrm>
            <a:off x="822960" y="1143000"/>
            <a:ext cx="1647812" cy="3566160"/>
          </a:xfrm>
          <a:prstGeom prst="rect">
            <a:avLst/>
          </a:prstGeom>
        </p:spPr>
      </p:pic>
      <p:sp>
        <p:nvSpPr>
          <p:cNvPr id="5" name="Shape 2"/>
          <p:cNvSpPr/>
          <p:nvPr/>
        </p:nvSpPr>
        <p:spPr>
          <a:xfrm>
            <a:off x="2825496" y="1088136"/>
            <a:ext cx="1757540" cy="3675888"/>
          </a:xfrm>
          <a:prstGeom prst="roundRect">
            <a:avLst>
              <a:gd name="adj" fmla="val 7284"/>
            </a:avLst>
          </a:prstGeom>
          <a:solidFill>
            <a:srgbClr val="3A3A3A"/>
          </a:solidFill>
          <a:ln w="12700">
            <a:solidFill>
              <a:srgbClr val="3A3A3A"/>
            </a:solidFill>
            <a:prstDash val="solid"/>
          </a:ln>
        </p:spPr>
      </p:sp>
      <p:pic>
        <p:nvPicPr>
          <p:cNvPr id="6" name="Image 1" descr="Captura de la app: Menu de la casa">    </p:cNvPr>
          <p:cNvPicPr>
            <a:picLocks noChangeAspect="1"/>
          </p:cNvPicPr>
          <p:nvPr/>
        </p:nvPicPr>
        <p:blipFill>
          <a:blip r:embed="rId2"/>
          <a:stretch>
            <a:fillRect/>
          </a:stretch>
        </p:blipFill>
        <p:spPr>
          <a:xfrm>
            <a:off x="2880360" y="1143000"/>
            <a:ext cx="1647812" cy="3566160"/>
          </a:xfrm>
          <a:prstGeom prst="rect">
            <a:avLst/>
          </a:prstGeom>
        </p:spPr>
      </p:pic>
      <p:sp>
        <p:nvSpPr>
          <p:cNvPr id="7" name="Shape 3"/>
          <p:cNvSpPr/>
          <p:nvPr/>
        </p:nvSpPr>
        <p:spPr>
          <a:xfrm>
            <a:off x="768096" y="813816"/>
            <a:ext cx="1757540" cy="256032"/>
          </a:xfrm>
          <a:prstGeom prst="roundRect">
            <a:avLst>
              <a:gd name="adj" fmla="val 21429"/>
            </a:avLst>
          </a:prstGeom>
          <a:solidFill>
            <a:srgbClr val="F5C400"/>
          </a:solidFill>
          <a:ln w="12700">
            <a:solidFill>
              <a:srgbClr val="F5C400"/>
            </a:solidFill>
            <a:prstDash val="solid"/>
          </a:ln>
        </p:spPr>
      </p:sp>
      <p:sp>
        <p:nvSpPr>
          <p:cNvPr id="8" name="Text 4"/>
          <p:cNvSpPr txBox="1"/>
          <p:nvPr/>
        </p:nvSpPr>
        <p:spPr>
          <a:xfrm>
            <a:off x="7680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Panel del dueño</a:t>
            </a:r>
            <a:endParaRPr lang="en-US" sz="1100" dirty="0"/>
          </a:p>
        </p:txBody>
      </p:sp>
      <p:sp>
        <p:nvSpPr>
          <p:cNvPr id="9" name="Shape 5"/>
          <p:cNvSpPr/>
          <p:nvPr/>
        </p:nvSpPr>
        <p:spPr>
          <a:xfrm>
            <a:off x="2825496" y="813816"/>
            <a:ext cx="1757540" cy="256032"/>
          </a:xfrm>
          <a:prstGeom prst="roundRect">
            <a:avLst>
              <a:gd name="adj" fmla="val 21429"/>
            </a:avLst>
          </a:prstGeom>
          <a:solidFill>
            <a:srgbClr val="F5C400"/>
          </a:solidFill>
          <a:ln w="12700">
            <a:solidFill>
              <a:srgbClr val="F5C400"/>
            </a:solidFill>
            <a:prstDash val="solid"/>
          </a:ln>
        </p:spPr>
      </p:sp>
      <p:sp>
        <p:nvSpPr>
          <p:cNvPr id="10" name="Text 6"/>
          <p:cNvSpPr txBox="1"/>
          <p:nvPr/>
        </p:nvSpPr>
        <p:spPr>
          <a:xfrm>
            <a:off x="28254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Menú de la casa</a:t>
            </a:r>
            <a:endParaRPr lang="en-US" sz="1100" dirty="0"/>
          </a:p>
        </p:txBody>
      </p:sp>
      <p:sp>
        <p:nvSpPr>
          <p:cNvPr id="11" name="Shape 7"/>
          <p:cNvSpPr/>
          <p:nvPr/>
        </p:nvSpPr>
        <p:spPr>
          <a:xfrm>
            <a:off x="5120640" y="1143000"/>
            <a:ext cx="3566160" cy="3566160"/>
          </a:xfrm>
          <a:prstGeom prst="roundRect">
            <a:avLst>
              <a:gd name="adj" fmla="val 2051"/>
            </a:avLst>
          </a:prstGeom>
          <a:solidFill>
            <a:srgbClr val="1F1F1F"/>
          </a:solidFill>
          <a:ln w="12700">
            <a:solidFill>
              <a:srgbClr val="1F1F1F"/>
            </a:solidFill>
            <a:prstDash val="solid"/>
          </a:ln>
        </p:spPr>
      </p:sp>
      <p:sp>
        <p:nvSpPr>
          <p:cNvPr id="12" name="Text 8"/>
          <p:cNvSpPr txBox="1"/>
          <p:nvPr/>
        </p:nvSpPr>
        <p:spPr>
          <a:xfrm>
            <a:off x="5349240" y="1325880"/>
            <a:ext cx="310896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Desde el panel, el local:</a:t>
            </a:r>
            <a:endParaRPr lang="en-US" sz="1500" dirty="0"/>
          </a:p>
        </p:txBody>
      </p:sp>
      <p:sp>
        <p:nvSpPr>
          <p:cNvPr id="13" name="Text 9"/>
          <p:cNvSpPr txBox="1"/>
          <p:nvPr/>
        </p:nvSpPr>
        <p:spPr>
          <a:xfrm>
            <a:off x="5349240" y="1783080"/>
            <a:ext cx="31089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Ve clientes, socios activos y visitas del día y de la semana.</a:t>
            </a:r>
            <a:endParaRPr lang="en-US" sz="1400" dirty="0"/>
          </a:p>
          <a:p>
            <a:pPr marL="342900" indent="-342900">
              <a:spcAft>
                <a:spcPts val="800"/>
              </a:spcAft>
              <a:buSzPct val="100000"/>
              <a:buChar char="•"/>
            </a:pPr>
            <a:r>
              <a:rPr lang="en-US" sz="1400" dirty="0">
                <a:solidFill>
                  <a:srgbClr val="FFFFFF"/>
                </a:solidFill>
              </a:rPr>
              <a:t>Ve qué premios se canjean más.</a:t>
            </a:r>
            <a:endParaRPr lang="en-US" sz="1400" dirty="0"/>
          </a:p>
          <a:p>
            <a:pPr marL="342900" indent="-342900">
              <a:spcAft>
                <a:spcPts val="800"/>
              </a:spcAft>
              <a:buSzPct val="100000"/>
              <a:buChar char="•"/>
            </a:pPr>
            <a:r>
              <a:rPr lang="en-US" sz="1400" dirty="0">
                <a:solidFill>
                  <a:srgbClr val="FFFFFF"/>
                </a:solidFill>
              </a:rPr>
              <a:t>Edita el menú real del local: 43 platos.</a:t>
            </a:r>
            <a:endParaRPr lang="en-US" sz="1400" dirty="0"/>
          </a:p>
          <a:p>
            <a:pPr marL="342900" indent="-342900">
              <a:spcAft>
                <a:spcPts val="800"/>
              </a:spcAft>
              <a:buSzPct val="100000"/>
              <a:buChar char="•"/>
            </a:pPr>
            <a:r>
              <a:rPr lang="en-US" sz="1400" dirty="0">
                <a:solidFill>
                  <a:srgbClr val="FFFFFF"/>
                </a:solidFill>
              </a:rPr>
              <a:t>Crea premios y promociones sin publicar una nueva versión.</a:t>
            </a:r>
            <a:endParaRPr lang="en-US" sz="1400" dirty="0"/>
          </a:p>
          <a:p>
            <a:pPr marL="342900" indent="-342900">
              <a:spcAft>
                <a:spcPts val="800"/>
              </a:spcAft>
              <a:buSzPct val="100000"/>
              <a:buChar char="•"/>
            </a:pPr>
            <a:r>
              <a:rPr lang="en-US" sz="1400" dirty="0">
                <a:solidFill>
                  <a:srgbClr val="FFFFFF"/>
                </a:solidFill>
              </a:rPr>
              <a:t>Gestiona al personal y sus roles.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Próximo paso: terminar la seguridad y subir la app a la nube. ¿Preguntas?</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Text 3"/>
          <p:cNvSpPr txBox="1"/>
          <p:nvPr/>
        </p:nvSpPr>
        <p:spPr>
          <a:xfrm>
            <a:off x="548640" y="4023360"/>
            <a:ext cx="4480560" cy="365760"/>
          </a:xfrm>
          <a:prstGeom prst="rect">
            <a:avLst/>
          </a:prstGeom>
          <a:noFill/>
          <a:ln/>
        </p:spPr>
        <p:txBody>
          <a:bodyPr wrap="square" lIns="0" tIns="0" rIns="0" bIns="0" rtlCol="0" anchor="t"/>
          <a:lstStyle/>
          <a:p>
            <a:pPr indent="0" marL="0">
              <a:buNone/>
            </a:pPr>
            <a:r>
              <a:rPr lang="en-US" sz="1400" dirty="0">
                <a:solidFill>
                  <a:srgbClr val="FFFFFF"/>
                </a:solidFill>
              </a:rPr>
              <a:t>github.com/44ndy/clancys-rewards</a:t>
            </a:r>
            <a:endParaRPr lang="en-US" sz="1400" dirty="0"/>
          </a:p>
        </p:txBody>
      </p:sp>
    </p:spTree>
  </p:cSld>
  <p:clrMapOvr>
    <a:masterClrMapping/>
  </p:clrMapOvr>
</p:sld>
</file>

<file path=ppt/theme/theme1.xml><?xml version="1.0" encoding="utf-8"?>
<a:theme xmlns:a="http://schemas.openxmlformats.org/drawingml/2006/main" name="Clancys Rewards BYW">
  <a:themeElements>
    <a:clrScheme name="Clancys Rewards BYW">
      <a:dk1>
        <a:srgbClr val="111111"/>
      </a:dk1>
      <a:lt1>
        <a:srgbClr val="FFFFFF"/>
      </a:lt1>
      <a:dk2>
        <a:srgbClr val="111111"/>
      </a:dk2>
      <a:lt2>
        <a:srgbClr val="F2F2F2"/>
      </a:lt2>
      <a:accent1>
        <a:srgbClr val="F5C400"/>
      </a:accent1>
      <a:accent2>
        <a:srgbClr val="F5C400"/>
      </a:accent2>
      <a:accent3>
        <a:srgbClr val="111111"/>
      </a:accent3>
      <a:accent4>
        <a:srgbClr val="7A5C00"/>
      </a:accent4>
      <a:accent5>
        <a:srgbClr val="6B6B6B"/>
      </a:accent5>
      <a:accent6>
        <a:srgbClr val="FFF4BF"/>
      </a:accent6>
      <a:hlink>
        <a:srgbClr val="111111"/>
      </a:hlink>
      <a:folHlink>
        <a:srgbClr val="6B6B6B"/>
      </a:folHlink>
    </a:clrScheme>
    <a:fontScheme name="Clancys Rewards BY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Clancy's Rewards – Evaluación 2</dc:title>
  <dc:subject>PptxGenJS Presentation</dc:subject>
  <dc:creator>Andy Aravena Auquilen</dc:creator>
  <cp:lastModifiedBy>Andy Aravena Auquilen</cp:lastModifiedBy>
  <cp:revision>1</cp:revision>
  <dcterms:created xsi:type="dcterms:W3CDTF">2026-10-30T22:27:15Z</dcterms:created>
  <dcterms:modified xsi:type="dcterms:W3CDTF">2026-10-30T22:27:15Z</dcterms:modified>
</cp:coreProperties>
</file>