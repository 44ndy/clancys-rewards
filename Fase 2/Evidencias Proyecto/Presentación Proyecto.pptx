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valuación 2" id="{cf64befa-db7b-e296-721f-bf348c897c81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Hola, soy Andy Aravena. Les voy a mostrar mi proyecto de Capstone, Clancy's Rewards. Es una app de fidelización de clientes para Clancy's, un pub y restaurante en Cork, Irlanda, donde trabajo.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Parto por el contexto. Clancy's no tiene ninguna forma digital de premiar a los clientes que vuelven. Lo típico en el rubro es la tarjeta de sellos de papel, y tiene tres problemas: el cliente la pierde, un sello se puede copiar, y el local no se queda con ningún dato. No sabe quién vuelve ni qué premio le funciona.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 solución es una sola app con tres roles. El cliente muestra un código QR en su teléfono, el mesero lo escanea y la visita se suma al instante. El administrador maneja el menú, los premios y las promociones. El código dura tres minutos y sirve una sola vez, así nadie puede sacarle una foto y usarlo de nuevo. Cuando el cliente llega a la meta, canjea su premio de la misma forma.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Estos son los requisitos principales. A la izquierda están los funcionales: registro con correo o con Google, la tarjeta de socio con el avance, el QR de un solo uso, el escaneo del personal, y la gestión del menú, los premios, las promociones y el personal. Todos ya funcionan en el prototipo. A la derecha están los no funcionales. La seguridad básica ya está: las contraseñas van cifradas, la sesión usa un token y el servidor revisa los permisos de cada rol. Lo que falta, como limitar los intentos de login, subir el servidor a la nube y cumplir la ley de datos europea, ya tiene su sprint asignado, como ven en cada etiqueta.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Trabajo con Scrum, en sprints de dos semanas. Lo elegí porque cada dos semanas tengo algo funcionando para mostrar, recibo feedback del profesor y del local, y si algo cambia, ajusto el sprint siguiente. El orden sigue una regla simple: primero lo que impide publicar. Por eso parto por la seguridad. Después viene la nube, porque Google Play pide catorce días de prueba cerrada y tiene que empezar a tiempo. Después la privacidad y las pruebas, que son requisito antes de abrir la app al público. Y al final, la prueba con el personal y la publicación. Hoy el Sprint 0 está completado y estoy en el Sprint 1. Todo esto está en GitHub: cada sprint es un milestone y cada tarea es un issue.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arquitectura es cliente-servidor en tres capas. La app está hecha en React Native con Expo, y es la misma app para los tres roles. La app se comunica con una API en Python con FastAPI, que es donde están las reglas: quién puede escanear, si el QR venció o ya se usó, y cuántas visitas lleva cada cliente. Los datos se guardan en MongoDB. Por fuera se conecta con Google para el inicio de sesión y con un servicio de notificaciones para avisar de promociones. Hoy todo corre en mi computador, y en el Sprint 2 pasa a la nube, con los datos guardados en Europa.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Sobre el modelo de negocio. Para el local, la propuesta de valor es cambiar la tarjeta de papel por algo que no se pierde ni se falsifica, y que le muestra quién vuelve. Para el cliente, es recibir premios por volver sin andar con una tarjeta. Quien paga es el local, y quienes la usan son los clientes, los meseros y la administración. Para que sea sostenible, la voy a ofrecer al local con un pago inicial de dos mil quinientos euros para terminarla y publicarla, más una mantención de setenta y cinco a noventa euros por semana. Operarla cuesta poco, porque el servidor y la base de datos parten en planes gratuitos. Y más adelante, el mismo sistema se puede ofrecer a otros bares.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Ahora les muestro la app funcionando. A la izquierda tengo la cuenta de un cliente y a la derecha la del administrador, que también puede escanear como un mesero. [Mostrar la tarjeta] Esta es la tarjeta del cliente, con las visitas que lleva. [Abrir el QR] Abro mi código y ven que corre el tiempo de tres minutos. [Copiar el código y pegarlo en la ventana derecha] Ahora lo leo como mesero. En el teléfono se hace con la cámara; aquí en el computador lo hago con el código que sale debajo del QR. [Confirmar] Y la visita se suma: la pantalla del cliente cambia sola. [Abrir el panel del administrador] En el panel, el administrador ve las visitas de hoy y de la semana, y puede editar el menú y los premios. La app está en inglés porque es para un local en Irlanda.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Eso es Clancy's Rewards. El próximo paso es terminar la seguridad y subir la app a la nube. Muchas gracias, quedo atento a sus preguntas.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448056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4206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Clancy's Rewards · Capstone · Evaluación 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jpg"/><Relationship Id="rId3" Type="http://schemas.openxmlformats.org/officeDocument/2006/relationships/image" Target="../media/image-1-3.jpg"/><Relationship Id="rId4" Type="http://schemas.openxmlformats.org/officeDocument/2006/relationships/image" Target="../media/image-1-4.jp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image" Target="../media/image-3-3.jp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image" Target="../media/image-8-3.jpg"/><Relationship Id="rId4" Type="http://schemas.openxmlformats.org/officeDocument/2006/relationships/image" Target="../media/image-8-4.jpg"/><Relationship Id="rId5" Type="http://schemas.openxmlformats.org/officeDocument/2006/relationships/image" Target="../media/image-8-5.jp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4480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Clancy's Rewards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2"/>
                </a:solidFill>
              </a:rPr>
              <a:t>App móvil de fidelización de clientes para Clancy's Cork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502920"/>
            <a:ext cx="731520" cy="73152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685800"/>
            <a:ext cx="365760" cy="3657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212080" y="822960"/>
            <a:ext cx="1612497" cy="3383280"/>
          </a:xfrm>
          <a:prstGeom prst="roundRect">
            <a:avLst>
              <a:gd name="adj" fmla="val 6805"/>
            </a:avLst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7" name="Image 1" descr="/mnt/user-data/uploads/Capturas_Presentacion/01 - Bienvenida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868680"/>
            <a:ext cx="1521057" cy="329184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315200" y="822960"/>
            <a:ext cx="1612497" cy="3383280"/>
          </a:xfrm>
          <a:prstGeom prst="roundRect">
            <a:avLst>
              <a:gd name="adj" fmla="val 6805"/>
            </a:avLst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9" name="Image 2" descr="/mnt/user-data/uploads/Capturas_Presentacion/03 - Pase QR del client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0920" y="868680"/>
            <a:ext cx="1521057" cy="329184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6217920" y="502920"/>
            <a:ext cx="1908258" cy="4023360"/>
          </a:xfrm>
          <a:prstGeom prst="roundRect">
            <a:avLst>
              <a:gd name="adj" fmla="val 5750"/>
            </a:avLst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11" name="Image 3" descr="/mnt/user-data/uploads/Capturas_Presentacion/02 - Tarjeta de socio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548640"/>
            <a:ext cx="1816818" cy="393192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548640" y="402336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Andy Aravena Auquilen · Ingeniería en Informática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Duoc UC San Bernardo · Capstone, Evaluación 2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Contexto y problemática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Clancy's no tiene una herramienta digital para premiar a sus clientes frecuentes. La alternativa típica, la tarjeta de sellos de papel:</a:t>
            </a:r>
            <a:endParaRPr lang="en-US" sz="1500" dirty="0"/>
          </a:p>
        </p:txBody>
      </p:sp>
      <p:sp>
        <p:nvSpPr>
          <p:cNvPr id="4" name="prob0"/>
          <p:cNvSpPr/>
          <p:nvPr/>
        </p:nvSpPr>
        <p:spPr>
          <a:xfrm>
            <a:off x="457200" y="1783080"/>
            <a:ext cx="260604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965960"/>
            <a:ext cx="502920" cy="502920"/>
          </a:xfrm>
          <a:prstGeom prst="ellipse">
            <a:avLst/>
          </a:prstGeom>
          <a:solidFill>
            <a:srgbClr val="8C2F39"/>
          </a:solidFill>
          <a:ln w="12700">
            <a:solidFill>
              <a:srgbClr val="8C2F39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530" y="2091690"/>
            <a:ext cx="251460" cy="2514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85800" y="26060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pierde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97180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El cliente la olvida y pierde su avance.</a:t>
            </a:r>
            <a:endParaRPr lang="en-US" sz="1400" dirty="0"/>
          </a:p>
        </p:txBody>
      </p:sp>
      <p:sp>
        <p:nvSpPr>
          <p:cNvPr id="9" name="prob1"/>
          <p:cNvSpPr/>
          <p:nvPr/>
        </p:nvSpPr>
        <p:spPr>
          <a:xfrm>
            <a:off x="3246120" y="1783080"/>
            <a:ext cx="260604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474720" y="1965960"/>
            <a:ext cx="502920" cy="502920"/>
          </a:xfrm>
          <a:prstGeom prst="ellipse">
            <a:avLst/>
          </a:prstGeom>
          <a:solidFill>
            <a:srgbClr val="8C2F39"/>
          </a:solidFill>
          <a:ln w="12700">
            <a:solidFill>
              <a:srgbClr val="8C2F39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0450" y="2091690"/>
            <a:ext cx="251460" cy="25146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474720" y="26060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falsifica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3474720" y="297180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Un sello se copia y nadie controla quién lo puso.</a:t>
            </a:r>
            <a:endParaRPr lang="en-US" sz="1400" dirty="0"/>
          </a:p>
        </p:txBody>
      </p:sp>
      <p:sp>
        <p:nvSpPr>
          <p:cNvPr id="14" name="prob2"/>
          <p:cNvSpPr/>
          <p:nvPr/>
        </p:nvSpPr>
        <p:spPr>
          <a:xfrm>
            <a:off x="6035040" y="1783080"/>
            <a:ext cx="260604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263640" y="1965960"/>
            <a:ext cx="502920" cy="502920"/>
          </a:xfrm>
          <a:prstGeom prst="ellipse">
            <a:avLst/>
          </a:prstGeom>
          <a:solidFill>
            <a:srgbClr val="8C2F39"/>
          </a:solidFill>
          <a:ln w="12700">
            <a:solidFill>
              <a:srgbClr val="8C2F39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9370" y="2091690"/>
            <a:ext cx="251460" cy="25146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263640" y="26060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deja datos</a:t>
            </a:r>
            <a:endParaRPr lang="en-US" sz="1800" dirty="0"/>
          </a:p>
        </p:txBody>
      </p:sp>
      <p:sp>
        <p:nvSpPr>
          <p:cNvPr id="18" name="Text 13"/>
          <p:cNvSpPr txBox="1"/>
          <p:nvPr/>
        </p:nvSpPr>
        <p:spPr>
          <a:xfrm>
            <a:off x="6263640" y="297180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El local no sabe quién vuelve ni qué premio funciona.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457200" y="3931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Afecta a dos grupos: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los clientes frecuentes, que no reciben nada por volver, y la administración, que decide sus promociones sin datos.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Solución: una app con tres roles</a:t>
            </a:r>
            <a:endParaRPr lang="en-US" sz="2800" dirty="0"/>
          </a:p>
        </p:txBody>
      </p:sp>
      <p:sp>
        <p:nvSpPr>
          <p:cNvPr id="3" name="rol0"/>
          <p:cNvSpPr/>
          <p:nvPr/>
        </p:nvSpPr>
        <p:spPr>
          <a:xfrm>
            <a:off x="457200" y="1051560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1143000"/>
            <a:ext cx="894220" cy="1828800"/>
          </a:xfrm>
          <a:prstGeom prst="roundRect">
            <a:avLst>
              <a:gd name="adj" fmla="val 12271"/>
            </a:avLst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5" name="Image 0" descr="/mnt/user-data/uploads/Capturas_Presentacion/03 - Pase QR del client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88720"/>
            <a:ext cx="802780" cy="17373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54480" y="12344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Cliente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1645920"/>
            <a:ext cx="1417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Muestra su QR para sumar visitas y canjear premios.</a:t>
            </a:r>
            <a:endParaRPr lang="en-US" sz="1300" dirty="0"/>
          </a:p>
        </p:txBody>
      </p:sp>
      <p:sp>
        <p:nvSpPr>
          <p:cNvPr id="8" name="rol1"/>
          <p:cNvSpPr/>
          <p:nvPr/>
        </p:nvSpPr>
        <p:spPr>
          <a:xfrm>
            <a:off x="3246120" y="1051560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383280" y="1143000"/>
            <a:ext cx="894220" cy="1828800"/>
          </a:xfrm>
          <a:prstGeom prst="roundRect">
            <a:avLst>
              <a:gd name="adj" fmla="val 12271"/>
            </a:avLst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10" name="Image 1" descr="/mnt/user-data/uploads/Capturas_Presentacion/04 - Escaner del mesero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0" y="1188720"/>
            <a:ext cx="802780" cy="17373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343400" y="12344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Personal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343400" y="1645920"/>
            <a:ext cx="1417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Escanea el QR con la cámara del teléfono.</a:t>
            </a:r>
            <a:endParaRPr lang="en-US" sz="1300" dirty="0"/>
          </a:p>
        </p:txBody>
      </p:sp>
      <p:sp>
        <p:nvSpPr>
          <p:cNvPr id="13" name="rol2"/>
          <p:cNvSpPr/>
          <p:nvPr/>
        </p:nvSpPr>
        <p:spPr>
          <a:xfrm>
            <a:off x="6035040" y="1051560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172200" y="1143000"/>
            <a:ext cx="894220" cy="1828800"/>
          </a:xfrm>
          <a:prstGeom prst="roundRect">
            <a:avLst>
              <a:gd name="adj" fmla="val 12271"/>
            </a:avLst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15" name="Image 2" descr="/mnt/user-data/uploads/Capturas_Presentacion/10 - Panel del dueno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188720"/>
            <a:ext cx="802780" cy="17373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132320" y="12344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Administrador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7132320" y="1645920"/>
            <a:ext cx="1417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Gestiona menú, premios y promociones, y ve indicadores.</a:t>
            </a:r>
            <a:endParaRPr lang="en-US" sz="1300" dirty="0"/>
          </a:p>
        </p:txBody>
      </p:sp>
      <p:sp>
        <p:nvSpPr>
          <p:cNvPr id="18" name="flujo"/>
          <p:cNvSpPr/>
          <p:nvPr/>
        </p:nvSpPr>
        <p:spPr>
          <a:xfrm>
            <a:off x="457200" y="3246120"/>
            <a:ext cx="822960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685800" y="33649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Cómo se registra una visita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685800" y="376732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685800" y="3767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1</a:t>
            </a:r>
            <a:endParaRPr lang="en-US" sz="1400" dirty="0"/>
          </a:p>
        </p:txBody>
      </p:sp>
      <p:sp>
        <p:nvSpPr>
          <p:cNvPr id="22" name="Text 17"/>
          <p:cNvSpPr txBox="1"/>
          <p:nvPr/>
        </p:nvSpPr>
        <p:spPr>
          <a:xfrm>
            <a:off x="1143000" y="3703320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El cliente abre su QR: dura 3 minutos y sirve una vez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2697480" y="376732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2697480" y="3767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2</a:t>
            </a:r>
            <a:endParaRPr lang="en-US" sz="1400" dirty="0"/>
          </a:p>
        </p:txBody>
      </p:sp>
      <p:sp>
        <p:nvSpPr>
          <p:cNvPr id="25" name="Text 20"/>
          <p:cNvSpPr txBox="1"/>
          <p:nvPr/>
        </p:nvSpPr>
        <p:spPr>
          <a:xfrm>
            <a:off x="3154680" y="3703320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El mesero lo escanea</a:t>
            </a:r>
            <a:endParaRPr lang="en-US" sz="1200" dirty="0"/>
          </a:p>
        </p:txBody>
      </p:sp>
      <p:sp>
        <p:nvSpPr>
          <p:cNvPr id="26" name="Shape 21"/>
          <p:cNvSpPr/>
          <p:nvPr/>
        </p:nvSpPr>
        <p:spPr>
          <a:xfrm>
            <a:off x="4709160" y="376732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4709160" y="3767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3</a:t>
            </a:r>
            <a:endParaRPr lang="en-US" sz="1400" dirty="0"/>
          </a:p>
        </p:txBody>
      </p:sp>
      <p:sp>
        <p:nvSpPr>
          <p:cNvPr id="28" name="Text 23"/>
          <p:cNvSpPr txBox="1"/>
          <p:nvPr/>
        </p:nvSpPr>
        <p:spPr>
          <a:xfrm>
            <a:off x="5166360" y="3703320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El servidor lo valida y suma la visita</a:t>
            </a:r>
            <a:endParaRPr lang="en-US" sz="1200" dirty="0"/>
          </a:p>
        </p:txBody>
      </p:sp>
      <p:sp>
        <p:nvSpPr>
          <p:cNvPr id="29" name="Shape 24"/>
          <p:cNvSpPr/>
          <p:nvPr/>
        </p:nvSpPr>
        <p:spPr>
          <a:xfrm>
            <a:off x="6720840" y="376732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6720840" y="3767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4</a:t>
            </a:r>
            <a:endParaRPr lang="en-US" sz="1400" dirty="0"/>
          </a:p>
        </p:txBody>
      </p:sp>
      <p:sp>
        <p:nvSpPr>
          <p:cNvPr id="31" name="Text 26"/>
          <p:cNvSpPr txBox="1"/>
          <p:nvPr/>
        </p:nvSpPr>
        <p:spPr>
          <a:xfrm>
            <a:off x="7178040" y="3703320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Al llegar a la meta, canjea su premio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Requisitos del sistema</a:t>
            </a:r>
            <a:endParaRPr lang="en-US" sz="2800" dirty="0"/>
          </a:p>
        </p:txBody>
      </p:sp>
      <p:sp>
        <p:nvSpPr>
          <p:cNvPr id="3" name="Funcionales"/>
          <p:cNvSpPr/>
          <p:nvPr/>
        </p:nvSpPr>
        <p:spPr>
          <a:xfrm>
            <a:off x="457200" y="1051560"/>
            <a:ext cx="4023360" cy="352044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17043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Funcionales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27632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RF1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62763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Registro e inicio de sesión con correo o Google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547872" y="1714500"/>
            <a:ext cx="777240" cy="237744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47872" y="171450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Listo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112264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RF2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170432" y="2112264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Tarjeta de socio con el avance hacia el premio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547872" y="2199132"/>
            <a:ext cx="777240" cy="237744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547872" y="2199132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Listo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2596896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RF3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170432" y="2596896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QR personal de 3 minutos y un solo uso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547872" y="2683764"/>
            <a:ext cx="777240" cy="237744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547872" y="2683764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Listo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3081528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RF4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170432" y="308152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Escaneo del personal para sumar visitas y canjear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547872" y="3168396"/>
            <a:ext cx="777240" cy="237744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547872" y="3168396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Listo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685800" y="35661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RF5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170432" y="35661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Menú, premios y promociones editables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547872" y="3653028"/>
            <a:ext cx="777240" cy="237744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547872" y="3653028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Listo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685800" y="4050792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RF6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170432" y="405079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Panel de indicadores y gestión del personal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547872" y="4137660"/>
            <a:ext cx="777240" cy="237744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547872" y="413766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Listo</a:t>
            </a:r>
            <a:endParaRPr lang="en-US" sz="1000" dirty="0"/>
          </a:p>
        </p:txBody>
      </p:sp>
      <p:sp>
        <p:nvSpPr>
          <p:cNvPr id="29" name="No funcionales"/>
          <p:cNvSpPr/>
          <p:nvPr/>
        </p:nvSpPr>
        <p:spPr>
          <a:xfrm>
            <a:off x="4663440" y="1051560"/>
            <a:ext cx="4023360" cy="352044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892040" y="117043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funcionales</a:t>
            </a:r>
            <a:endParaRPr lang="en-US" sz="1700" dirty="0"/>
          </a:p>
        </p:txBody>
      </p:sp>
      <p:sp>
        <p:nvSpPr>
          <p:cNvPr id="31" name="Text 29"/>
          <p:cNvSpPr txBox="1"/>
          <p:nvPr/>
        </p:nvSpPr>
        <p:spPr>
          <a:xfrm>
            <a:off x="4892040" y="1627632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RNF1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5376672" y="162763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Seguridad: contraseñas cifradas, sesión con token y permisos por rol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7754112" y="1714500"/>
            <a:ext cx="777240" cy="237744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754112" y="171450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Listo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4892040" y="2112264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RNF2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5376672" y="2112264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Seguridad: límite de intentos en el login y en el escaneo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7754112" y="2199132"/>
            <a:ext cx="777240" cy="237744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754112" y="2199132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A2F"/>
                </a:solidFill>
              </a:rPr>
              <a:t>Sprint 1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4892040" y="2596896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RNF3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5376672" y="2596896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Usabilidad: botones grandes y mensajes de error claros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7754112" y="2683764"/>
            <a:ext cx="777240" cy="237744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7754112" y="2683764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A2F"/>
                </a:solidFill>
              </a:rPr>
              <a:t>Sprint 1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4892040" y="3081528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RNF4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5376672" y="308152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Disponibilidad: servidor en la nube con HTTPS, en Europa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7754112" y="3168396"/>
            <a:ext cx="777240" cy="237744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754112" y="3168396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A2F"/>
                </a:solidFill>
              </a:rPr>
              <a:t>Sprint 2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4892040" y="35661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RNF5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5376672" y="35661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Privacidad (RGPD): consentimiento, exportar y borrar la cuenta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7754112" y="3653028"/>
            <a:ext cx="777240" cy="237744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7754112" y="3653028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A2F"/>
                </a:solidFill>
              </a:rPr>
              <a:t>Sprint 3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4892040" y="4050792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RNF6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5376672" y="405079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Calidad: pruebas automáticas y prueba con el personal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7754112" y="4137660"/>
            <a:ext cx="777240" cy="237744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7754112" y="413766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A2F"/>
                </a:solidFill>
              </a:rPr>
              <a:t>Sprint 3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Metodología: Scrum en sprints de 2 semanas</a:t>
            </a:r>
            <a:endParaRPr lang="en-US" sz="2800" dirty="0"/>
          </a:p>
        </p:txBody>
      </p:sp>
      <p:sp>
        <p:nvSpPr>
          <p:cNvPr id="3" name="porque"/>
          <p:cNvSpPr/>
          <p:nvPr/>
        </p:nvSpPr>
        <p:spPr>
          <a:xfrm>
            <a:off x="457200" y="1051560"/>
            <a:ext cx="2743200" cy="3520440"/>
          </a:xfrm>
          <a:prstGeom prst="roundRect">
            <a:avLst>
              <a:gd name="adj" fmla="val 2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118872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qué Scrum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164592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Cada dos semanas hay algo funcionando para mostrar.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En cada revisión recibo feedback del profesor y del local.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Si algo cambia, ajusto el sprint siguiente sin rehacer el plan.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37947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2"/>
                </a:solidFill>
              </a:rPr>
              <a:t>Ciclo de cada sprint: planificación, desarrollo, demo y retrospectiva.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3474720" y="105156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Orden del backlog: primero lo que impide publicar</a:t>
            </a:r>
            <a:endParaRPr lang="en-US" sz="1500" dirty="0"/>
          </a:p>
        </p:txBody>
      </p:sp>
      <p:sp>
        <p:nvSpPr>
          <p:cNvPr id="8" name="ord0"/>
          <p:cNvSpPr/>
          <p:nvPr/>
        </p:nvSpPr>
        <p:spPr>
          <a:xfrm>
            <a:off x="3474720" y="1463040"/>
            <a:ext cx="521208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39312" y="146304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Sprint 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434840" y="1463040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Seguridad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806440" y="14630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Con vulnerabilidades abiertas la app no se puede publicar.</a:t>
            </a:r>
            <a:endParaRPr lang="en-US" sz="1100" dirty="0"/>
          </a:p>
        </p:txBody>
      </p:sp>
      <p:sp>
        <p:nvSpPr>
          <p:cNvPr id="12" name="ord1"/>
          <p:cNvSpPr/>
          <p:nvPr/>
        </p:nvSpPr>
        <p:spPr>
          <a:xfrm>
            <a:off x="3474720" y="2103120"/>
            <a:ext cx="521208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639312" y="210312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Sprint 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434840" y="2103120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Nube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806440" y="21031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Google Play pide 14 días de prueba cerrada antes de publicar, así que debe partir a tiempo.</a:t>
            </a:r>
            <a:endParaRPr lang="en-US" sz="1100" dirty="0"/>
          </a:p>
        </p:txBody>
      </p:sp>
      <p:sp>
        <p:nvSpPr>
          <p:cNvPr id="16" name="ord2"/>
          <p:cNvSpPr/>
          <p:nvPr/>
        </p:nvSpPr>
        <p:spPr>
          <a:xfrm>
            <a:off x="3474720" y="2743200"/>
            <a:ext cx="521208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639312" y="27432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Sprint 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434840" y="2743200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Privacidad y pruebas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806440" y="27432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La ley europea de datos y las pruebas son requisito antes de abrirla al público.</a:t>
            </a:r>
            <a:endParaRPr lang="en-US" sz="1100" dirty="0"/>
          </a:p>
        </p:txBody>
      </p:sp>
      <p:sp>
        <p:nvSpPr>
          <p:cNvPr id="20" name="ord3"/>
          <p:cNvSpPr/>
          <p:nvPr/>
        </p:nvSpPr>
        <p:spPr>
          <a:xfrm>
            <a:off x="3474720" y="3383280"/>
            <a:ext cx="5212080" cy="548640"/>
          </a:xfrm>
          <a:prstGeom prst="roundRect">
            <a:avLst>
              <a:gd name="adj" fmla="val 13333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639312" y="338328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Cierre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434840" y="3383280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Producción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806440" y="33832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Prueba con el personal del local y publicación en Google Play.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3474720" y="406908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Avance: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Sprint 0 completado y Sprint 1 en curso. Backlog en GitHub: un milestone por sprint y un issue por tarea.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Arquitectura: cliente-servidor en tres capas</a:t>
            </a:r>
            <a:endParaRPr lang="en-US" sz="2800" dirty="0"/>
          </a:p>
        </p:txBody>
      </p:sp>
      <p:sp>
        <p:nvSpPr>
          <p:cNvPr id="3" name="capa0"/>
          <p:cNvSpPr/>
          <p:nvPr/>
        </p:nvSpPr>
        <p:spPr>
          <a:xfrm>
            <a:off x="457200" y="1051560"/>
            <a:ext cx="251460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188720"/>
            <a:ext cx="457200" cy="457200"/>
          </a:xfrm>
          <a:prstGeom prst="ellipse">
            <a:avLst/>
          </a:prstGeom>
          <a:solidFill>
            <a:srgbClr val="1E3A2F"/>
          </a:solidFill>
          <a:ln w="12700">
            <a:solidFill>
              <a:srgbClr val="1E3A2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1303020"/>
            <a:ext cx="228600" cy="2286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07008" y="117043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 móvil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207008" y="144475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React Native + Expo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1828800"/>
            <a:ext cx="2148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Pantallas de cliente, personal y administrador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Cámara para leer el QR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Habla con la API por HTTPS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2999232" y="2057400"/>
            <a:ext cx="265176" cy="256032"/>
          </a:xfrm>
          <a:prstGeom prst="rightArrow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0" name="capa1"/>
          <p:cNvSpPr/>
          <p:nvPr/>
        </p:nvSpPr>
        <p:spPr>
          <a:xfrm>
            <a:off x="3291840" y="1051560"/>
            <a:ext cx="2514600" cy="2240280"/>
          </a:xfrm>
          <a:prstGeom prst="roundRect">
            <a:avLst>
              <a:gd name="adj" fmla="val 3265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474720" y="1188720"/>
            <a:ext cx="457200" cy="45720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9020" y="1303020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041648" y="117043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API REST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4041648" y="144475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Python + FastAPI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3474720" y="1828800"/>
            <a:ext cx="2148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Login y permisos por rol (JWT)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Valida el QR: vigente y sin usar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Visitas, canjes y panel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5833872" y="2057400"/>
            <a:ext cx="265176" cy="256032"/>
          </a:xfrm>
          <a:prstGeom prst="rightArrow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7" name="capa2"/>
          <p:cNvSpPr/>
          <p:nvPr/>
        </p:nvSpPr>
        <p:spPr>
          <a:xfrm>
            <a:off x="6126480" y="1051560"/>
            <a:ext cx="251460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309360" y="1188720"/>
            <a:ext cx="457200" cy="457200"/>
          </a:xfrm>
          <a:prstGeom prst="ellipse">
            <a:avLst/>
          </a:prstGeom>
          <a:solidFill>
            <a:srgbClr val="1E3A2F"/>
          </a:solidFill>
          <a:ln w="12700">
            <a:solidFill>
              <a:srgbClr val="1E3A2F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3660" y="1303020"/>
            <a:ext cx="228600" cy="22860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876288" y="117043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 de datos</a:t>
            </a:r>
            <a:endParaRPr lang="en-US" sz="1600" dirty="0"/>
          </a:p>
        </p:txBody>
      </p:sp>
      <p:sp>
        <p:nvSpPr>
          <p:cNvPr id="21" name="Text 16"/>
          <p:cNvSpPr txBox="1"/>
          <p:nvPr/>
        </p:nvSpPr>
        <p:spPr>
          <a:xfrm>
            <a:off x="6876288" y="144475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MongoDB</a:t>
            </a:r>
            <a:endParaRPr lang="en-US" sz="1200" dirty="0"/>
          </a:p>
        </p:txBody>
      </p:sp>
      <p:sp>
        <p:nvSpPr>
          <p:cNvPr id="22" name="Text 17"/>
          <p:cNvSpPr txBox="1"/>
          <p:nvPr/>
        </p:nvSpPr>
        <p:spPr>
          <a:xfrm>
            <a:off x="6309360" y="1828800"/>
            <a:ext cx="2148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12 colecciones: usuarios, visitas, QR, canjes, menú, premios y más</a:t>
            </a:r>
            <a:endParaRPr lang="en-US" sz="1200" dirty="0"/>
          </a:p>
        </p:txBody>
      </p:sp>
      <p:sp>
        <p:nvSpPr>
          <p:cNvPr id="23" name="Text 18"/>
          <p:cNvSpPr txBox="1"/>
          <p:nvPr/>
        </p:nvSpPr>
        <p:spPr>
          <a:xfrm>
            <a:off x="457200" y="34747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Servicios externos</a:t>
            </a:r>
            <a:endParaRPr lang="en-US" sz="1300" dirty="0"/>
          </a:p>
        </p:txBody>
      </p:sp>
      <p:sp>
        <p:nvSpPr>
          <p:cNvPr id="24" name="Shape 19"/>
          <p:cNvSpPr/>
          <p:nvPr/>
        </p:nvSpPr>
        <p:spPr>
          <a:xfrm>
            <a:off x="457200" y="3840480"/>
            <a:ext cx="411480" cy="411480"/>
          </a:xfrm>
          <a:prstGeom prst="ellipse">
            <a:avLst/>
          </a:prstGeom>
          <a:solidFill>
            <a:srgbClr val="DCE8E0"/>
          </a:solidFill>
          <a:ln w="12700">
            <a:solidFill>
              <a:srgbClr val="DCE8E0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0070" y="3943350"/>
            <a:ext cx="205740" cy="205740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987552" y="3813048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Google Sign-In</a:t>
            </a:r>
            <a:endParaRPr lang="en-US" sz="1300" dirty="0"/>
          </a:p>
        </p:txBody>
      </p:sp>
      <p:sp>
        <p:nvSpPr>
          <p:cNvPr id="27" name="Text 21"/>
          <p:cNvSpPr txBox="1"/>
          <p:nvPr/>
        </p:nvSpPr>
        <p:spPr>
          <a:xfrm>
            <a:off x="987552" y="4059936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verifica el login con Google</a:t>
            </a:r>
            <a:endParaRPr lang="en-US" sz="1200" dirty="0"/>
          </a:p>
        </p:txBody>
      </p:sp>
      <p:sp>
        <p:nvSpPr>
          <p:cNvPr id="28" name="Shape 22"/>
          <p:cNvSpPr/>
          <p:nvPr/>
        </p:nvSpPr>
        <p:spPr>
          <a:xfrm>
            <a:off x="3291840" y="3840480"/>
            <a:ext cx="411480" cy="411480"/>
          </a:xfrm>
          <a:prstGeom prst="ellipse">
            <a:avLst/>
          </a:prstGeom>
          <a:solidFill>
            <a:srgbClr val="DCE8E0"/>
          </a:solidFill>
          <a:ln w="12700">
            <a:solidFill>
              <a:srgbClr val="DCE8E0"/>
            </a:solidFill>
            <a:prstDash val="solid"/>
          </a:ln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94710" y="3943350"/>
            <a:ext cx="205740" cy="205740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3822192" y="3813048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Notificaciones push</a:t>
            </a:r>
            <a:endParaRPr lang="en-US" sz="1300" dirty="0"/>
          </a:p>
        </p:txBody>
      </p:sp>
      <p:sp>
        <p:nvSpPr>
          <p:cNvPr id="31" name="Text 24"/>
          <p:cNvSpPr txBox="1"/>
          <p:nvPr/>
        </p:nvSpPr>
        <p:spPr>
          <a:xfrm>
            <a:off x="3822192" y="4059936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avisa de promociones y eventos</a:t>
            </a:r>
            <a:endParaRPr lang="en-US" sz="1200" dirty="0"/>
          </a:p>
        </p:txBody>
      </p:sp>
      <p:sp>
        <p:nvSpPr>
          <p:cNvPr id="32" name="Shape 25"/>
          <p:cNvSpPr/>
          <p:nvPr/>
        </p:nvSpPr>
        <p:spPr>
          <a:xfrm>
            <a:off x="6126480" y="3840480"/>
            <a:ext cx="411480" cy="411480"/>
          </a:xfrm>
          <a:prstGeom prst="ellipse">
            <a:avLst/>
          </a:prstGeom>
          <a:solidFill>
            <a:srgbClr val="DCE8E0"/>
          </a:solidFill>
          <a:ln w="12700">
            <a:solidFill>
              <a:srgbClr val="DCE8E0"/>
            </a:solidFill>
            <a:prstDash val="solid"/>
          </a:ln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29350" y="3943350"/>
            <a:ext cx="205740" cy="205740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656832" y="3813048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Nube (Sprint 2)</a:t>
            </a:r>
            <a:endParaRPr lang="en-US" sz="1300" dirty="0"/>
          </a:p>
        </p:txBody>
      </p:sp>
      <p:sp>
        <p:nvSpPr>
          <p:cNvPr id="35" name="Text 27"/>
          <p:cNvSpPr txBox="1"/>
          <p:nvPr/>
        </p:nvSpPr>
        <p:spPr>
          <a:xfrm>
            <a:off x="6656832" y="4059936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API y base de datos en Europa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Modelo de negocio: pago inicial y mantención</a:t>
            </a:r>
            <a:endParaRPr lang="en-US" sz="2800" dirty="0"/>
          </a:p>
        </p:txBody>
      </p:sp>
      <p:sp>
        <p:nvSpPr>
          <p:cNvPr id="3" name="neg0"/>
          <p:cNvSpPr/>
          <p:nvPr/>
        </p:nvSpPr>
        <p:spPr>
          <a:xfrm>
            <a:off x="457200" y="1051560"/>
            <a:ext cx="2606040" cy="352044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1207008"/>
            <a:ext cx="457200" cy="457200"/>
          </a:xfrm>
          <a:prstGeom prst="ellipse">
            <a:avLst/>
          </a:prstGeom>
          <a:solidFill>
            <a:srgbClr val="1E3A2F"/>
          </a:solidFill>
          <a:ln w="12700">
            <a:solidFill>
              <a:srgbClr val="1E3A2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" y="1321308"/>
            <a:ext cx="228600" cy="2286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34440" y="120700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Propuesta de valor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58368" y="1874520"/>
            <a:ext cx="224028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Para el local: 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reemplaza la tarjeta de papel y evita sellos falsos.</a:t>
            </a:r>
            <a:endParaRPr lang="en-US" sz="1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Para el local: 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muestra quién vuelve y qué premio funciona.</a:t>
            </a:r>
            <a:endParaRPr lang="en-US" sz="1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Para el cliente: 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premios por volver, sin tarjeta que perder.</a:t>
            </a:r>
            <a:endParaRPr lang="en-US" sz="1400" dirty="0"/>
          </a:p>
        </p:txBody>
      </p:sp>
      <p:sp>
        <p:nvSpPr>
          <p:cNvPr id="8" name="neg1"/>
          <p:cNvSpPr/>
          <p:nvPr/>
        </p:nvSpPr>
        <p:spPr>
          <a:xfrm>
            <a:off x="3246120" y="1051560"/>
            <a:ext cx="2606040" cy="352044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447288" y="1207008"/>
            <a:ext cx="457200" cy="457200"/>
          </a:xfrm>
          <a:prstGeom prst="ellipse">
            <a:avLst/>
          </a:prstGeom>
          <a:solidFill>
            <a:srgbClr val="1E3A2F"/>
          </a:solidFill>
          <a:ln w="12700">
            <a:solidFill>
              <a:srgbClr val="1E3A2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1588" y="1321308"/>
            <a:ext cx="228600" cy="2286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023360" y="120700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Clientes y usuarios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3447288" y="1874520"/>
            <a:ext cx="224028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Paga: 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Clancy's Cork.</a:t>
            </a:r>
            <a:endParaRPr lang="en-US" sz="1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La usan: 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clientes del local, meseros y administración.</a:t>
            </a:r>
            <a:endParaRPr lang="en-US" sz="1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Sus clientes: 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gente de Cork y turistas que visitan el pub.</a:t>
            </a:r>
            <a:endParaRPr lang="en-US" sz="1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A futuro: </a:t>
            </a:r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otros bares.</a:t>
            </a:r>
            <a:endParaRPr lang="en-US" sz="1400" dirty="0"/>
          </a:p>
        </p:txBody>
      </p:sp>
      <p:sp>
        <p:nvSpPr>
          <p:cNvPr id="13" name="sost"/>
          <p:cNvSpPr/>
          <p:nvPr/>
        </p:nvSpPr>
        <p:spPr>
          <a:xfrm>
            <a:off x="6035040" y="1051560"/>
            <a:ext cx="2651760" cy="3520440"/>
          </a:xfrm>
          <a:prstGeom prst="roundRect">
            <a:avLst>
              <a:gd name="adj" fmla="val 275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236208" y="11887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Sostenibilidad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6236208" y="15544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€2.500</a:t>
            </a:r>
            <a:endParaRPr lang="en-US" sz="3200" dirty="0"/>
          </a:p>
        </p:txBody>
      </p:sp>
      <p:sp>
        <p:nvSpPr>
          <p:cNvPr id="16" name="Text 12"/>
          <p:cNvSpPr txBox="1"/>
          <p:nvPr/>
        </p:nvSpPr>
        <p:spPr>
          <a:xfrm>
            <a:off x="6236208" y="21031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pago inicial para terminarla y publicarla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6236208" y="25146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€75–90</a:t>
            </a:r>
            <a:endParaRPr lang="en-US" sz="3200" dirty="0"/>
          </a:p>
        </p:txBody>
      </p:sp>
      <p:sp>
        <p:nvSpPr>
          <p:cNvPr id="18" name="Text 14"/>
          <p:cNvSpPr txBox="1"/>
          <p:nvPr/>
        </p:nvSpPr>
        <p:spPr>
          <a:xfrm>
            <a:off x="6236208" y="30632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por semana de mantención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6236208" y="352044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Operarla cuesta poco: servidor y base de datos parten en plan gratuito, y publicar cuesta 35 a 55 USD.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Solución desarrollada: demostración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11480" y="1051560"/>
            <a:ext cx="1358988" cy="2834640"/>
          </a:xfrm>
          <a:prstGeom prst="roundRect">
            <a:avLst>
              <a:gd name="adj" fmla="val 8074"/>
            </a:avLst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4" name="Image 0" descr="/mnt/user-data/uploads/Capturas_Presentacion/02 - Tarjeta de soci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1267548" cy="2743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82880" y="3977640"/>
            <a:ext cx="18161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1. Tarjeta del cliente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1834476" y="2340864"/>
            <a:ext cx="253510" cy="256032"/>
          </a:xfrm>
          <a:prstGeom prst="rightArrow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2151993" y="1051560"/>
            <a:ext cx="1358988" cy="2834640"/>
          </a:xfrm>
          <a:prstGeom prst="roundRect">
            <a:avLst>
              <a:gd name="adj" fmla="val 8074"/>
            </a:avLst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8" name="Image 1" descr="/mnt/user-data/uploads/Capturas_Presentacion/03 - Pase QR del client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7713" y="1097280"/>
            <a:ext cx="1267548" cy="27432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923393" y="3977640"/>
            <a:ext cx="18161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2. El cliente abre su QR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3574989" y="2340864"/>
            <a:ext cx="253510" cy="256032"/>
          </a:xfrm>
          <a:prstGeom prst="rightArrow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3892506" y="1051560"/>
            <a:ext cx="1358988" cy="2834640"/>
          </a:xfrm>
          <a:prstGeom prst="roundRect">
            <a:avLst>
              <a:gd name="adj" fmla="val 8074"/>
            </a:avLst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12" name="Image 2" descr="/mnt/user-data/uploads/Capturas_Presentacion/04 - Escaner del mesero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8226" y="1097280"/>
            <a:ext cx="1267548" cy="27432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663906" y="3977640"/>
            <a:ext cx="18161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3. El mesero lo escanea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5315502" y="2340864"/>
            <a:ext cx="253510" cy="256032"/>
          </a:xfrm>
          <a:prstGeom prst="rightArrow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5633019" y="1051560"/>
            <a:ext cx="1358988" cy="2834640"/>
          </a:xfrm>
          <a:prstGeom prst="roundRect">
            <a:avLst>
              <a:gd name="adj" fmla="val 8074"/>
            </a:avLst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16" name="Image 3" descr="/mnt/user-data/uploads/Capturas_Presentacion/05 - Resultado de visita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78739" y="1097280"/>
            <a:ext cx="1267548" cy="27432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5404419" y="3977640"/>
            <a:ext cx="18161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4. Visita sumada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7056015" y="2340864"/>
            <a:ext cx="253510" cy="256032"/>
          </a:xfrm>
          <a:prstGeom prst="rightArrow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7373532" y="1051560"/>
            <a:ext cx="1358988" cy="2834640"/>
          </a:xfrm>
          <a:prstGeom prst="roundRect">
            <a:avLst>
              <a:gd name="adj" fmla="val 8074"/>
            </a:avLst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pic>
        <p:nvPicPr>
          <p:cNvPr id="20" name="Image 4" descr="/mnt/user-data/uploads/Capturas_Presentacion/08 - Canje - entregar al cliente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19252" y="1097280"/>
            <a:ext cx="1267548" cy="274320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7144932" y="3977640"/>
            <a:ext cx="18161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5. Canje del premio</a:t>
            </a:r>
            <a:endParaRPr lang="en-US" sz="1200" dirty="0"/>
          </a:p>
        </p:txBody>
      </p:sp>
      <p:sp>
        <p:nvSpPr>
          <p:cNvPr id="22" name="Text 15"/>
          <p:cNvSpPr txBox="1"/>
          <p:nvPr/>
        </p:nvSpPr>
        <p:spPr>
          <a:xfrm>
            <a:off x="457200" y="4343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3"/>
                </a:solidFill>
              </a:rPr>
              <a:t>Demo en vivo: cuenta de cliente y cuenta del local, lado a lado.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4480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Gracias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2"/>
                </a:solidFill>
              </a:rPr>
              <a:t>Próximo paso: terminar la seguridad y subir la app a la nube. ¿Preguntas?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502920"/>
            <a:ext cx="731520" cy="731520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685800"/>
            <a:ext cx="365760" cy="3657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Clancys Rewards">
  <a:themeElements>
    <a:clrScheme name="Clancys Rewards">
      <a:dk1>
        <a:srgbClr val="1A1A1A"/>
      </a:dk1>
      <a:lt1>
        <a:srgbClr val="FFFFFF"/>
      </a:lt1>
      <a:dk2>
        <a:srgbClr val="1E3A2F"/>
      </a:dk2>
      <a:lt2>
        <a:srgbClr val="EEF3EF"/>
      </a:lt2>
      <a:accent1>
        <a:srgbClr val="1E3A2F"/>
      </a:accent1>
      <a:accent2>
        <a:srgbClr val="C9A227"/>
      </a:accent2>
      <a:accent3>
        <a:srgbClr val="2E7D5B"/>
      </a:accent3>
      <a:accent4>
        <a:srgbClr val="8C2F39"/>
      </a:accent4>
      <a:accent5>
        <a:srgbClr val="6B7B73"/>
      </a:accent5>
      <a:accent6>
        <a:srgbClr val="DCE8E0"/>
      </a:accent6>
      <a:hlink>
        <a:srgbClr val="2E7D5B"/>
      </a:hlink>
      <a:folHlink>
        <a:srgbClr val="6B7B73"/>
      </a:folHlink>
    </a:clrScheme>
    <a:fontScheme name="Clancys Rewards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Clancy's Rewards – Evaluación 2</dc:title>
  <dc:subject>PptxGenJS Presentation</dc:subject>
  <dc:creator>Andy Aravena Auquilen</dc:creator>
  <cp:lastModifiedBy>Andy Aravena Auquilen</cp:lastModifiedBy>
  <cp:revision>1</cp:revision>
  <dcterms:created xsi:type="dcterms:W3CDTF">2026-10-28T16:15:22Z</dcterms:created>
  <dcterms:modified xsi:type="dcterms:W3CDTF">2026-10-28T16:15:22Z</dcterms:modified>
</cp:coreProperties>
</file>