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Evaluación 2" id="{8a3d9c55-dc61-d26d-5c7f-b6dce6f0aab8}">
          <p14:sldIdLst>
            <p14:sldId id="256"/>
            <p14:sldId id="257"/>
            <p14:sldId id="258"/>
            <p14:sldId id="259"/>
            <p14:sldId id="260"/>
            <p14:sldId id="261"/>
            <p14:sldId id="262"/>
            <p14:sldId id="263"/>
            <p14:sldId id="264"/>
            <p14:sldId id="265"/>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Hola, soy Andy Aravena. Les voy a mostrar mi proyecto de Capstone, Clancy's Rewards. Es una app de fidelización de clientes para Clancy's, un pub y restaurante en Cork, Irlanda, donde trabajo.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Parto por el contexto. Clancy's es un pub y restaurante del centro de Cork y no tiene ninguna forma digital de premiar a los clientes que vuelven. Lo típico en el rubro es la tarjeta de sellos de papel, y tiene tres problemas: el cliente la pierde, un sello se puede copiar, y el local no se queda con ningún dato. No sabe quién vuelve ni qué premio le funciona.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 solución es una sola app con tres roles. El cliente muestra un código QR en su teléfono, el mesero lo escanea y la visita se suma al instante. El administrador maneja el menú, los premios y las promociones. El código dura tres minutos y sirve una sola vez, así nadie puede sacarle una foto y usarlo de nuevo. Cuando el cliente llega a la meta, canjea su premio de la misma forma.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Estos son los requisitos principales; la matriz completa, con veintiocho requisitos y sus criterios de aceptación, está en Excel en el repositorio. A la izquierda, los funcionales: registro, tarjeta de socio, QR de un solo uso, escaneo, canje en dos pasos y edición del menú y los premios. Todos ya funcionan. A la derecha, los no funcionales: la seguridad básica ya está, y ya terminé el límite de intentos y CORS. Lo que falta, como la nube, la ley de datos europea y la publicación en las dos tiendas, ya tiene su sprint.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Trabajo con Scrum, en sprints de dos semanas, porque cada dos semanas tengo algo funcionando para mostrar, recibo feedback y ajusto el sprint siguiente. La regla del orden es simple: primero lo que impide publicar. Por eso parto por la seguridad. Después viene la nube y el build para Android e iPhone, porque Google Play pide catorce días de prueba cerrada y Apple una cuenta verificada. Luego privacidad y pruebas, y al final la publicación. Hoy el Sprint 0 está completado y estoy en el Sprint 1. Todo está en GitHub: cada sprint es un milestone y cada tarea un issue.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arquitectura es cliente-servidor en tres capas. La app está hecha en React Native con Expo y es la misma para los tres roles. Se comunica con una API en Python con FastAPI, donde están las reglas: quién puede escanear, si el QR venció o ya se usó, y cuántas visitas lleva cada cliente. Los datos se guardan en MongoDB. Hoy corre en mi computador, y en el Sprint 2 pasa a la nube, con los datos en Europa.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profesora me hizo ver que publicar solo en Google Play dejaba fuera a mucha gente: en Irlanda, casi la mitad de los teléfonos son iPhone. Por eso la app también se va a publicar en la App Store. Para compilar para iPhone normalmente se necesita un Mac, y no tengo uno. Pero como la app está hecha con Expo, se compila en la nube con EAS Build, se prueba en iPhones reales con TestFlight y después pasa la revisión de Apple. Si aparece un error que solo se arregla con Xcode, arriendo un Mac en la nube por horas. La cuenta de Apple la saco en el Sprint 1, porque su verificación puede tardar y bloquea todo lo de iOS. Apple además exige ofrecer inicio de sesión con Apple si hay login con Google, así que lo agregué al Sprint 2. El costo nuevo es la cuenta de Apple, noventa y nueve dólares al año, que entra en el presupuesto inicial.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Sobre el modelo de negocio. Para el local, la app reemplaza la tarjeta de papel por algo que no se pierde ni se falsifica, y le muestra quién vuelve. Para el cliente, son premios por volver sin andar con una tarjeta. Quien paga es el local. La voy a ofrecer con un pago inicial de dos mil quinientos euros para terminarla y publicarla, más una mantención de setenta y cinco a noventa euros por semana. Ese pago cubre las cuentas de las dos tiendas, y la renovación anual de Apple queda dentro de la mantención.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Ahora les muestro las pantallas de la app. Esto es lo que ve el cliente. Primero la bienvenida, donde se registra o entra con Google. Después su tarjeta de socio, con las visitas que lleva y el próximo premio. Cuando llega al local, abre su QR, que dura tres minutos y sirve una sola vez. Y en premios ve todo lo que puede canjear.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la parte del personal. El mesero abre el escáner y lee el QR del cliente con la cámara. La visita se suma al instante y la pantalla del cliente cambia sola. Para canjear, el cliente abre un QR de canje; el mesero lo escanea y el premio queda reservado. Cuando lo lleva a la mesa, confirma la entrega. Por eso el canje es en dos pasos.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 esta es la administración. El dueño ve en el panel cuántos clientes tiene, cuántos socios están activos y las visitas del día y de la semana, además de los premios que más se canjean. Desde ahí edita el menú real del local, que tiene cuarenta y tres platos, crea premios y promociones sin publicar una nueva versión de la app, y gestiona al personal. Si la conexión lo permite, ahora les muestro la app funcionando en vivo.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Eso es Clancy's Rewards. El próximo paso es terminar la seguridad y subir la app a la nube. Todo el proyecto está en el repositorio de GitHub. Muchas gracias, quedo atento a sus preguntas.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11111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4480560" cy="1188720"/>
          </a:xfrm>
          <a:prstGeom prst="rect">
            <a:avLst/>
          </a:prstGeom>
          <a:noFill/>
          <a:ln/>
        </p:spPr>
        <p:txBody>
          <a:bodyPr wrap="square" rtlCol="0"/>
          <a:lstStyle>
            <a:lvl1pPr algn="l" indent="0" marL="0">
              <a:buNone/>
              <a:defRPr lang="en-US" sz="4000" b="1" dirty="0">
                <a:solidFill>
                  <a:srgbClr val="FFFFFF"/>
                </a:solidFill>
                <a:latin typeface="Arial" pitchFamily="34" charset="0"/>
                <a:ea typeface="Arial" pitchFamily="34" charset="-122"/>
                <a:cs typeface="Arial" pitchFamily="34" charset="-120"/>
              </a:defRPr>
            </a:lvl1pPr>
          </a:lstStyle>
          <a:p>
            <a:pPr algn="l" indent="0" marL="0">
              <a:buNone/>
            </a:pPr>
            <a:endParaRPr lang="en-US" sz="4000" dirty="0"/>
          </a:p>
        </p:txBody>
      </p:sp>
      <p:sp>
        <p:nvSpPr>
          <p:cNvPr id="3" name="Text 0"/>
          <p:cNvSpPr/>
          <p:nvPr>
            <p:ph idx="101" type="body" hasCustomPrompt="1"/>
          </p:nvPr>
        </p:nvSpPr>
        <p:spPr>
          <a:xfrm>
            <a:off x="548640" y="2697480"/>
            <a:ext cx="4206240" cy="822960"/>
          </a:xfrm>
          <a:prstGeom prst="rect">
            <a:avLst/>
          </a:prstGeom>
          <a:noFill/>
          <a:ln/>
        </p:spPr>
        <p:txBody>
          <a:bodyPr wrap="square" rtlCol="0"/>
          <a:lstStyle>
            <a:lvl1pPr algn="l" indent="0" marL="0">
              <a:buNone/>
              <a:defRPr lang="en-US" sz="1800" dirty="0">
                <a:solidFill>
                  <a:srgbClr val="F5C400"/>
                </a:solidFill>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rtlCol="0"/>
          <a:lstStyle>
            <a:lvl1pPr algn="l" indent="0" marL="0">
              <a:buNone/>
              <a:defRPr lang="en-US" sz="2600" b="1" dirty="0">
                <a:solidFill>
                  <a:srgbClr val="111111"/>
                </a:solidFill>
                <a:latin typeface="Arial" pitchFamily="34" charset="0"/>
                <a:ea typeface="Arial" pitchFamily="34" charset="-122"/>
                <a:cs typeface="Arial" pitchFamily="34" charset="-120"/>
              </a:defRPr>
            </a:lvl1pPr>
          </a:lstStyle>
          <a:p>
            <a:pPr algn="l" indent="0" marL="0">
              <a:buNone/>
            </a:pPr>
            <a:endParaRPr lang="en-US" sz="2600" dirty="0"/>
          </a:p>
        </p:txBody>
      </p:sp>
      <p:sp>
        <p:nvSpPr>
          <p:cNvPr id="3" name="Text 0"/>
          <p:cNvSpPr/>
          <p:nvPr/>
        </p:nvSpPr>
        <p:spPr>
          <a:xfrm>
            <a:off x="457200" y="4754880"/>
            <a:ext cx="4572000" cy="274320"/>
          </a:xfrm>
          <a:prstGeom prst="rect">
            <a:avLst/>
          </a:prstGeom>
          <a:noFill/>
          <a:ln/>
        </p:spPr>
        <p:txBody>
          <a:bodyPr wrap="square" lIns="0" tIns="0" rIns="0" bIns="0" rtlCol="0" anchor="ctr"/>
          <a:lstStyle/>
          <a:p>
            <a:pPr indent="0" marL="0">
              <a:buNone/>
            </a:pPr>
            <a:r>
              <a:rPr lang="en-US" sz="1000" dirty="0">
                <a:solidFill>
                  <a:srgbClr val="6B6B6B"/>
                </a:solidFill>
              </a:rPr>
              <a:t>Clancy's Rewards · Capstone · Evaluación 2</a:t>
            </a:r>
            <a:endParaRPr lang="en-US" sz="1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MOCK">
    <p:bg>
      <p:bgPr>
        <a:solidFill>
          <a:srgbClr val="11111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01168"/>
            <a:ext cx="8229600" cy="548640"/>
          </a:xfrm>
          <a:prstGeom prst="rect">
            <a:avLst/>
          </a:prstGeom>
          <a:noFill/>
          <a:ln/>
        </p:spPr>
        <p:txBody>
          <a:bodyPr wrap="square" rtlCol="0"/>
          <a:lstStyle>
            <a:lvl1pPr algn="l" indent="0" marL="0">
              <a:buNone/>
              <a:defRPr lang="en-US" sz="2400" b="1" dirty="0">
                <a:solidFill>
                  <a:srgbClr val="FFFFFF"/>
                </a:solidFill>
                <a:latin typeface="Arial" pitchFamily="34" charset="0"/>
                <a:ea typeface="Arial" pitchFamily="34" charset="-122"/>
                <a:cs typeface="Arial" pitchFamily="34" charset="-120"/>
              </a:defRPr>
            </a:lvl1pPr>
          </a:lstStyle>
          <a:p>
            <a:pPr algn="l" indent="0" marL="0">
              <a:buNone/>
            </a:pPr>
            <a:endParaRPr lang="en-US" sz="2400" dirty="0"/>
          </a:p>
        </p:txBody>
      </p:sp>
      <p:sp>
        <p:nvSpPr>
          <p:cNvPr id="3" name="Text 0"/>
          <p:cNvSpPr/>
          <p:nvPr/>
        </p:nvSpPr>
        <p:spPr>
          <a:xfrm>
            <a:off x="457200" y="4800600"/>
            <a:ext cx="4572000" cy="228600"/>
          </a:xfrm>
          <a:prstGeom prst="rect">
            <a:avLst/>
          </a:prstGeom>
          <a:noFill/>
          <a:ln/>
        </p:spPr>
        <p:txBody>
          <a:bodyPr wrap="square" lIns="0" tIns="0" rIns="0" bIns="0" rtlCol="0" anchor="ctr"/>
          <a:lstStyle/>
          <a:p>
            <a:pPr indent="0" marL="0">
              <a:buNone/>
            </a:pPr>
            <a:r>
              <a:rPr lang="en-US" sz="1000" dirty="0">
                <a:solidFill>
                  <a:srgbClr val="A6A6A6"/>
                </a:solidFill>
              </a:rPr>
              <a:t>Clancy's Rewards · Capstone · Evaluación 2</a:t>
            </a:r>
            <a:endParaRPr lang="en-US" sz="10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6A6A6"/>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jpg"/><Relationship Id="rId3" Type="http://schemas.openxmlformats.org/officeDocument/2006/relationships/image" Target="../media/image-1-3.jpg"/><Relationship Id="rId4" Type="http://schemas.openxmlformats.org/officeDocument/2006/relationships/image" Target="../media/image-1-4.jpg"/><Relationship Id="rId5" Type="http://schemas.openxmlformats.org/officeDocument/2006/relationships/slideLayout" Target="../slideLayouts/slideLayout2.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image" Target="../media/image-3-2.jpg"/><Relationship Id="rId3" Type="http://schemas.openxmlformats.org/officeDocument/2006/relationships/image" Target="../media/image-3-3.jp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3.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3.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image" Target="../media/image-9-2.jpg"/><Relationship Id="rId3" Type="http://schemas.openxmlformats.org/officeDocument/2006/relationships/image" Target="../media/image-9-3.jpg"/><Relationship Id="rId4" Type="http://schemas.openxmlformats.org/officeDocument/2006/relationships/image" Target="../media/image-9-4.jpg"/><Relationship Id="rId5" Type="http://schemas.openxmlformats.org/officeDocument/2006/relationships/slideLayout" Target="../slideLayouts/slideLayout4.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image" Target="../media/image-10-2.jpg"/><Relationship Id="rId3" Type="http://schemas.openxmlformats.org/officeDocument/2006/relationships/image" Target="../media/image-10-3.jpg"/><Relationship Id="rId4" Type="http://schemas.openxmlformats.org/officeDocument/2006/relationships/image" Target="../media/image-10-4.jpg"/><Relationship Id="rId5" Type="http://schemas.openxmlformats.org/officeDocument/2006/relationships/slideLayout" Target="../slideLayouts/slideLayout4.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image" Target="../media/image-11-2.jpg"/><Relationship Id="rId3" Type="http://schemas.openxmlformats.org/officeDocument/2006/relationships/slideLayout" Target="../slideLayouts/slideLayout4.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4480560" cy="1188720"/>
          </a:xfrm>
          <a:prstGeom prst="rect">
            <a:avLst/>
          </a:prstGeom>
          <a:noFill/>
          <a:ln/>
        </p:spPr>
        <p:txBody>
          <a:bodyPr wrap="square" lIns="0" tIns="0" rIns="0" bIns="0" rtlCol="0" anchor="b"/>
          <a:lstStyle/>
          <a:p>
            <a:pPr algn="l" indent="0" marL="0">
              <a:buNone/>
            </a:pPr>
            <a:r>
              <a:rPr lang="en-US" sz="4000" b="1" dirty="0">
                <a:solidFill>
                  <a:srgbClr val="FFFFFF"/>
                </a:solidFill>
                <a:latin typeface="Arial" pitchFamily="34" charset="0"/>
                <a:ea typeface="Arial" pitchFamily="34" charset="-122"/>
                <a:cs typeface="Arial" pitchFamily="34" charset="-120"/>
              </a:rPr>
              <a:t>Clancy's Rewards</a:t>
            </a:r>
            <a:endParaRPr lang="en-US" sz="4000" dirty="0"/>
          </a:p>
        </p:txBody>
      </p:sp>
      <p:sp>
        <p:nvSpPr>
          <p:cNvPr id="3" name="Text 0"/>
          <p:cNvSpPr/>
          <p:nvPr>
            <p:ph idx="101" type="body" hasCustomPrompt="1"/>
          </p:nvPr>
        </p:nvSpPr>
        <p:spPr>
          <a:xfrm>
            <a:off x="548640" y="2697480"/>
            <a:ext cx="4206240" cy="822960"/>
          </a:xfrm>
          <a:prstGeom prst="rect">
            <a:avLst/>
          </a:prstGeom>
          <a:noFill/>
          <a:ln/>
        </p:spPr>
        <p:txBody>
          <a:bodyPr wrap="square" lIns="0" tIns="0" rIns="0" bIns="0" rtlCol="0" anchor="t"/>
          <a:lstStyle/>
          <a:p>
            <a:pPr algn="l" indent="0" marL="0">
              <a:buNone/>
            </a:pPr>
            <a:r>
              <a:rPr lang="en-US" sz="1800" dirty="0">
                <a:solidFill>
                  <a:srgbClr val="F5C400"/>
                </a:solidFill>
              </a:rPr>
              <a:t>App móvil de fidelización de clientes para Clancy's Cork</a:t>
            </a:r>
            <a:endParaRPr lang="en-US" sz="1800" dirty="0"/>
          </a:p>
        </p:txBody>
      </p:sp>
      <p:sp>
        <p:nvSpPr>
          <p:cNvPr id="4" name="Shape 2"/>
          <p:cNvSpPr/>
          <p:nvPr/>
        </p:nvSpPr>
        <p:spPr>
          <a:xfrm>
            <a:off x="548640" y="502920"/>
            <a:ext cx="731520" cy="731520"/>
          </a:xfrm>
          <a:prstGeom prst="ellipse">
            <a:avLst/>
          </a:prstGeom>
          <a:solidFill>
            <a:srgbClr val="F5C400"/>
          </a:solidFill>
          <a:ln w="12700">
            <a:solidFill>
              <a:srgbClr val="F5C400"/>
            </a:solidFill>
            <a:prstDash val="solid"/>
          </a:ln>
        </p:spPr>
      </p:sp>
      <p:pic>
        <p:nvPicPr>
          <p:cNvPr id="5" name="Image 0" descr="preencoded.png">    </p:cNvPr>
          <p:cNvPicPr>
            <a:picLocks noChangeAspect="1"/>
          </p:cNvPicPr>
          <p:nvPr/>
        </p:nvPicPr>
        <p:blipFill>
          <a:blip r:embed="rId1"/>
          <a:stretch>
            <a:fillRect/>
          </a:stretch>
        </p:blipFill>
        <p:spPr>
          <a:xfrm>
            <a:off x="731520" y="685800"/>
            <a:ext cx="365760" cy="365760"/>
          </a:xfrm>
          <a:prstGeom prst="rect">
            <a:avLst/>
          </a:prstGeom>
        </p:spPr>
      </p:pic>
      <p:sp>
        <p:nvSpPr>
          <p:cNvPr id="6" name="Shape 3"/>
          <p:cNvSpPr/>
          <p:nvPr/>
        </p:nvSpPr>
        <p:spPr>
          <a:xfrm>
            <a:off x="5202936" y="813816"/>
            <a:ext cx="1630785" cy="3401568"/>
          </a:xfrm>
          <a:prstGeom prst="roundRect">
            <a:avLst>
              <a:gd name="adj" fmla="val 7850"/>
            </a:avLst>
          </a:prstGeom>
          <a:solidFill>
            <a:srgbClr val="3A3A3A"/>
          </a:solidFill>
          <a:ln w="12700">
            <a:solidFill>
              <a:srgbClr val="3A3A3A"/>
            </a:solidFill>
            <a:prstDash val="solid"/>
          </a:ln>
        </p:spPr>
      </p:sp>
      <p:pic>
        <p:nvPicPr>
          <p:cNvPr id="7" name="Image 1" descr="/mnt/user-data/uploads/Capturas_Presentacion/01 - Bienvenida.jpg">    </p:cNvPr>
          <p:cNvPicPr>
            <a:picLocks noChangeAspect="1"/>
          </p:cNvPicPr>
          <p:nvPr/>
        </p:nvPicPr>
        <p:blipFill>
          <a:blip r:embed="rId2"/>
          <a:stretch>
            <a:fillRect/>
          </a:stretch>
        </p:blipFill>
        <p:spPr>
          <a:xfrm>
            <a:off x="5257800" y="868680"/>
            <a:ext cx="1521057" cy="3291840"/>
          </a:xfrm>
          <a:prstGeom prst="rect">
            <a:avLst/>
          </a:prstGeom>
        </p:spPr>
      </p:pic>
      <p:sp>
        <p:nvSpPr>
          <p:cNvPr id="8" name="Shape 4"/>
          <p:cNvSpPr/>
          <p:nvPr/>
        </p:nvSpPr>
        <p:spPr>
          <a:xfrm>
            <a:off x="7306056" y="813816"/>
            <a:ext cx="1630785" cy="3401568"/>
          </a:xfrm>
          <a:prstGeom prst="roundRect">
            <a:avLst>
              <a:gd name="adj" fmla="val 7850"/>
            </a:avLst>
          </a:prstGeom>
          <a:solidFill>
            <a:srgbClr val="3A3A3A"/>
          </a:solidFill>
          <a:ln w="12700">
            <a:solidFill>
              <a:srgbClr val="3A3A3A"/>
            </a:solidFill>
            <a:prstDash val="solid"/>
          </a:ln>
        </p:spPr>
      </p:sp>
      <p:pic>
        <p:nvPicPr>
          <p:cNvPr id="9" name="Image 2" descr="/mnt/user-data/uploads/Capturas_Presentacion/03 - Pase QR del cliente.jpg">    </p:cNvPr>
          <p:cNvPicPr>
            <a:picLocks noChangeAspect="1"/>
          </p:cNvPicPr>
          <p:nvPr/>
        </p:nvPicPr>
        <p:blipFill>
          <a:blip r:embed="rId3"/>
          <a:stretch>
            <a:fillRect/>
          </a:stretch>
        </p:blipFill>
        <p:spPr>
          <a:xfrm>
            <a:off x="7360920" y="868680"/>
            <a:ext cx="1521057" cy="3291840"/>
          </a:xfrm>
          <a:prstGeom prst="rect">
            <a:avLst/>
          </a:prstGeom>
        </p:spPr>
      </p:pic>
      <p:sp>
        <p:nvSpPr>
          <p:cNvPr id="10" name="Shape 5"/>
          <p:cNvSpPr/>
          <p:nvPr/>
        </p:nvSpPr>
        <p:spPr>
          <a:xfrm>
            <a:off x="6208776" y="493776"/>
            <a:ext cx="1926546" cy="4041648"/>
          </a:xfrm>
          <a:prstGeom prst="roundRect">
            <a:avLst>
              <a:gd name="adj" fmla="val 6645"/>
            </a:avLst>
          </a:prstGeom>
          <a:solidFill>
            <a:srgbClr val="3A3A3A"/>
          </a:solidFill>
          <a:ln w="12700">
            <a:solidFill>
              <a:srgbClr val="3A3A3A"/>
            </a:solidFill>
            <a:prstDash val="solid"/>
          </a:ln>
        </p:spPr>
      </p:sp>
      <p:pic>
        <p:nvPicPr>
          <p:cNvPr id="11" name="Image 3" descr="/mnt/user-data/uploads/Capturas_Presentacion/02 - Tarjeta de socio.jpg">    </p:cNvPr>
          <p:cNvPicPr>
            <a:picLocks noChangeAspect="1"/>
          </p:cNvPicPr>
          <p:nvPr/>
        </p:nvPicPr>
        <p:blipFill>
          <a:blip r:embed="rId4"/>
          <a:stretch>
            <a:fillRect/>
          </a:stretch>
        </p:blipFill>
        <p:spPr>
          <a:xfrm>
            <a:off x="6263640" y="548640"/>
            <a:ext cx="1816818" cy="3931920"/>
          </a:xfrm>
          <a:prstGeom prst="rect">
            <a:avLst/>
          </a:prstGeom>
        </p:spPr>
      </p:pic>
      <p:sp>
        <p:nvSpPr>
          <p:cNvPr id="12" name="Shape 6"/>
          <p:cNvSpPr/>
          <p:nvPr/>
        </p:nvSpPr>
        <p:spPr>
          <a:xfrm>
            <a:off x="548640" y="3886200"/>
            <a:ext cx="548640" cy="54864"/>
          </a:xfrm>
          <a:prstGeom prst="rect">
            <a:avLst/>
          </a:prstGeom>
          <a:solidFill>
            <a:srgbClr val="F5C400"/>
          </a:solidFill>
          <a:ln w="12700">
            <a:solidFill>
              <a:srgbClr val="F5C400"/>
            </a:solidFill>
            <a:prstDash val="solid"/>
          </a:ln>
        </p:spPr>
      </p:sp>
      <p:sp>
        <p:nvSpPr>
          <p:cNvPr id="13" name="Text 7"/>
          <p:cNvSpPr txBox="1"/>
          <p:nvPr/>
        </p:nvSpPr>
        <p:spPr>
          <a:xfrm>
            <a:off x="548640" y="4023360"/>
            <a:ext cx="4480560" cy="640080"/>
          </a:xfrm>
          <a:prstGeom prst="rect">
            <a:avLst/>
          </a:prstGeom>
          <a:noFill/>
          <a:ln/>
        </p:spPr>
        <p:txBody>
          <a:bodyPr wrap="square" lIns="0" tIns="0" rIns="0" bIns="0" rtlCol="0" anchor="t"/>
          <a:lstStyle/>
          <a:p>
            <a:pPr indent="0" marL="0">
              <a:buNone/>
            </a:pPr>
            <a:r>
              <a:rPr lang="en-US" sz="1200" dirty="0">
                <a:solidFill>
                  <a:srgbClr val="FFFFFF"/>
                </a:solidFill>
              </a:rPr>
              <a:t>Andy Aravena Auquilen · Ingeniería en Informática</a:t>
            </a:r>
            <a:endParaRPr lang="en-US" sz="1200" dirty="0"/>
          </a:p>
          <a:p>
            <a:pPr indent="0" marL="0">
              <a:buNone/>
            </a:pPr>
            <a:r>
              <a:rPr lang="en-US" sz="1200" dirty="0">
                <a:solidFill>
                  <a:srgbClr val="FFFFFF"/>
                </a:solidFill>
              </a:rPr>
              <a:t>Duoc UC San Bernardo · Capstone, Evaluación 2</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600" b="1" dirty="0">
                <a:solidFill>
                  <a:srgbClr val="111111"/>
                </a:solidFill>
                <a:latin typeface="Arial" pitchFamily="34" charset="0"/>
                <a:ea typeface="Arial" pitchFamily="34" charset="-122"/>
                <a:cs typeface="Arial" pitchFamily="34" charset="-120"/>
              </a:rPr>
              <a:t>Contexto y problemática</a:t>
            </a:r>
            <a:endParaRPr lang="en-US" sz="2600" dirty="0"/>
          </a:p>
        </p:txBody>
      </p:sp>
      <p:sp>
        <p:nvSpPr>
          <p:cNvPr id="3" name="Text 1"/>
          <p:cNvSpPr txBox="1"/>
          <p:nvPr/>
        </p:nvSpPr>
        <p:spPr>
          <a:xfrm>
            <a:off x="457200" y="1005840"/>
            <a:ext cx="8229600" cy="640080"/>
          </a:xfrm>
          <a:prstGeom prst="rect">
            <a:avLst/>
          </a:prstGeom>
          <a:noFill/>
          <a:ln/>
        </p:spPr>
        <p:txBody>
          <a:bodyPr wrap="square" lIns="0" tIns="0" rIns="0" bIns="0" rtlCol="0" anchor="t"/>
          <a:lstStyle/>
          <a:p>
            <a:pPr indent="0" marL="0">
              <a:buNone/>
            </a:pPr>
            <a:r>
              <a:rPr lang="en-US" sz="1500" dirty="0">
                <a:solidFill>
                  <a:srgbClr val="111111"/>
                </a:solidFill>
              </a:rPr>
              <a:t>Clancy's es un pub y restaurante del centro de Cork, Irlanda. No tiene una herramienta digital para premiar a sus clientes frecuentes. La alternativa típica, la tarjeta de sellos de papel:</a:t>
            </a:r>
            <a:endParaRPr lang="en-US" sz="1500" dirty="0"/>
          </a:p>
        </p:txBody>
      </p:sp>
      <p:sp>
        <p:nvSpPr>
          <p:cNvPr id="4" name="Shape 2"/>
          <p:cNvSpPr/>
          <p:nvPr/>
        </p:nvSpPr>
        <p:spPr>
          <a:xfrm>
            <a:off x="457200" y="1783080"/>
            <a:ext cx="2606040" cy="1920240"/>
          </a:xfrm>
          <a:prstGeom prst="roundRect">
            <a:avLst>
              <a:gd name="adj" fmla="val 3810"/>
            </a:avLst>
          </a:prstGeom>
          <a:solidFill>
            <a:srgbClr val="F2F2F2"/>
          </a:solidFill>
          <a:ln w="12700">
            <a:solidFill>
              <a:srgbClr val="F2F2F2"/>
            </a:solidFill>
            <a:prstDash val="solid"/>
          </a:ln>
        </p:spPr>
      </p:sp>
      <p:sp>
        <p:nvSpPr>
          <p:cNvPr id="5" name="Shape 3"/>
          <p:cNvSpPr/>
          <p:nvPr/>
        </p:nvSpPr>
        <p:spPr>
          <a:xfrm>
            <a:off x="685800" y="1965960"/>
            <a:ext cx="502920" cy="502920"/>
          </a:xfrm>
          <a:prstGeom prst="ellipse">
            <a:avLst/>
          </a:prstGeom>
          <a:solidFill>
            <a:srgbClr val="111111"/>
          </a:solidFill>
          <a:ln w="12700">
            <a:solidFill>
              <a:srgbClr val="111111"/>
            </a:solidFill>
            <a:prstDash val="solid"/>
          </a:ln>
        </p:spPr>
      </p:sp>
      <p:pic>
        <p:nvPicPr>
          <p:cNvPr id="6" name="Image 0" descr="preencoded.png">    </p:cNvPr>
          <p:cNvPicPr>
            <a:picLocks noChangeAspect="1"/>
          </p:cNvPicPr>
          <p:nvPr/>
        </p:nvPicPr>
        <p:blipFill>
          <a:blip r:embed="rId1"/>
          <a:stretch>
            <a:fillRect/>
          </a:stretch>
        </p:blipFill>
        <p:spPr>
          <a:xfrm>
            <a:off x="811530" y="2091690"/>
            <a:ext cx="251460" cy="251460"/>
          </a:xfrm>
          <a:prstGeom prst="rect">
            <a:avLst/>
          </a:prstGeom>
        </p:spPr>
      </p:pic>
      <p:sp>
        <p:nvSpPr>
          <p:cNvPr id="7" name="Text 4"/>
          <p:cNvSpPr txBox="1"/>
          <p:nvPr/>
        </p:nvSpPr>
        <p:spPr>
          <a:xfrm>
            <a:off x="685800" y="2606040"/>
            <a:ext cx="2194560" cy="320040"/>
          </a:xfrm>
          <a:prstGeom prst="rect">
            <a:avLst/>
          </a:prstGeom>
          <a:noFill/>
          <a:ln/>
        </p:spPr>
        <p:txBody>
          <a:bodyPr wrap="square" lIns="0" tIns="0" rIns="0" bIns="0" rtlCol="0" anchor="t"/>
          <a:lstStyle/>
          <a:p>
            <a:pPr indent="0" marL="0">
              <a:buNone/>
            </a:pPr>
            <a:r>
              <a:rPr lang="en-US" sz="1800" b="1" dirty="0">
                <a:solidFill>
                  <a:srgbClr val="111111"/>
                </a:solidFill>
                <a:latin typeface="Arial" pitchFamily="34" charset="0"/>
                <a:ea typeface="Arial" pitchFamily="34" charset="-122"/>
                <a:cs typeface="Arial" pitchFamily="34" charset="-120"/>
              </a:rPr>
              <a:t>Se pierde</a:t>
            </a:r>
            <a:endParaRPr lang="en-US" sz="1800" dirty="0"/>
          </a:p>
        </p:txBody>
      </p:sp>
      <p:sp>
        <p:nvSpPr>
          <p:cNvPr id="8" name="Text 5"/>
          <p:cNvSpPr txBox="1"/>
          <p:nvPr/>
        </p:nvSpPr>
        <p:spPr>
          <a:xfrm>
            <a:off x="685800" y="2971800"/>
            <a:ext cx="2194560" cy="594360"/>
          </a:xfrm>
          <a:prstGeom prst="rect">
            <a:avLst/>
          </a:prstGeom>
          <a:noFill/>
          <a:ln/>
        </p:spPr>
        <p:txBody>
          <a:bodyPr wrap="square" lIns="0" tIns="0" rIns="0" bIns="0" rtlCol="0" anchor="t"/>
          <a:lstStyle/>
          <a:p>
            <a:pPr indent="0" marL="0">
              <a:buNone/>
            </a:pPr>
            <a:r>
              <a:rPr lang="en-US" sz="1400" dirty="0">
                <a:solidFill>
                  <a:srgbClr val="111111"/>
                </a:solidFill>
              </a:rPr>
              <a:t>El cliente la olvida y pierde su avance.</a:t>
            </a:r>
            <a:endParaRPr lang="en-US" sz="1400" dirty="0"/>
          </a:p>
        </p:txBody>
      </p:sp>
      <p:sp>
        <p:nvSpPr>
          <p:cNvPr id="9" name="Shape 6"/>
          <p:cNvSpPr/>
          <p:nvPr/>
        </p:nvSpPr>
        <p:spPr>
          <a:xfrm>
            <a:off x="3246120" y="1783080"/>
            <a:ext cx="2606040" cy="1920240"/>
          </a:xfrm>
          <a:prstGeom prst="roundRect">
            <a:avLst>
              <a:gd name="adj" fmla="val 3810"/>
            </a:avLst>
          </a:prstGeom>
          <a:solidFill>
            <a:srgbClr val="F2F2F2"/>
          </a:solidFill>
          <a:ln w="12700">
            <a:solidFill>
              <a:srgbClr val="F2F2F2"/>
            </a:solidFill>
            <a:prstDash val="solid"/>
          </a:ln>
        </p:spPr>
      </p:sp>
      <p:sp>
        <p:nvSpPr>
          <p:cNvPr id="10" name="Shape 7"/>
          <p:cNvSpPr/>
          <p:nvPr/>
        </p:nvSpPr>
        <p:spPr>
          <a:xfrm>
            <a:off x="3474720" y="1965960"/>
            <a:ext cx="502920" cy="502920"/>
          </a:xfrm>
          <a:prstGeom prst="ellipse">
            <a:avLst/>
          </a:prstGeom>
          <a:solidFill>
            <a:srgbClr val="111111"/>
          </a:solidFill>
          <a:ln w="12700">
            <a:solidFill>
              <a:srgbClr val="111111"/>
            </a:solidFill>
            <a:prstDash val="solid"/>
          </a:ln>
        </p:spPr>
      </p:sp>
      <p:pic>
        <p:nvPicPr>
          <p:cNvPr id="11" name="Image 1" descr="preencoded.png">    </p:cNvPr>
          <p:cNvPicPr>
            <a:picLocks noChangeAspect="1"/>
          </p:cNvPicPr>
          <p:nvPr/>
        </p:nvPicPr>
        <p:blipFill>
          <a:blip r:embed="rId2"/>
          <a:stretch>
            <a:fillRect/>
          </a:stretch>
        </p:blipFill>
        <p:spPr>
          <a:xfrm>
            <a:off x="3600450" y="2091690"/>
            <a:ext cx="251460" cy="251460"/>
          </a:xfrm>
          <a:prstGeom prst="rect">
            <a:avLst/>
          </a:prstGeom>
        </p:spPr>
      </p:pic>
      <p:sp>
        <p:nvSpPr>
          <p:cNvPr id="12" name="Text 8"/>
          <p:cNvSpPr txBox="1"/>
          <p:nvPr/>
        </p:nvSpPr>
        <p:spPr>
          <a:xfrm>
            <a:off x="3474720" y="2606040"/>
            <a:ext cx="2194560" cy="320040"/>
          </a:xfrm>
          <a:prstGeom prst="rect">
            <a:avLst/>
          </a:prstGeom>
          <a:noFill/>
          <a:ln/>
        </p:spPr>
        <p:txBody>
          <a:bodyPr wrap="square" lIns="0" tIns="0" rIns="0" bIns="0" rtlCol="0" anchor="t"/>
          <a:lstStyle/>
          <a:p>
            <a:pPr indent="0" marL="0">
              <a:buNone/>
            </a:pPr>
            <a:r>
              <a:rPr lang="en-US" sz="1800" b="1" dirty="0">
                <a:solidFill>
                  <a:srgbClr val="111111"/>
                </a:solidFill>
                <a:latin typeface="Arial" pitchFamily="34" charset="0"/>
                <a:ea typeface="Arial" pitchFamily="34" charset="-122"/>
                <a:cs typeface="Arial" pitchFamily="34" charset="-120"/>
              </a:rPr>
              <a:t>Se falsifica</a:t>
            </a:r>
            <a:endParaRPr lang="en-US" sz="1800" dirty="0"/>
          </a:p>
        </p:txBody>
      </p:sp>
      <p:sp>
        <p:nvSpPr>
          <p:cNvPr id="13" name="Text 9"/>
          <p:cNvSpPr txBox="1"/>
          <p:nvPr/>
        </p:nvSpPr>
        <p:spPr>
          <a:xfrm>
            <a:off x="3474720" y="2971800"/>
            <a:ext cx="2194560" cy="594360"/>
          </a:xfrm>
          <a:prstGeom prst="rect">
            <a:avLst/>
          </a:prstGeom>
          <a:noFill/>
          <a:ln/>
        </p:spPr>
        <p:txBody>
          <a:bodyPr wrap="square" lIns="0" tIns="0" rIns="0" bIns="0" rtlCol="0" anchor="t"/>
          <a:lstStyle/>
          <a:p>
            <a:pPr indent="0" marL="0">
              <a:buNone/>
            </a:pPr>
            <a:r>
              <a:rPr lang="en-US" sz="1400" dirty="0">
                <a:solidFill>
                  <a:srgbClr val="111111"/>
                </a:solidFill>
              </a:rPr>
              <a:t>Un sello se copia y nadie controla quién lo puso.</a:t>
            </a:r>
            <a:endParaRPr lang="en-US" sz="1400" dirty="0"/>
          </a:p>
        </p:txBody>
      </p:sp>
      <p:sp>
        <p:nvSpPr>
          <p:cNvPr id="14" name="Shape 10"/>
          <p:cNvSpPr/>
          <p:nvPr/>
        </p:nvSpPr>
        <p:spPr>
          <a:xfrm>
            <a:off x="6035040" y="1783080"/>
            <a:ext cx="2606040" cy="1920240"/>
          </a:xfrm>
          <a:prstGeom prst="roundRect">
            <a:avLst>
              <a:gd name="adj" fmla="val 3810"/>
            </a:avLst>
          </a:prstGeom>
          <a:solidFill>
            <a:srgbClr val="F2F2F2"/>
          </a:solidFill>
          <a:ln w="12700">
            <a:solidFill>
              <a:srgbClr val="F2F2F2"/>
            </a:solidFill>
            <a:prstDash val="solid"/>
          </a:ln>
        </p:spPr>
      </p:sp>
      <p:sp>
        <p:nvSpPr>
          <p:cNvPr id="15" name="Shape 11"/>
          <p:cNvSpPr/>
          <p:nvPr/>
        </p:nvSpPr>
        <p:spPr>
          <a:xfrm>
            <a:off x="6263640" y="1965960"/>
            <a:ext cx="502920" cy="502920"/>
          </a:xfrm>
          <a:prstGeom prst="ellipse">
            <a:avLst/>
          </a:prstGeom>
          <a:solidFill>
            <a:srgbClr val="111111"/>
          </a:solidFill>
          <a:ln w="12700">
            <a:solidFill>
              <a:srgbClr val="111111"/>
            </a:solidFill>
            <a:prstDash val="solid"/>
          </a:ln>
        </p:spPr>
      </p:sp>
      <p:pic>
        <p:nvPicPr>
          <p:cNvPr id="16" name="Image 2" descr="preencoded.png">    </p:cNvPr>
          <p:cNvPicPr>
            <a:picLocks noChangeAspect="1"/>
          </p:cNvPicPr>
          <p:nvPr/>
        </p:nvPicPr>
        <p:blipFill>
          <a:blip r:embed="rId3"/>
          <a:stretch>
            <a:fillRect/>
          </a:stretch>
        </p:blipFill>
        <p:spPr>
          <a:xfrm>
            <a:off x="6389370" y="2091690"/>
            <a:ext cx="251460" cy="251460"/>
          </a:xfrm>
          <a:prstGeom prst="rect">
            <a:avLst/>
          </a:prstGeom>
        </p:spPr>
      </p:pic>
      <p:sp>
        <p:nvSpPr>
          <p:cNvPr id="17" name="Text 12"/>
          <p:cNvSpPr txBox="1"/>
          <p:nvPr/>
        </p:nvSpPr>
        <p:spPr>
          <a:xfrm>
            <a:off x="6263640" y="2606040"/>
            <a:ext cx="2194560" cy="320040"/>
          </a:xfrm>
          <a:prstGeom prst="rect">
            <a:avLst/>
          </a:prstGeom>
          <a:noFill/>
          <a:ln/>
        </p:spPr>
        <p:txBody>
          <a:bodyPr wrap="square" lIns="0" tIns="0" rIns="0" bIns="0" rtlCol="0" anchor="t"/>
          <a:lstStyle/>
          <a:p>
            <a:pPr indent="0" marL="0">
              <a:buNone/>
            </a:pPr>
            <a:r>
              <a:rPr lang="en-US" sz="1800" b="1" dirty="0">
                <a:solidFill>
                  <a:srgbClr val="111111"/>
                </a:solidFill>
                <a:latin typeface="Arial" pitchFamily="34" charset="0"/>
                <a:ea typeface="Arial" pitchFamily="34" charset="-122"/>
                <a:cs typeface="Arial" pitchFamily="34" charset="-120"/>
              </a:rPr>
              <a:t>No deja datos</a:t>
            </a:r>
            <a:endParaRPr lang="en-US" sz="1800" dirty="0"/>
          </a:p>
        </p:txBody>
      </p:sp>
      <p:sp>
        <p:nvSpPr>
          <p:cNvPr id="18" name="Text 13"/>
          <p:cNvSpPr txBox="1"/>
          <p:nvPr/>
        </p:nvSpPr>
        <p:spPr>
          <a:xfrm>
            <a:off x="6263640" y="2971800"/>
            <a:ext cx="2194560" cy="594360"/>
          </a:xfrm>
          <a:prstGeom prst="rect">
            <a:avLst/>
          </a:prstGeom>
          <a:noFill/>
          <a:ln/>
        </p:spPr>
        <p:txBody>
          <a:bodyPr wrap="square" lIns="0" tIns="0" rIns="0" bIns="0" rtlCol="0" anchor="t"/>
          <a:lstStyle/>
          <a:p>
            <a:pPr indent="0" marL="0">
              <a:buNone/>
            </a:pPr>
            <a:r>
              <a:rPr lang="en-US" sz="1400" dirty="0">
                <a:solidFill>
                  <a:srgbClr val="111111"/>
                </a:solidFill>
              </a:rPr>
              <a:t>El local no sabe quién vuelve ni qué premio funciona.</a:t>
            </a:r>
            <a:endParaRPr lang="en-US" sz="1400" dirty="0"/>
          </a:p>
        </p:txBody>
      </p:sp>
      <p:sp>
        <p:nvSpPr>
          <p:cNvPr id="19" name="Text 14"/>
          <p:cNvSpPr txBox="1"/>
          <p:nvPr/>
        </p:nvSpPr>
        <p:spPr>
          <a:xfrm>
            <a:off x="457200" y="3931920"/>
            <a:ext cx="8229600" cy="548640"/>
          </a:xfrm>
          <a:prstGeom prst="rect">
            <a:avLst/>
          </a:prstGeom>
          <a:noFill/>
          <a:ln/>
        </p:spPr>
        <p:txBody>
          <a:bodyPr wrap="square" lIns="0" tIns="0" rIns="0" bIns="0" rtlCol="0" anchor="t"/>
          <a:lstStyle/>
          <a:p>
            <a:pPr indent="0" marL="0">
              <a:buNone/>
            </a:pPr>
            <a:r>
              <a:rPr lang="en-US" sz="1400" b="1" dirty="0">
                <a:solidFill>
                  <a:srgbClr val="111111"/>
                </a:solidFill>
              </a:rPr>
              <a:t>Afecta a dos grupos: </a:t>
            </a:r>
            <a:pPr indent="0" marL="0">
              <a:buNone/>
            </a:pPr>
            <a:r>
              <a:rPr lang="en-US" sz="1400" dirty="0">
                <a:solidFill>
                  <a:srgbClr val="111111"/>
                </a:solidFill>
              </a:rPr>
              <a:t>los clientes frecuentes, que no reciben nada por volver, y la administración, que decide sus promociones sin datos.</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600" b="1" dirty="0">
                <a:solidFill>
                  <a:srgbClr val="111111"/>
                </a:solidFill>
                <a:latin typeface="Arial" pitchFamily="34" charset="0"/>
                <a:ea typeface="Arial" pitchFamily="34" charset="-122"/>
                <a:cs typeface="Arial" pitchFamily="34" charset="-120"/>
              </a:rPr>
              <a:t>Solución: una app con tres roles</a:t>
            </a:r>
            <a:endParaRPr lang="en-US" sz="2600" dirty="0"/>
          </a:p>
        </p:txBody>
      </p:sp>
      <p:sp>
        <p:nvSpPr>
          <p:cNvPr id="3" name="Shape 1"/>
          <p:cNvSpPr/>
          <p:nvPr/>
        </p:nvSpPr>
        <p:spPr>
          <a:xfrm>
            <a:off x="457200" y="1051560"/>
            <a:ext cx="2606040" cy="2011680"/>
          </a:xfrm>
          <a:prstGeom prst="roundRect">
            <a:avLst>
              <a:gd name="adj" fmla="val 3636"/>
            </a:avLst>
          </a:prstGeom>
          <a:solidFill>
            <a:srgbClr val="F2F2F2"/>
          </a:solidFill>
          <a:ln w="12700">
            <a:solidFill>
              <a:srgbClr val="F2F2F2"/>
            </a:solidFill>
            <a:prstDash val="solid"/>
          </a:ln>
        </p:spPr>
      </p:sp>
      <p:sp>
        <p:nvSpPr>
          <p:cNvPr id="4" name="Shape 2"/>
          <p:cNvSpPr/>
          <p:nvPr/>
        </p:nvSpPr>
        <p:spPr>
          <a:xfrm>
            <a:off x="585216" y="1133856"/>
            <a:ext cx="912508" cy="1847088"/>
          </a:xfrm>
          <a:prstGeom prst="roundRect">
            <a:avLst>
              <a:gd name="adj" fmla="val 14029"/>
            </a:avLst>
          </a:prstGeom>
          <a:solidFill>
            <a:srgbClr val="111111"/>
          </a:solidFill>
          <a:ln w="12700">
            <a:solidFill>
              <a:srgbClr val="111111"/>
            </a:solidFill>
            <a:prstDash val="solid"/>
          </a:ln>
        </p:spPr>
      </p:sp>
      <p:pic>
        <p:nvPicPr>
          <p:cNvPr id="5" name="Image 0" descr="/mnt/user-data/uploads/Capturas_Presentacion/03 - Pase QR del cliente.jpg">    </p:cNvPr>
          <p:cNvPicPr>
            <a:picLocks noChangeAspect="1"/>
          </p:cNvPicPr>
          <p:nvPr/>
        </p:nvPicPr>
        <p:blipFill>
          <a:blip r:embed="rId1"/>
          <a:stretch>
            <a:fillRect/>
          </a:stretch>
        </p:blipFill>
        <p:spPr>
          <a:xfrm>
            <a:off x="640080" y="1188720"/>
            <a:ext cx="802780" cy="1737360"/>
          </a:xfrm>
          <a:prstGeom prst="rect">
            <a:avLst/>
          </a:prstGeom>
        </p:spPr>
      </p:pic>
      <p:sp>
        <p:nvSpPr>
          <p:cNvPr id="6" name="Text 3"/>
          <p:cNvSpPr txBox="1"/>
          <p:nvPr/>
        </p:nvSpPr>
        <p:spPr>
          <a:xfrm>
            <a:off x="1554480" y="1234440"/>
            <a:ext cx="1463040" cy="365760"/>
          </a:xfrm>
          <a:prstGeom prst="rect">
            <a:avLst/>
          </a:prstGeom>
          <a:noFill/>
          <a:ln/>
        </p:spPr>
        <p:txBody>
          <a:bodyPr wrap="square" lIns="0" tIns="0" rIns="0" bIns="0" rtlCol="0" anchor="t"/>
          <a:lstStyle/>
          <a:p>
            <a:pPr indent="0" marL="0">
              <a:buNone/>
            </a:pPr>
            <a:r>
              <a:rPr lang="en-US" sz="1500" b="1" dirty="0">
                <a:solidFill>
                  <a:srgbClr val="111111"/>
                </a:solidFill>
                <a:latin typeface="Arial" pitchFamily="34" charset="0"/>
                <a:ea typeface="Arial" pitchFamily="34" charset="-122"/>
                <a:cs typeface="Arial" pitchFamily="34" charset="-120"/>
              </a:rPr>
              <a:t>Cliente</a:t>
            </a:r>
            <a:endParaRPr lang="en-US" sz="1500" dirty="0"/>
          </a:p>
        </p:txBody>
      </p:sp>
      <p:sp>
        <p:nvSpPr>
          <p:cNvPr id="7" name="Text 4"/>
          <p:cNvSpPr txBox="1"/>
          <p:nvPr/>
        </p:nvSpPr>
        <p:spPr>
          <a:xfrm>
            <a:off x="1554480" y="1645920"/>
            <a:ext cx="1417320" cy="1325880"/>
          </a:xfrm>
          <a:prstGeom prst="rect">
            <a:avLst/>
          </a:prstGeom>
          <a:noFill/>
          <a:ln/>
        </p:spPr>
        <p:txBody>
          <a:bodyPr wrap="square" lIns="0" tIns="0" rIns="0" bIns="0" rtlCol="0" anchor="t"/>
          <a:lstStyle/>
          <a:p>
            <a:pPr indent="0" marL="0">
              <a:buNone/>
            </a:pPr>
            <a:r>
              <a:rPr lang="en-US" sz="1300" dirty="0">
                <a:solidFill>
                  <a:srgbClr val="111111"/>
                </a:solidFill>
              </a:rPr>
              <a:t>Muestra su QR para sumar visitas y canjear premios.</a:t>
            </a:r>
            <a:endParaRPr lang="en-US" sz="1300" dirty="0"/>
          </a:p>
        </p:txBody>
      </p:sp>
      <p:sp>
        <p:nvSpPr>
          <p:cNvPr id="8" name="Shape 5"/>
          <p:cNvSpPr/>
          <p:nvPr/>
        </p:nvSpPr>
        <p:spPr>
          <a:xfrm>
            <a:off x="3246120" y="1051560"/>
            <a:ext cx="2606040" cy="2011680"/>
          </a:xfrm>
          <a:prstGeom prst="roundRect">
            <a:avLst>
              <a:gd name="adj" fmla="val 3636"/>
            </a:avLst>
          </a:prstGeom>
          <a:solidFill>
            <a:srgbClr val="F2F2F2"/>
          </a:solidFill>
          <a:ln w="12700">
            <a:solidFill>
              <a:srgbClr val="F2F2F2"/>
            </a:solidFill>
            <a:prstDash val="solid"/>
          </a:ln>
        </p:spPr>
      </p:sp>
      <p:sp>
        <p:nvSpPr>
          <p:cNvPr id="9" name="Shape 6"/>
          <p:cNvSpPr/>
          <p:nvPr/>
        </p:nvSpPr>
        <p:spPr>
          <a:xfrm>
            <a:off x="3374136" y="1133856"/>
            <a:ext cx="912508" cy="1847088"/>
          </a:xfrm>
          <a:prstGeom prst="roundRect">
            <a:avLst>
              <a:gd name="adj" fmla="val 14029"/>
            </a:avLst>
          </a:prstGeom>
          <a:solidFill>
            <a:srgbClr val="111111"/>
          </a:solidFill>
          <a:ln w="12700">
            <a:solidFill>
              <a:srgbClr val="111111"/>
            </a:solidFill>
            <a:prstDash val="solid"/>
          </a:ln>
        </p:spPr>
      </p:sp>
      <p:pic>
        <p:nvPicPr>
          <p:cNvPr id="10" name="Image 1" descr="/mnt/user-data/uploads/Capturas_Presentacion/04 - Escaner del mesero.jpg">    </p:cNvPr>
          <p:cNvPicPr>
            <a:picLocks noChangeAspect="1"/>
          </p:cNvPicPr>
          <p:nvPr/>
        </p:nvPicPr>
        <p:blipFill>
          <a:blip r:embed="rId2"/>
          <a:stretch>
            <a:fillRect/>
          </a:stretch>
        </p:blipFill>
        <p:spPr>
          <a:xfrm>
            <a:off x="3429000" y="1188720"/>
            <a:ext cx="802780" cy="1737360"/>
          </a:xfrm>
          <a:prstGeom prst="rect">
            <a:avLst/>
          </a:prstGeom>
        </p:spPr>
      </p:pic>
      <p:sp>
        <p:nvSpPr>
          <p:cNvPr id="11" name="Text 7"/>
          <p:cNvSpPr txBox="1"/>
          <p:nvPr/>
        </p:nvSpPr>
        <p:spPr>
          <a:xfrm>
            <a:off x="4343400" y="1234440"/>
            <a:ext cx="1463040" cy="365760"/>
          </a:xfrm>
          <a:prstGeom prst="rect">
            <a:avLst/>
          </a:prstGeom>
          <a:noFill/>
          <a:ln/>
        </p:spPr>
        <p:txBody>
          <a:bodyPr wrap="square" lIns="0" tIns="0" rIns="0" bIns="0" rtlCol="0" anchor="t"/>
          <a:lstStyle/>
          <a:p>
            <a:pPr indent="0" marL="0">
              <a:buNone/>
            </a:pPr>
            <a:r>
              <a:rPr lang="en-US" sz="1500" b="1" dirty="0">
                <a:solidFill>
                  <a:srgbClr val="111111"/>
                </a:solidFill>
                <a:latin typeface="Arial" pitchFamily="34" charset="0"/>
                <a:ea typeface="Arial" pitchFamily="34" charset="-122"/>
                <a:cs typeface="Arial" pitchFamily="34" charset="-120"/>
              </a:rPr>
              <a:t>Personal</a:t>
            </a:r>
            <a:endParaRPr lang="en-US" sz="1500" dirty="0"/>
          </a:p>
        </p:txBody>
      </p:sp>
      <p:sp>
        <p:nvSpPr>
          <p:cNvPr id="12" name="Text 8"/>
          <p:cNvSpPr txBox="1"/>
          <p:nvPr/>
        </p:nvSpPr>
        <p:spPr>
          <a:xfrm>
            <a:off x="4343400" y="1645920"/>
            <a:ext cx="1417320" cy="1325880"/>
          </a:xfrm>
          <a:prstGeom prst="rect">
            <a:avLst/>
          </a:prstGeom>
          <a:noFill/>
          <a:ln/>
        </p:spPr>
        <p:txBody>
          <a:bodyPr wrap="square" lIns="0" tIns="0" rIns="0" bIns="0" rtlCol="0" anchor="t"/>
          <a:lstStyle/>
          <a:p>
            <a:pPr indent="0" marL="0">
              <a:buNone/>
            </a:pPr>
            <a:r>
              <a:rPr lang="en-US" sz="1300" dirty="0">
                <a:solidFill>
                  <a:srgbClr val="111111"/>
                </a:solidFill>
              </a:rPr>
              <a:t>Escanea el QR con la cámara del teléfono.</a:t>
            </a:r>
            <a:endParaRPr lang="en-US" sz="1300" dirty="0"/>
          </a:p>
        </p:txBody>
      </p:sp>
      <p:sp>
        <p:nvSpPr>
          <p:cNvPr id="13" name="Shape 9"/>
          <p:cNvSpPr/>
          <p:nvPr/>
        </p:nvSpPr>
        <p:spPr>
          <a:xfrm>
            <a:off x="6035040" y="1051560"/>
            <a:ext cx="2606040" cy="2011680"/>
          </a:xfrm>
          <a:prstGeom prst="roundRect">
            <a:avLst>
              <a:gd name="adj" fmla="val 3636"/>
            </a:avLst>
          </a:prstGeom>
          <a:solidFill>
            <a:srgbClr val="F2F2F2"/>
          </a:solidFill>
          <a:ln w="12700">
            <a:solidFill>
              <a:srgbClr val="F2F2F2"/>
            </a:solidFill>
            <a:prstDash val="solid"/>
          </a:ln>
        </p:spPr>
      </p:sp>
      <p:sp>
        <p:nvSpPr>
          <p:cNvPr id="14" name="Shape 10"/>
          <p:cNvSpPr/>
          <p:nvPr/>
        </p:nvSpPr>
        <p:spPr>
          <a:xfrm>
            <a:off x="6163056" y="1133856"/>
            <a:ext cx="912508" cy="1847088"/>
          </a:xfrm>
          <a:prstGeom prst="roundRect">
            <a:avLst>
              <a:gd name="adj" fmla="val 14029"/>
            </a:avLst>
          </a:prstGeom>
          <a:solidFill>
            <a:srgbClr val="111111"/>
          </a:solidFill>
          <a:ln w="12700">
            <a:solidFill>
              <a:srgbClr val="111111"/>
            </a:solidFill>
            <a:prstDash val="solid"/>
          </a:ln>
        </p:spPr>
      </p:sp>
      <p:pic>
        <p:nvPicPr>
          <p:cNvPr id="15" name="Image 2" descr="/mnt/user-data/uploads/Capturas_Presentacion/10 - Panel del dueno.jpg">    </p:cNvPr>
          <p:cNvPicPr>
            <a:picLocks noChangeAspect="1"/>
          </p:cNvPicPr>
          <p:nvPr/>
        </p:nvPicPr>
        <p:blipFill>
          <a:blip r:embed="rId3"/>
          <a:stretch>
            <a:fillRect/>
          </a:stretch>
        </p:blipFill>
        <p:spPr>
          <a:xfrm>
            <a:off x="6217920" y="1188720"/>
            <a:ext cx="802780" cy="1737360"/>
          </a:xfrm>
          <a:prstGeom prst="rect">
            <a:avLst/>
          </a:prstGeom>
        </p:spPr>
      </p:pic>
      <p:sp>
        <p:nvSpPr>
          <p:cNvPr id="16" name="Text 11"/>
          <p:cNvSpPr txBox="1"/>
          <p:nvPr/>
        </p:nvSpPr>
        <p:spPr>
          <a:xfrm>
            <a:off x="7132320" y="1234440"/>
            <a:ext cx="1463040" cy="365760"/>
          </a:xfrm>
          <a:prstGeom prst="rect">
            <a:avLst/>
          </a:prstGeom>
          <a:noFill/>
          <a:ln/>
        </p:spPr>
        <p:txBody>
          <a:bodyPr wrap="square" lIns="0" tIns="0" rIns="0" bIns="0" rtlCol="0" anchor="t"/>
          <a:lstStyle/>
          <a:p>
            <a:pPr indent="0" marL="0">
              <a:buNone/>
            </a:pPr>
            <a:r>
              <a:rPr lang="en-US" sz="1500" b="1" dirty="0">
                <a:solidFill>
                  <a:srgbClr val="111111"/>
                </a:solidFill>
                <a:latin typeface="Arial" pitchFamily="34" charset="0"/>
                <a:ea typeface="Arial" pitchFamily="34" charset="-122"/>
                <a:cs typeface="Arial" pitchFamily="34" charset="-120"/>
              </a:rPr>
              <a:t>Administrador</a:t>
            </a:r>
            <a:endParaRPr lang="en-US" sz="1500" dirty="0"/>
          </a:p>
        </p:txBody>
      </p:sp>
      <p:sp>
        <p:nvSpPr>
          <p:cNvPr id="17" name="Text 12"/>
          <p:cNvSpPr txBox="1"/>
          <p:nvPr/>
        </p:nvSpPr>
        <p:spPr>
          <a:xfrm>
            <a:off x="7132320" y="1645920"/>
            <a:ext cx="1417320" cy="1325880"/>
          </a:xfrm>
          <a:prstGeom prst="rect">
            <a:avLst/>
          </a:prstGeom>
          <a:noFill/>
          <a:ln/>
        </p:spPr>
        <p:txBody>
          <a:bodyPr wrap="square" lIns="0" tIns="0" rIns="0" bIns="0" rtlCol="0" anchor="t"/>
          <a:lstStyle/>
          <a:p>
            <a:pPr indent="0" marL="0">
              <a:buNone/>
            </a:pPr>
            <a:r>
              <a:rPr lang="en-US" sz="1300" dirty="0">
                <a:solidFill>
                  <a:srgbClr val="111111"/>
                </a:solidFill>
              </a:rPr>
              <a:t>Gestiona menú, premios y promociones, y ve indicadores.</a:t>
            </a:r>
            <a:endParaRPr lang="en-US" sz="1300" dirty="0"/>
          </a:p>
        </p:txBody>
      </p:sp>
      <p:sp>
        <p:nvSpPr>
          <p:cNvPr id="18" name="Shape 13"/>
          <p:cNvSpPr/>
          <p:nvPr/>
        </p:nvSpPr>
        <p:spPr>
          <a:xfrm>
            <a:off x="457200" y="3246120"/>
            <a:ext cx="8229600" cy="1280160"/>
          </a:xfrm>
          <a:prstGeom prst="roundRect">
            <a:avLst>
              <a:gd name="adj" fmla="val 5714"/>
            </a:avLst>
          </a:prstGeom>
          <a:solidFill>
            <a:srgbClr val="111111"/>
          </a:solidFill>
          <a:ln w="12700">
            <a:solidFill>
              <a:srgbClr val="111111"/>
            </a:solidFill>
            <a:prstDash val="solid"/>
          </a:ln>
        </p:spPr>
      </p:sp>
      <p:sp>
        <p:nvSpPr>
          <p:cNvPr id="19" name="Text 14"/>
          <p:cNvSpPr txBox="1"/>
          <p:nvPr/>
        </p:nvSpPr>
        <p:spPr>
          <a:xfrm>
            <a:off x="685800" y="3364992"/>
            <a:ext cx="3657600" cy="274320"/>
          </a:xfrm>
          <a:prstGeom prst="rect">
            <a:avLst/>
          </a:prstGeom>
          <a:noFill/>
          <a:ln/>
        </p:spPr>
        <p:txBody>
          <a:bodyPr wrap="square" lIns="0" tIns="0" rIns="0" bIns="0" rtlCol="0" anchor="t"/>
          <a:lstStyle/>
          <a:p>
            <a:pPr indent="0" marL="0">
              <a:buNone/>
            </a:pPr>
            <a:r>
              <a:rPr lang="en-US" sz="1400" b="1" dirty="0">
                <a:solidFill>
                  <a:srgbClr val="F5C400"/>
                </a:solidFill>
              </a:rPr>
              <a:t>Cómo se registra una visita</a:t>
            </a:r>
            <a:endParaRPr lang="en-US" sz="1400" dirty="0"/>
          </a:p>
        </p:txBody>
      </p:sp>
      <p:sp>
        <p:nvSpPr>
          <p:cNvPr id="20" name="Shape 15"/>
          <p:cNvSpPr/>
          <p:nvPr/>
        </p:nvSpPr>
        <p:spPr>
          <a:xfrm>
            <a:off x="685800" y="3767328"/>
            <a:ext cx="365760" cy="365760"/>
          </a:xfrm>
          <a:prstGeom prst="ellipse">
            <a:avLst/>
          </a:prstGeom>
          <a:solidFill>
            <a:srgbClr val="F5C400"/>
          </a:solidFill>
          <a:ln w="12700">
            <a:solidFill>
              <a:srgbClr val="F5C400"/>
            </a:solidFill>
            <a:prstDash val="solid"/>
          </a:ln>
        </p:spPr>
      </p:sp>
      <p:sp>
        <p:nvSpPr>
          <p:cNvPr id="21" name="Text 16"/>
          <p:cNvSpPr txBox="1"/>
          <p:nvPr/>
        </p:nvSpPr>
        <p:spPr>
          <a:xfrm>
            <a:off x="685800" y="3767328"/>
            <a:ext cx="365760" cy="365760"/>
          </a:xfrm>
          <a:prstGeom prst="rect">
            <a:avLst/>
          </a:prstGeom>
          <a:noFill/>
          <a:ln/>
        </p:spPr>
        <p:txBody>
          <a:bodyPr wrap="square" lIns="0" tIns="0" rIns="0" bIns="0" rtlCol="0" anchor="ctr"/>
          <a:lstStyle/>
          <a:p>
            <a:pPr algn="ctr" indent="0" marL="0">
              <a:buNone/>
            </a:pPr>
            <a:r>
              <a:rPr lang="en-US" sz="1400" b="1" dirty="0">
                <a:solidFill>
                  <a:srgbClr val="111111"/>
                </a:solidFill>
              </a:rPr>
              <a:t>1</a:t>
            </a:r>
            <a:endParaRPr lang="en-US" sz="1400" dirty="0"/>
          </a:p>
        </p:txBody>
      </p:sp>
      <p:sp>
        <p:nvSpPr>
          <p:cNvPr id="22" name="Text 17"/>
          <p:cNvSpPr txBox="1"/>
          <p:nvPr/>
        </p:nvSpPr>
        <p:spPr>
          <a:xfrm>
            <a:off x="1143000" y="3703320"/>
            <a:ext cx="1417320" cy="731520"/>
          </a:xfrm>
          <a:prstGeom prst="rect">
            <a:avLst/>
          </a:prstGeom>
          <a:noFill/>
          <a:ln/>
        </p:spPr>
        <p:txBody>
          <a:bodyPr wrap="square" lIns="0" tIns="0" rIns="0" bIns="0" rtlCol="0" anchor="ctr"/>
          <a:lstStyle/>
          <a:p>
            <a:pPr indent="0" marL="0">
              <a:buNone/>
            </a:pPr>
            <a:r>
              <a:rPr lang="en-US" sz="1200" dirty="0">
                <a:solidFill>
                  <a:srgbClr val="FFFFFF"/>
                </a:solidFill>
              </a:rPr>
              <a:t>El cliente abre su QR: dura 3 minutos y sirve una vez</a:t>
            </a:r>
            <a:endParaRPr lang="en-US" sz="1200" dirty="0"/>
          </a:p>
        </p:txBody>
      </p:sp>
      <p:sp>
        <p:nvSpPr>
          <p:cNvPr id="23" name="Shape 18"/>
          <p:cNvSpPr/>
          <p:nvPr/>
        </p:nvSpPr>
        <p:spPr>
          <a:xfrm>
            <a:off x="2697480" y="3767328"/>
            <a:ext cx="365760" cy="365760"/>
          </a:xfrm>
          <a:prstGeom prst="ellipse">
            <a:avLst/>
          </a:prstGeom>
          <a:solidFill>
            <a:srgbClr val="F5C400"/>
          </a:solidFill>
          <a:ln w="12700">
            <a:solidFill>
              <a:srgbClr val="F5C400"/>
            </a:solidFill>
            <a:prstDash val="solid"/>
          </a:ln>
        </p:spPr>
      </p:sp>
      <p:sp>
        <p:nvSpPr>
          <p:cNvPr id="24" name="Text 19"/>
          <p:cNvSpPr txBox="1"/>
          <p:nvPr/>
        </p:nvSpPr>
        <p:spPr>
          <a:xfrm>
            <a:off x="2697480" y="3767328"/>
            <a:ext cx="365760" cy="365760"/>
          </a:xfrm>
          <a:prstGeom prst="rect">
            <a:avLst/>
          </a:prstGeom>
          <a:noFill/>
          <a:ln/>
        </p:spPr>
        <p:txBody>
          <a:bodyPr wrap="square" lIns="0" tIns="0" rIns="0" bIns="0" rtlCol="0" anchor="ctr"/>
          <a:lstStyle/>
          <a:p>
            <a:pPr algn="ctr" indent="0" marL="0">
              <a:buNone/>
            </a:pPr>
            <a:r>
              <a:rPr lang="en-US" sz="1400" b="1" dirty="0">
                <a:solidFill>
                  <a:srgbClr val="111111"/>
                </a:solidFill>
              </a:rPr>
              <a:t>2</a:t>
            </a:r>
            <a:endParaRPr lang="en-US" sz="1400" dirty="0"/>
          </a:p>
        </p:txBody>
      </p:sp>
      <p:sp>
        <p:nvSpPr>
          <p:cNvPr id="25" name="Text 20"/>
          <p:cNvSpPr txBox="1"/>
          <p:nvPr/>
        </p:nvSpPr>
        <p:spPr>
          <a:xfrm>
            <a:off x="3154680" y="3703320"/>
            <a:ext cx="1417320" cy="731520"/>
          </a:xfrm>
          <a:prstGeom prst="rect">
            <a:avLst/>
          </a:prstGeom>
          <a:noFill/>
          <a:ln/>
        </p:spPr>
        <p:txBody>
          <a:bodyPr wrap="square" lIns="0" tIns="0" rIns="0" bIns="0" rtlCol="0" anchor="ctr"/>
          <a:lstStyle/>
          <a:p>
            <a:pPr indent="0" marL="0">
              <a:buNone/>
            </a:pPr>
            <a:r>
              <a:rPr lang="en-US" sz="1200" dirty="0">
                <a:solidFill>
                  <a:srgbClr val="FFFFFF"/>
                </a:solidFill>
              </a:rPr>
              <a:t>El mesero lo escanea</a:t>
            </a:r>
            <a:endParaRPr lang="en-US" sz="1200" dirty="0"/>
          </a:p>
        </p:txBody>
      </p:sp>
      <p:sp>
        <p:nvSpPr>
          <p:cNvPr id="26" name="Shape 21"/>
          <p:cNvSpPr/>
          <p:nvPr/>
        </p:nvSpPr>
        <p:spPr>
          <a:xfrm>
            <a:off x="4709160" y="3767328"/>
            <a:ext cx="365760" cy="365760"/>
          </a:xfrm>
          <a:prstGeom prst="ellipse">
            <a:avLst/>
          </a:prstGeom>
          <a:solidFill>
            <a:srgbClr val="F5C400"/>
          </a:solidFill>
          <a:ln w="12700">
            <a:solidFill>
              <a:srgbClr val="F5C400"/>
            </a:solidFill>
            <a:prstDash val="solid"/>
          </a:ln>
        </p:spPr>
      </p:sp>
      <p:sp>
        <p:nvSpPr>
          <p:cNvPr id="27" name="Text 22"/>
          <p:cNvSpPr txBox="1"/>
          <p:nvPr/>
        </p:nvSpPr>
        <p:spPr>
          <a:xfrm>
            <a:off x="4709160" y="3767328"/>
            <a:ext cx="365760" cy="365760"/>
          </a:xfrm>
          <a:prstGeom prst="rect">
            <a:avLst/>
          </a:prstGeom>
          <a:noFill/>
          <a:ln/>
        </p:spPr>
        <p:txBody>
          <a:bodyPr wrap="square" lIns="0" tIns="0" rIns="0" bIns="0" rtlCol="0" anchor="ctr"/>
          <a:lstStyle/>
          <a:p>
            <a:pPr algn="ctr" indent="0" marL="0">
              <a:buNone/>
            </a:pPr>
            <a:r>
              <a:rPr lang="en-US" sz="1400" b="1" dirty="0">
                <a:solidFill>
                  <a:srgbClr val="111111"/>
                </a:solidFill>
              </a:rPr>
              <a:t>3</a:t>
            </a:r>
            <a:endParaRPr lang="en-US" sz="1400" dirty="0"/>
          </a:p>
        </p:txBody>
      </p:sp>
      <p:sp>
        <p:nvSpPr>
          <p:cNvPr id="28" name="Text 23"/>
          <p:cNvSpPr txBox="1"/>
          <p:nvPr/>
        </p:nvSpPr>
        <p:spPr>
          <a:xfrm>
            <a:off x="5166360" y="3703320"/>
            <a:ext cx="1417320" cy="731520"/>
          </a:xfrm>
          <a:prstGeom prst="rect">
            <a:avLst/>
          </a:prstGeom>
          <a:noFill/>
          <a:ln/>
        </p:spPr>
        <p:txBody>
          <a:bodyPr wrap="square" lIns="0" tIns="0" rIns="0" bIns="0" rtlCol="0" anchor="ctr"/>
          <a:lstStyle/>
          <a:p>
            <a:pPr indent="0" marL="0">
              <a:buNone/>
            </a:pPr>
            <a:r>
              <a:rPr lang="en-US" sz="1200" dirty="0">
                <a:solidFill>
                  <a:srgbClr val="FFFFFF"/>
                </a:solidFill>
              </a:rPr>
              <a:t>El servidor lo valida y suma la visita</a:t>
            </a:r>
            <a:endParaRPr lang="en-US" sz="1200" dirty="0"/>
          </a:p>
        </p:txBody>
      </p:sp>
      <p:sp>
        <p:nvSpPr>
          <p:cNvPr id="29" name="Shape 24"/>
          <p:cNvSpPr/>
          <p:nvPr/>
        </p:nvSpPr>
        <p:spPr>
          <a:xfrm>
            <a:off x="6720840" y="3767328"/>
            <a:ext cx="365760" cy="365760"/>
          </a:xfrm>
          <a:prstGeom prst="ellipse">
            <a:avLst/>
          </a:prstGeom>
          <a:solidFill>
            <a:srgbClr val="F5C400"/>
          </a:solidFill>
          <a:ln w="12700">
            <a:solidFill>
              <a:srgbClr val="F5C400"/>
            </a:solidFill>
            <a:prstDash val="solid"/>
          </a:ln>
        </p:spPr>
      </p:sp>
      <p:sp>
        <p:nvSpPr>
          <p:cNvPr id="30" name="Text 25"/>
          <p:cNvSpPr txBox="1"/>
          <p:nvPr/>
        </p:nvSpPr>
        <p:spPr>
          <a:xfrm>
            <a:off x="6720840" y="3767328"/>
            <a:ext cx="365760" cy="365760"/>
          </a:xfrm>
          <a:prstGeom prst="rect">
            <a:avLst/>
          </a:prstGeom>
          <a:noFill/>
          <a:ln/>
        </p:spPr>
        <p:txBody>
          <a:bodyPr wrap="square" lIns="0" tIns="0" rIns="0" bIns="0" rtlCol="0" anchor="ctr"/>
          <a:lstStyle/>
          <a:p>
            <a:pPr algn="ctr" indent="0" marL="0">
              <a:buNone/>
            </a:pPr>
            <a:r>
              <a:rPr lang="en-US" sz="1400" b="1" dirty="0">
                <a:solidFill>
                  <a:srgbClr val="111111"/>
                </a:solidFill>
              </a:rPr>
              <a:t>4</a:t>
            </a:r>
            <a:endParaRPr lang="en-US" sz="1400" dirty="0"/>
          </a:p>
        </p:txBody>
      </p:sp>
      <p:sp>
        <p:nvSpPr>
          <p:cNvPr id="31" name="Text 26"/>
          <p:cNvSpPr txBox="1"/>
          <p:nvPr/>
        </p:nvSpPr>
        <p:spPr>
          <a:xfrm>
            <a:off x="7178040" y="3703320"/>
            <a:ext cx="1417320" cy="731520"/>
          </a:xfrm>
          <a:prstGeom prst="rect">
            <a:avLst/>
          </a:prstGeom>
          <a:noFill/>
          <a:ln/>
        </p:spPr>
        <p:txBody>
          <a:bodyPr wrap="square" lIns="0" tIns="0" rIns="0" bIns="0" rtlCol="0" anchor="ctr"/>
          <a:lstStyle/>
          <a:p>
            <a:pPr indent="0" marL="0">
              <a:buNone/>
            </a:pPr>
            <a:r>
              <a:rPr lang="en-US" sz="1200" dirty="0">
                <a:solidFill>
                  <a:srgbClr val="FFFFFF"/>
                </a:solidFill>
              </a:rPr>
              <a:t>Al llegar a la meta, canjea su premio</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600" b="1" dirty="0">
                <a:solidFill>
                  <a:srgbClr val="111111"/>
                </a:solidFill>
                <a:latin typeface="Arial" pitchFamily="34" charset="0"/>
                <a:ea typeface="Arial" pitchFamily="34" charset="-122"/>
                <a:cs typeface="Arial" pitchFamily="34" charset="-120"/>
              </a:rPr>
              <a:t>Requisitos del sistema</a:t>
            </a:r>
            <a:endParaRPr lang="en-US" sz="2600" dirty="0"/>
          </a:p>
        </p:txBody>
      </p:sp>
      <p:sp>
        <p:nvSpPr>
          <p:cNvPr id="3" name="Shape 1"/>
          <p:cNvSpPr/>
          <p:nvPr/>
        </p:nvSpPr>
        <p:spPr>
          <a:xfrm>
            <a:off x="457200" y="1005840"/>
            <a:ext cx="4023360" cy="3429000"/>
          </a:xfrm>
          <a:prstGeom prst="roundRect">
            <a:avLst>
              <a:gd name="adj" fmla="val 2133"/>
            </a:avLst>
          </a:prstGeom>
          <a:solidFill>
            <a:srgbClr val="F2F2F2"/>
          </a:solidFill>
          <a:ln w="12700">
            <a:solidFill>
              <a:srgbClr val="F2F2F2"/>
            </a:solidFill>
            <a:prstDash val="solid"/>
          </a:ln>
        </p:spPr>
      </p:sp>
      <p:sp>
        <p:nvSpPr>
          <p:cNvPr id="4" name="Text 2"/>
          <p:cNvSpPr txBox="1"/>
          <p:nvPr/>
        </p:nvSpPr>
        <p:spPr>
          <a:xfrm>
            <a:off x="685800" y="1097280"/>
            <a:ext cx="3566160" cy="347472"/>
          </a:xfrm>
          <a:prstGeom prst="rect">
            <a:avLst/>
          </a:prstGeom>
          <a:noFill/>
          <a:ln/>
        </p:spPr>
        <p:txBody>
          <a:bodyPr wrap="square" lIns="0" tIns="0" rIns="0" bIns="0" rtlCol="0" anchor="t"/>
          <a:lstStyle/>
          <a:p>
            <a:pPr indent="0" marL="0">
              <a:buNone/>
            </a:pPr>
            <a:r>
              <a:rPr lang="en-US" sz="1600" b="1" dirty="0">
                <a:solidFill>
                  <a:srgbClr val="111111"/>
                </a:solidFill>
                <a:latin typeface="Arial" pitchFamily="34" charset="0"/>
                <a:ea typeface="Arial" pitchFamily="34" charset="-122"/>
                <a:cs typeface="Arial" pitchFamily="34" charset="-120"/>
              </a:rPr>
              <a:t>Funcionales</a:t>
            </a:r>
            <a:endParaRPr lang="en-US" sz="1600" dirty="0"/>
          </a:p>
        </p:txBody>
      </p:sp>
      <p:sp>
        <p:nvSpPr>
          <p:cNvPr id="5" name="Text 3"/>
          <p:cNvSpPr txBox="1"/>
          <p:nvPr/>
        </p:nvSpPr>
        <p:spPr>
          <a:xfrm>
            <a:off x="685800" y="1536192"/>
            <a:ext cx="502920" cy="411480"/>
          </a:xfrm>
          <a:prstGeom prst="rect">
            <a:avLst/>
          </a:prstGeom>
          <a:noFill/>
          <a:ln/>
        </p:spPr>
        <p:txBody>
          <a:bodyPr wrap="square" lIns="0" tIns="0" rIns="0" bIns="0" rtlCol="0" anchor="ctr"/>
          <a:lstStyle/>
          <a:p>
            <a:pPr indent="0" marL="0">
              <a:buNone/>
            </a:pPr>
            <a:r>
              <a:rPr lang="en-US" sz="1200" b="1" dirty="0">
                <a:solidFill>
                  <a:srgbClr val="111111"/>
                </a:solidFill>
              </a:rPr>
              <a:t>RF-01</a:t>
            </a:r>
            <a:endParaRPr lang="en-US" sz="1200" dirty="0"/>
          </a:p>
        </p:txBody>
      </p:sp>
      <p:sp>
        <p:nvSpPr>
          <p:cNvPr id="6" name="Text 4"/>
          <p:cNvSpPr txBox="1"/>
          <p:nvPr/>
        </p:nvSpPr>
        <p:spPr>
          <a:xfrm>
            <a:off x="1188720" y="1536192"/>
            <a:ext cx="2286000" cy="411480"/>
          </a:xfrm>
          <a:prstGeom prst="rect">
            <a:avLst/>
          </a:prstGeom>
          <a:noFill/>
          <a:ln/>
        </p:spPr>
        <p:txBody>
          <a:bodyPr wrap="square" lIns="0" tIns="0" rIns="0" bIns="0" rtlCol="0" anchor="ctr"/>
          <a:lstStyle/>
          <a:p>
            <a:pPr indent="0" marL="0">
              <a:buNone/>
            </a:pPr>
            <a:r>
              <a:rPr lang="en-US" sz="1200" dirty="0">
                <a:solidFill>
                  <a:srgbClr val="111111"/>
                </a:solidFill>
              </a:rPr>
              <a:t>Registro e inicio de sesión con correo</a:t>
            </a:r>
            <a:endParaRPr lang="en-US" sz="1200" dirty="0"/>
          </a:p>
        </p:txBody>
      </p:sp>
      <p:sp>
        <p:nvSpPr>
          <p:cNvPr id="7" name="Shape 5"/>
          <p:cNvSpPr/>
          <p:nvPr/>
        </p:nvSpPr>
        <p:spPr>
          <a:xfrm>
            <a:off x="3547872" y="1623060"/>
            <a:ext cx="777240" cy="237744"/>
          </a:xfrm>
          <a:prstGeom prst="roundRect">
            <a:avLst>
              <a:gd name="adj" fmla="val 50000"/>
            </a:avLst>
          </a:prstGeom>
          <a:solidFill>
            <a:srgbClr val="111111"/>
          </a:solidFill>
          <a:ln w="12700">
            <a:solidFill>
              <a:srgbClr val="111111"/>
            </a:solidFill>
            <a:prstDash val="solid"/>
          </a:ln>
        </p:spPr>
      </p:sp>
      <p:sp>
        <p:nvSpPr>
          <p:cNvPr id="8" name="Text 6"/>
          <p:cNvSpPr txBox="1"/>
          <p:nvPr/>
        </p:nvSpPr>
        <p:spPr>
          <a:xfrm>
            <a:off x="3547872" y="1623060"/>
            <a:ext cx="777240" cy="237744"/>
          </a:xfrm>
          <a:prstGeom prst="rect">
            <a:avLst/>
          </a:prstGeom>
          <a:noFill/>
          <a:ln/>
        </p:spPr>
        <p:txBody>
          <a:bodyPr wrap="square" lIns="0" tIns="0" rIns="0" bIns="0" rtlCol="0" anchor="ctr"/>
          <a:lstStyle/>
          <a:p>
            <a:pPr algn="ctr" indent="0" marL="0">
              <a:buNone/>
            </a:pPr>
            <a:r>
              <a:rPr lang="en-US" sz="1000" b="1" dirty="0">
                <a:solidFill>
                  <a:srgbClr val="F5C400"/>
                </a:solidFill>
              </a:rPr>
              <a:t>Listo</a:t>
            </a:r>
            <a:endParaRPr lang="en-US" sz="1000" dirty="0"/>
          </a:p>
        </p:txBody>
      </p:sp>
      <p:sp>
        <p:nvSpPr>
          <p:cNvPr id="9" name="Text 7"/>
          <p:cNvSpPr txBox="1"/>
          <p:nvPr/>
        </p:nvSpPr>
        <p:spPr>
          <a:xfrm>
            <a:off x="685800" y="2011680"/>
            <a:ext cx="502920" cy="411480"/>
          </a:xfrm>
          <a:prstGeom prst="rect">
            <a:avLst/>
          </a:prstGeom>
          <a:noFill/>
          <a:ln/>
        </p:spPr>
        <p:txBody>
          <a:bodyPr wrap="square" lIns="0" tIns="0" rIns="0" bIns="0" rtlCol="0" anchor="ctr"/>
          <a:lstStyle/>
          <a:p>
            <a:pPr indent="0" marL="0">
              <a:buNone/>
            </a:pPr>
            <a:r>
              <a:rPr lang="en-US" sz="1200" b="1" dirty="0">
                <a:solidFill>
                  <a:srgbClr val="111111"/>
                </a:solidFill>
              </a:rPr>
              <a:t>RF-03</a:t>
            </a:r>
            <a:endParaRPr lang="en-US" sz="1200" dirty="0"/>
          </a:p>
        </p:txBody>
      </p:sp>
      <p:sp>
        <p:nvSpPr>
          <p:cNvPr id="10" name="Text 8"/>
          <p:cNvSpPr txBox="1"/>
          <p:nvPr/>
        </p:nvSpPr>
        <p:spPr>
          <a:xfrm>
            <a:off x="1188720" y="2011680"/>
            <a:ext cx="2286000" cy="411480"/>
          </a:xfrm>
          <a:prstGeom prst="rect">
            <a:avLst/>
          </a:prstGeom>
          <a:noFill/>
          <a:ln/>
        </p:spPr>
        <p:txBody>
          <a:bodyPr wrap="square" lIns="0" tIns="0" rIns="0" bIns="0" rtlCol="0" anchor="ctr"/>
          <a:lstStyle/>
          <a:p>
            <a:pPr indent="0" marL="0">
              <a:buNone/>
            </a:pPr>
            <a:r>
              <a:rPr lang="en-US" sz="1200" dirty="0">
                <a:solidFill>
                  <a:srgbClr val="111111"/>
                </a:solidFill>
              </a:rPr>
              <a:t>Tarjeta de socio con el avance hacia el premio</a:t>
            </a:r>
            <a:endParaRPr lang="en-US" sz="1200" dirty="0"/>
          </a:p>
        </p:txBody>
      </p:sp>
      <p:sp>
        <p:nvSpPr>
          <p:cNvPr id="11" name="Shape 9"/>
          <p:cNvSpPr/>
          <p:nvPr/>
        </p:nvSpPr>
        <p:spPr>
          <a:xfrm>
            <a:off x="3547872" y="2098548"/>
            <a:ext cx="777240" cy="237744"/>
          </a:xfrm>
          <a:prstGeom prst="roundRect">
            <a:avLst>
              <a:gd name="adj" fmla="val 50000"/>
            </a:avLst>
          </a:prstGeom>
          <a:solidFill>
            <a:srgbClr val="111111"/>
          </a:solidFill>
          <a:ln w="12700">
            <a:solidFill>
              <a:srgbClr val="111111"/>
            </a:solidFill>
            <a:prstDash val="solid"/>
          </a:ln>
        </p:spPr>
      </p:sp>
      <p:sp>
        <p:nvSpPr>
          <p:cNvPr id="12" name="Text 10"/>
          <p:cNvSpPr txBox="1"/>
          <p:nvPr/>
        </p:nvSpPr>
        <p:spPr>
          <a:xfrm>
            <a:off x="3547872" y="2098548"/>
            <a:ext cx="777240" cy="237744"/>
          </a:xfrm>
          <a:prstGeom prst="rect">
            <a:avLst/>
          </a:prstGeom>
          <a:noFill/>
          <a:ln/>
        </p:spPr>
        <p:txBody>
          <a:bodyPr wrap="square" lIns="0" tIns="0" rIns="0" bIns="0" rtlCol="0" anchor="ctr"/>
          <a:lstStyle/>
          <a:p>
            <a:pPr algn="ctr" indent="0" marL="0">
              <a:buNone/>
            </a:pPr>
            <a:r>
              <a:rPr lang="en-US" sz="1000" b="1" dirty="0">
                <a:solidFill>
                  <a:srgbClr val="F5C400"/>
                </a:solidFill>
              </a:rPr>
              <a:t>Listo</a:t>
            </a:r>
            <a:endParaRPr lang="en-US" sz="1000" dirty="0"/>
          </a:p>
        </p:txBody>
      </p:sp>
      <p:sp>
        <p:nvSpPr>
          <p:cNvPr id="13" name="Text 11"/>
          <p:cNvSpPr txBox="1"/>
          <p:nvPr/>
        </p:nvSpPr>
        <p:spPr>
          <a:xfrm>
            <a:off x="685800" y="2487168"/>
            <a:ext cx="502920" cy="411480"/>
          </a:xfrm>
          <a:prstGeom prst="rect">
            <a:avLst/>
          </a:prstGeom>
          <a:noFill/>
          <a:ln/>
        </p:spPr>
        <p:txBody>
          <a:bodyPr wrap="square" lIns="0" tIns="0" rIns="0" bIns="0" rtlCol="0" anchor="ctr"/>
          <a:lstStyle/>
          <a:p>
            <a:pPr indent="0" marL="0">
              <a:buNone/>
            </a:pPr>
            <a:r>
              <a:rPr lang="en-US" sz="1200" b="1" dirty="0">
                <a:solidFill>
                  <a:srgbClr val="111111"/>
                </a:solidFill>
              </a:rPr>
              <a:t>RF-04</a:t>
            </a:r>
            <a:endParaRPr lang="en-US" sz="1200" dirty="0"/>
          </a:p>
        </p:txBody>
      </p:sp>
      <p:sp>
        <p:nvSpPr>
          <p:cNvPr id="14" name="Text 12"/>
          <p:cNvSpPr txBox="1"/>
          <p:nvPr/>
        </p:nvSpPr>
        <p:spPr>
          <a:xfrm>
            <a:off x="1188720" y="2487168"/>
            <a:ext cx="2286000" cy="411480"/>
          </a:xfrm>
          <a:prstGeom prst="rect">
            <a:avLst/>
          </a:prstGeom>
          <a:noFill/>
          <a:ln/>
        </p:spPr>
        <p:txBody>
          <a:bodyPr wrap="square" lIns="0" tIns="0" rIns="0" bIns="0" rtlCol="0" anchor="ctr"/>
          <a:lstStyle/>
          <a:p>
            <a:pPr indent="0" marL="0">
              <a:buNone/>
            </a:pPr>
            <a:r>
              <a:rPr lang="en-US" sz="1200" dirty="0">
                <a:solidFill>
                  <a:srgbClr val="111111"/>
                </a:solidFill>
              </a:rPr>
              <a:t>QR personal de 3 minutos y un solo uso</a:t>
            </a:r>
            <a:endParaRPr lang="en-US" sz="1200" dirty="0"/>
          </a:p>
        </p:txBody>
      </p:sp>
      <p:sp>
        <p:nvSpPr>
          <p:cNvPr id="15" name="Shape 13"/>
          <p:cNvSpPr/>
          <p:nvPr/>
        </p:nvSpPr>
        <p:spPr>
          <a:xfrm>
            <a:off x="3547872" y="2574036"/>
            <a:ext cx="777240" cy="237744"/>
          </a:xfrm>
          <a:prstGeom prst="roundRect">
            <a:avLst>
              <a:gd name="adj" fmla="val 50000"/>
            </a:avLst>
          </a:prstGeom>
          <a:solidFill>
            <a:srgbClr val="111111"/>
          </a:solidFill>
          <a:ln w="12700">
            <a:solidFill>
              <a:srgbClr val="111111"/>
            </a:solidFill>
            <a:prstDash val="solid"/>
          </a:ln>
        </p:spPr>
      </p:sp>
      <p:sp>
        <p:nvSpPr>
          <p:cNvPr id="16" name="Text 14"/>
          <p:cNvSpPr txBox="1"/>
          <p:nvPr/>
        </p:nvSpPr>
        <p:spPr>
          <a:xfrm>
            <a:off x="3547872" y="2574036"/>
            <a:ext cx="777240" cy="237744"/>
          </a:xfrm>
          <a:prstGeom prst="rect">
            <a:avLst/>
          </a:prstGeom>
          <a:noFill/>
          <a:ln/>
        </p:spPr>
        <p:txBody>
          <a:bodyPr wrap="square" lIns="0" tIns="0" rIns="0" bIns="0" rtlCol="0" anchor="ctr"/>
          <a:lstStyle/>
          <a:p>
            <a:pPr algn="ctr" indent="0" marL="0">
              <a:buNone/>
            </a:pPr>
            <a:r>
              <a:rPr lang="en-US" sz="1000" b="1" dirty="0">
                <a:solidFill>
                  <a:srgbClr val="F5C400"/>
                </a:solidFill>
              </a:rPr>
              <a:t>Listo</a:t>
            </a:r>
            <a:endParaRPr lang="en-US" sz="1000" dirty="0"/>
          </a:p>
        </p:txBody>
      </p:sp>
      <p:sp>
        <p:nvSpPr>
          <p:cNvPr id="17" name="Text 15"/>
          <p:cNvSpPr txBox="1"/>
          <p:nvPr/>
        </p:nvSpPr>
        <p:spPr>
          <a:xfrm>
            <a:off x="685800" y="2962656"/>
            <a:ext cx="502920" cy="411480"/>
          </a:xfrm>
          <a:prstGeom prst="rect">
            <a:avLst/>
          </a:prstGeom>
          <a:noFill/>
          <a:ln/>
        </p:spPr>
        <p:txBody>
          <a:bodyPr wrap="square" lIns="0" tIns="0" rIns="0" bIns="0" rtlCol="0" anchor="ctr"/>
          <a:lstStyle/>
          <a:p>
            <a:pPr indent="0" marL="0">
              <a:buNone/>
            </a:pPr>
            <a:r>
              <a:rPr lang="en-US" sz="1200" b="1" dirty="0">
                <a:solidFill>
                  <a:srgbClr val="111111"/>
                </a:solidFill>
              </a:rPr>
              <a:t>RF-05</a:t>
            </a:r>
            <a:endParaRPr lang="en-US" sz="1200" dirty="0"/>
          </a:p>
        </p:txBody>
      </p:sp>
      <p:sp>
        <p:nvSpPr>
          <p:cNvPr id="18" name="Text 16"/>
          <p:cNvSpPr txBox="1"/>
          <p:nvPr/>
        </p:nvSpPr>
        <p:spPr>
          <a:xfrm>
            <a:off x="1188720" y="2962656"/>
            <a:ext cx="2286000" cy="411480"/>
          </a:xfrm>
          <a:prstGeom prst="rect">
            <a:avLst/>
          </a:prstGeom>
          <a:noFill/>
          <a:ln/>
        </p:spPr>
        <p:txBody>
          <a:bodyPr wrap="square" lIns="0" tIns="0" rIns="0" bIns="0" rtlCol="0" anchor="ctr"/>
          <a:lstStyle/>
          <a:p>
            <a:pPr indent="0" marL="0">
              <a:buNone/>
            </a:pPr>
            <a:r>
              <a:rPr lang="en-US" sz="1200" dirty="0">
                <a:solidFill>
                  <a:srgbClr val="111111"/>
                </a:solidFill>
              </a:rPr>
              <a:t>Escaneo del personal para sumar visitas</a:t>
            </a:r>
            <a:endParaRPr lang="en-US" sz="1200" dirty="0"/>
          </a:p>
        </p:txBody>
      </p:sp>
      <p:sp>
        <p:nvSpPr>
          <p:cNvPr id="19" name="Shape 17"/>
          <p:cNvSpPr/>
          <p:nvPr/>
        </p:nvSpPr>
        <p:spPr>
          <a:xfrm>
            <a:off x="3547872" y="3049524"/>
            <a:ext cx="777240" cy="237744"/>
          </a:xfrm>
          <a:prstGeom prst="roundRect">
            <a:avLst>
              <a:gd name="adj" fmla="val 50000"/>
            </a:avLst>
          </a:prstGeom>
          <a:solidFill>
            <a:srgbClr val="111111"/>
          </a:solidFill>
          <a:ln w="12700">
            <a:solidFill>
              <a:srgbClr val="111111"/>
            </a:solidFill>
            <a:prstDash val="solid"/>
          </a:ln>
        </p:spPr>
      </p:sp>
      <p:sp>
        <p:nvSpPr>
          <p:cNvPr id="20" name="Text 18"/>
          <p:cNvSpPr txBox="1"/>
          <p:nvPr/>
        </p:nvSpPr>
        <p:spPr>
          <a:xfrm>
            <a:off x="3547872" y="3049524"/>
            <a:ext cx="777240" cy="237744"/>
          </a:xfrm>
          <a:prstGeom prst="rect">
            <a:avLst/>
          </a:prstGeom>
          <a:noFill/>
          <a:ln/>
        </p:spPr>
        <p:txBody>
          <a:bodyPr wrap="square" lIns="0" tIns="0" rIns="0" bIns="0" rtlCol="0" anchor="ctr"/>
          <a:lstStyle/>
          <a:p>
            <a:pPr algn="ctr" indent="0" marL="0">
              <a:buNone/>
            </a:pPr>
            <a:r>
              <a:rPr lang="en-US" sz="1000" b="1" dirty="0">
                <a:solidFill>
                  <a:srgbClr val="F5C400"/>
                </a:solidFill>
              </a:rPr>
              <a:t>Listo</a:t>
            </a:r>
            <a:endParaRPr lang="en-US" sz="1000" dirty="0"/>
          </a:p>
        </p:txBody>
      </p:sp>
      <p:sp>
        <p:nvSpPr>
          <p:cNvPr id="21" name="Text 19"/>
          <p:cNvSpPr txBox="1"/>
          <p:nvPr/>
        </p:nvSpPr>
        <p:spPr>
          <a:xfrm>
            <a:off x="685800" y="3438144"/>
            <a:ext cx="502920" cy="411480"/>
          </a:xfrm>
          <a:prstGeom prst="rect">
            <a:avLst/>
          </a:prstGeom>
          <a:noFill/>
          <a:ln/>
        </p:spPr>
        <p:txBody>
          <a:bodyPr wrap="square" lIns="0" tIns="0" rIns="0" bIns="0" rtlCol="0" anchor="ctr"/>
          <a:lstStyle/>
          <a:p>
            <a:pPr indent="0" marL="0">
              <a:buNone/>
            </a:pPr>
            <a:r>
              <a:rPr lang="en-US" sz="1200" b="1" dirty="0">
                <a:solidFill>
                  <a:srgbClr val="111111"/>
                </a:solidFill>
              </a:rPr>
              <a:t>RF-06</a:t>
            </a:r>
            <a:endParaRPr lang="en-US" sz="1200" dirty="0"/>
          </a:p>
        </p:txBody>
      </p:sp>
      <p:sp>
        <p:nvSpPr>
          <p:cNvPr id="22" name="Text 20"/>
          <p:cNvSpPr txBox="1"/>
          <p:nvPr/>
        </p:nvSpPr>
        <p:spPr>
          <a:xfrm>
            <a:off x="1188720" y="3438144"/>
            <a:ext cx="2286000" cy="411480"/>
          </a:xfrm>
          <a:prstGeom prst="rect">
            <a:avLst/>
          </a:prstGeom>
          <a:noFill/>
          <a:ln/>
        </p:spPr>
        <p:txBody>
          <a:bodyPr wrap="square" lIns="0" tIns="0" rIns="0" bIns="0" rtlCol="0" anchor="ctr"/>
          <a:lstStyle/>
          <a:p>
            <a:pPr indent="0" marL="0">
              <a:buNone/>
            </a:pPr>
            <a:r>
              <a:rPr lang="en-US" sz="1200" dirty="0">
                <a:solidFill>
                  <a:srgbClr val="111111"/>
                </a:solidFill>
              </a:rPr>
              <a:t>Canje del premio en dos pasos</a:t>
            </a:r>
            <a:endParaRPr lang="en-US" sz="1200" dirty="0"/>
          </a:p>
        </p:txBody>
      </p:sp>
      <p:sp>
        <p:nvSpPr>
          <p:cNvPr id="23" name="Shape 21"/>
          <p:cNvSpPr/>
          <p:nvPr/>
        </p:nvSpPr>
        <p:spPr>
          <a:xfrm>
            <a:off x="3547872" y="3525012"/>
            <a:ext cx="777240" cy="237744"/>
          </a:xfrm>
          <a:prstGeom prst="roundRect">
            <a:avLst>
              <a:gd name="adj" fmla="val 50000"/>
            </a:avLst>
          </a:prstGeom>
          <a:solidFill>
            <a:srgbClr val="111111"/>
          </a:solidFill>
          <a:ln w="12700">
            <a:solidFill>
              <a:srgbClr val="111111"/>
            </a:solidFill>
            <a:prstDash val="solid"/>
          </a:ln>
        </p:spPr>
      </p:sp>
      <p:sp>
        <p:nvSpPr>
          <p:cNvPr id="24" name="Text 22"/>
          <p:cNvSpPr txBox="1"/>
          <p:nvPr/>
        </p:nvSpPr>
        <p:spPr>
          <a:xfrm>
            <a:off x="3547872" y="3525012"/>
            <a:ext cx="777240" cy="237744"/>
          </a:xfrm>
          <a:prstGeom prst="rect">
            <a:avLst/>
          </a:prstGeom>
          <a:noFill/>
          <a:ln/>
        </p:spPr>
        <p:txBody>
          <a:bodyPr wrap="square" lIns="0" tIns="0" rIns="0" bIns="0" rtlCol="0" anchor="ctr"/>
          <a:lstStyle/>
          <a:p>
            <a:pPr algn="ctr" indent="0" marL="0">
              <a:buNone/>
            </a:pPr>
            <a:r>
              <a:rPr lang="en-US" sz="1000" b="1" dirty="0">
                <a:solidFill>
                  <a:srgbClr val="F5C400"/>
                </a:solidFill>
              </a:rPr>
              <a:t>Listo</a:t>
            </a:r>
            <a:endParaRPr lang="en-US" sz="1000" dirty="0"/>
          </a:p>
        </p:txBody>
      </p:sp>
      <p:sp>
        <p:nvSpPr>
          <p:cNvPr id="25" name="Text 23"/>
          <p:cNvSpPr txBox="1"/>
          <p:nvPr/>
        </p:nvSpPr>
        <p:spPr>
          <a:xfrm>
            <a:off x="685800" y="3913632"/>
            <a:ext cx="502920" cy="411480"/>
          </a:xfrm>
          <a:prstGeom prst="rect">
            <a:avLst/>
          </a:prstGeom>
          <a:noFill/>
          <a:ln/>
        </p:spPr>
        <p:txBody>
          <a:bodyPr wrap="square" lIns="0" tIns="0" rIns="0" bIns="0" rtlCol="0" anchor="ctr"/>
          <a:lstStyle/>
          <a:p>
            <a:pPr indent="0" marL="0">
              <a:buNone/>
            </a:pPr>
            <a:r>
              <a:rPr lang="en-US" sz="1200" b="1" dirty="0">
                <a:solidFill>
                  <a:srgbClr val="111111"/>
                </a:solidFill>
              </a:rPr>
              <a:t>RF-08</a:t>
            </a:r>
            <a:endParaRPr lang="en-US" sz="1200" dirty="0"/>
          </a:p>
        </p:txBody>
      </p:sp>
      <p:sp>
        <p:nvSpPr>
          <p:cNvPr id="26" name="Text 24"/>
          <p:cNvSpPr txBox="1"/>
          <p:nvPr/>
        </p:nvSpPr>
        <p:spPr>
          <a:xfrm>
            <a:off x="1188720" y="3913632"/>
            <a:ext cx="2286000" cy="411480"/>
          </a:xfrm>
          <a:prstGeom prst="rect">
            <a:avLst/>
          </a:prstGeom>
          <a:noFill/>
          <a:ln/>
        </p:spPr>
        <p:txBody>
          <a:bodyPr wrap="square" lIns="0" tIns="0" rIns="0" bIns="0" rtlCol="0" anchor="ctr"/>
          <a:lstStyle/>
          <a:p>
            <a:pPr indent="0" marL="0">
              <a:buNone/>
            </a:pPr>
            <a:r>
              <a:rPr lang="en-US" sz="1200" dirty="0">
                <a:solidFill>
                  <a:srgbClr val="111111"/>
                </a:solidFill>
              </a:rPr>
              <a:t>Menú, premios y promociones editables</a:t>
            </a:r>
            <a:endParaRPr lang="en-US" sz="1200" dirty="0"/>
          </a:p>
        </p:txBody>
      </p:sp>
      <p:sp>
        <p:nvSpPr>
          <p:cNvPr id="27" name="Shape 25"/>
          <p:cNvSpPr/>
          <p:nvPr/>
        </p:nvSpPr>
        <p:spPr>
          <a:xfrm>
            <a:off x="3547872" y="4000500"/>
            <a:ext cx="777240" cy="237744"/>
          </a:xfrm>
          <a:prstGeom prst="roundRect">
            <a:avLst>
              <a:gd name="adj" fmla="val 50000"/>
            </a:avLst>
          </a:prstGeom>
          <a:solidFill>
            <a:srgbClr val="111111"/>
          </a:solidFill>
          <a:ln w="12700">
            <a:solidFill>
              <a:srgbClr val="111111"/>
            </a:solidFill>
            <a:prstDash val="solid"/>
          </a:ln>
        </p:spPr>
      </p:sp>
      <p:sp>
        <p:nvSpPr>
          <p:cNvPr id="28" name="Text 26"/>
          <p:cNvSpPr txBox="1"/>
          <p:nvPr/>
        </p:nvSpPr>
        <p:spPr>
          <a:xfrm>
            <a:off x="3547872" y="4000500"/>
            <a:ext cx="777240" cy="237744"/>
          </a:xfrm>
          <a:prstGeom prst="rect">
            <a:avLst/>
          </a:prstGeom>
          <a:noFill/>
          <a:ln/>
        </p:spPr>
        <p:txBody>
          <a:bodyPr wrap="square" lIns="0" tIns="0" rIns="0" bIns="0" rtlCol="0" anchor="ctr"/>
          <a:lstStyle/>
          <a:p>
            <a:pPr algn="ctr" indent="0" marL="0">
              <a:buNone/>
            </a:pPr>
            <a:r>
              <a:rPr lang="en-US" sz="1000" b="1" dirty="0">
                <a:solidFill>
                  <a:srgbClr val="F5C400"/>
                </a:solidFill>
              </a:rPr>
              <a:t>Listo</a:t>
            </a:r>
            <a:endParaRPr lang="en-US" sz="1000" dirty="0"/>
          </a:p>
        </p:txBody>
      </p:sp>
      <p:sp>
        <p:nvSpPr>
          <p:cNvPr id="29" name="Shape 27"/>
          <p:cNvSpPr/>
          <p:nvPr/>
        </p:nvSpPr>
        <p:spPr>
          <a:xfrm>
            <a:off x="4663440" y="1005840"/>
            <a:ext cx="4023360" cy="3429000"/>
          </a:xfrm>
          <a:prstGeom prst="roundRect">
            <a:avLst>
              <a:gd name="adj" fmla="val 2133"/>
            </a:avLst>
          </a:prstGeom>
          <a:solidFill>
            <a:srgbClr val="F2F2F2"/>
          </a:solidFill>
          <a:ln w="12700">
            <a:solidFill>
              <a:srgbClr val="F2F2F2"/>
            </a:solidFill>
            <a:prstDash val="solid"/>
          </a:ln>
        </p:spPr>
      </p:sp>
      <p:sp>
        <p:nvSpPr>
          <p:cNvPr id="30" name="Text 28"/>
          <p:cNvSpPr txBox="1"/>
          <p:nvPr/>
        </p:nvSpPr>
        <p:spPr>
          <a:xfrm>
            <a:off x="4892040" y="1097280"/>
            <a:ext cx="3566160" cy="347472"/>
          </a:xfrm>
          <a:prstGeom prst="rect">
            <a:avLst/>
          </a:prstGeom>
          <a:noFill/>
          <a:ln/>
        </p:spPr>
        <p:txBody>
          <a:bodyPr wrap="square" lIns="0" tIns="0" rIns="0" bIns="0" rtlCol="0" anchor="t"/>
          <a:lstStyle/>
          <a:p>
            <a:pPr indent="0" marL="0">
              <a:buNone/>
            </a:pPr>
            <a:r>
              <a:rPr lang="en-US" sz="1600" b="1" dirty="0">
                <a:solidFill>
                  <a:srgbClr val="111111"/>
                </a:solidFill>
                <a:latin typeface="Arial" pitchFamily="34" charset="0"/>
                <a:ea typeface="Arial" pitchFamily="34" charset="-122"/>
                <a:cs typeface="Arial" pitchFamily="34" charset="-120"/>
              </a:rPr>
              <a:t>No funcionales</a:t>
            </a:r>
            <a:endParaRPr lang="en-US" sz="1600" dirty="0"/>
          </a:p>
        </p:txBody>
      </p:sp>
      <p:sp>
        <p:nvSpPr>
          <p:cNvPr id="31" name="Text 29"/>
          <p:cNvSpPr txBox="1"/>
          <p:nvPr/>
        </p:nvSpPr>
        <p:spPr>
          <a:xfrm>
            <a:off x="4892040" y="1536192"/>
            <a:ext cx="502920" cy="411480"/>
          </a:xfrm>
          <a:prstGeom prst="rect">
            <a:avLst/>
          </a:prstGeom>
          <a:noFill/>
          <a:ln/>
        </p:spPr>
        <p:txBody>
          <a:bodyPr wrap="square" lIns="0" tIns="0" rIns="0" bIns="0" rtlCol="0" anchor="ctr"/>
          <a:lstStyle/>
          <a:p>
            <a:pPr indent="0" marL="0">
              <a:buNone/>
            </a:pPr>
            <a:r>
              <a:rPr lang="en-US" sz="1200" b="1" dirty="0">
                <a:solidFill>
                  <a:srgbClr val="111111"/>
                </a:solidFill>
              </a:rPr>
              <a:t>RNF-01</a:t>
            </a:r>
            <a:endParaRPr lang="en-US" sz="1200" dirty="0"/>
          </a:p>
        </p:txBody>
      </p:sp>
      <p:sp>
        <p:nvSpPr>
          <p:cNvPr id="32" name="Text 30"/>
          <p:cNvSpPr txBox="1"/>
          <p:nvPr/>
        </p:nvSpPr>
        <p:spPr>
          <a:xfrm>
            <a:off x="5394960" y="1536192"/>
            <a:ext cx="2286000" cy="411480"/>
          </a:xfrm>
          <a:prstGeom prst="rect">
            <a:avLst/>
          </a:prstGeom>
          <a:noFill/>
          <a:ln/>
        </p:spPr>
        <p:txBody>
          <a:bodyPr wrap="square" lIns="0" tIns="0" rIns="0" bIns="0" rtlCol="0" anchor="ctr"/>
          <a:lstStyle/>
          <a:p>
            <a:pPr indent="0" marL="0">
              <a:buNone/>
            </a:pPr>
            <a:r>
              <a:rPr lang="en-US" sz="1200" dirty="0">
                <a:solidFill>
                  <a:srgbClr val="111111"/>
                </a:solidFill>
              </a:rPr>
              <a:t>Seguridad: contraseñas cifradas y permisos por rol</a:t>
            </a:r>
            <a:endParaRPr lang="en-US" sz="1200" dirty="0"/>
          </a:p>
        </p:txBody>
      </p:sp>
      <p:sp>
        <p:nvSpPr>
          <p:cNvPr id="33" name="Shape 31"/>
          <p:cNvSpPr/>
          <p:nvPr/>
        </p:nvSpPr>
        <p:spPr>
          <a:xfrm>
            <a:off x="7754112" y="1623060"/>
            <a:ext cx="777240" cy="237744"/>
          </a:xfrm>
          <a:prstGeom prst="roundRect">
            <a:avLst>
              <a:gd name="adj" fmla="val 50000"/>
            </a:avLst>
          </a:prstGeom>
          <a:solidFill>
            <a:srgbClr val="111111"/>
          </a:solidFill>
          <a:ln w="12700">
            <a:solidFill>
              <a:srgbClr val="111111"/>
            </a:solidFill>
            <a:prstDash val="solid"/>
          </a:ln>
        </p:spPr>
      </p:sp>
      <p:sp>
        <p:nvSpPr>
          <p:cNvPr id="34" name="Text 32"/>
          <p:cNvSpPr txBox="1"/>
          <p:nvPr/>
        </p:nvSpPr>
        <p:spPr>
          <a:xfrm>
            <a:off x="7754112" y="1623060"/>
            <a:ext cx="777240" cy="237744"/>
          </a:xfrm>
          <a:prstGeom prst="rect">
            <a:avLst/>
          </a:prstGeom>
          <a:noFill/>
          <a:ln/>
        </p:spPr>
        <p:txBody>
          <a:bodyPr wrap="square" lIns="0" tIns="0" rIns="0" bIns="0" rtlCol="0" anchor="ctr"/>
          <a:lstStyle/>
          <a:p>
            <a:pPr algn="ctr" indent="0" marL="0">
              <a:buNone/>
            </a:pPr>
            <a:r>
              <a:rPr lang="en-US" sz="1000" b="1" dirty="0">
                <a:solidFill>
                  <a:srgbClr val="F5C400"/>
                </a:solidFill>
              </a:rPr>
              <a:t>Listo</a:t>
            </a:r>
            <a:endParaRPr lang="en-US" sz="1000" dirty="0"/>
          </a:p>
        </p:txBody>
      </p:sp>
      <p:sp>
        <p:nvSpPr>
          <p:cNvPr id="35" name="Text 33"/>
          <p:cNvSpPr txBox="1"/>
          <p:nvPr/>
        </p:nvSpPr>
        <p:spPr>
          <a:xfrm>
            <a:off x="4892040" y="2011680"/>
            <a:ext cx="502920" cy="411480"/>
          </a:xfrm>
          <a:prstGeom prst="rect">
            <a:avLst/>
          </a:prstGeom>
          <a:noFill/>
          <a:ln/>
        </p:spPr>
        <p:txBody>
          <a:bodyPr wrap="square" lIns="0" tIns="0" rIns="0" bIns="0" rtlCol="0" anchor="ctr"/>
          <a:lstStyle/>
          <a:p>
            <a:pPr indent="0" marL="0">
              <a:buNone/>
            </a:pPr>
            <a:r>
              <a:rPr lang="en-US" sz="1200" b="1" dirty="0">
                <a:solidFill>
                  <a:srgbClr val="111111"/>
                </a:solidFill>
              </a:rPr>
              <a:t>RNF-04</a:t>
            </a:r>
            <a:endParaRPr lang="en-US" sz="1200" dirty="0"/>
          </a:p>
        </p:txBody>
      </p:sp>
      <p:sp>
        <p:nvSpPr>
          <p:cNvPr id="36" name="Text 34"/>
          <p:cNvSpPr txBox="1"/>
          <p:nvPr/>
        </p:nvSpPr>
        <p:spPr>
          <a:xfrm>
            <a:off x="5394960" y="2011680"/>
            <a:ext cx="2286000" cy="411480"/>
          </a:xfrm>
          <a:prstGeom prst="rect">
            <a:avLst/>
          </a:prstGeom>
          <a:noFill/>
          <a:ln/>
        </p:spPr>
        <p:txBody>
          <a:bodyPr wrap="square" lIns="0" tIns="0" rIns="0" bIns="0" rtlCol="0" anchor="ctr"/>
          <a:lstStyle/>
          <a:p>
            <a:pPr indent="0" marL="0">
              <a:buNone/>
            </a:pPr>
            <a:r>
              <a:rPr lang="en-US" sz="1200" dirty="0">
                <a:solidFill>
                  <a:srgbClr val="111111"/>
                </a:solidFill>
              </a:rPr>
              <a:t>Seguridad: credenciales fuera del código</a:t>
            </a:r>
            <a:endParaRPr lang="en-US" sz="1200" dirty="0"/>
          </a:p>
        </p:txBody>
      </p:sp>
      <p:sp>
        <p:nvSpPr>
          <p:cNvPr id="37" name="Shape 35"/>
          <p:cNvSpPr/>
          <p:nvPr/>
        </p:nvSpPr>
        <p:spPr>
          <a:xfrm>
            <a:off x="7754112" y="2098548"/>
            <a:ext cx="777240" cy="237744"/>
          </a:xfrm>
          <a:prstGeom prst="roundRect">
            <a:avLst>
              <a:gd name="adj" fmla="val 50000"/>
            </a:avLst>
          </a:prstGeom>
          <a:solidFill>
            <a:srgbClr val="111111"/>
          </a:solidFill>
          <a:ln w="12700">
            <a:solidFill>
              <a:srgbClr val="111111"/>
            </a:solidFill>
            <a:prstDash val="solid"/>
          </a:ln>
        </p:spPr>
      </p:sp>
      <p:sp>
        <p:nvSpPr>
          <p:cNvPr id="38" name="Text 36"/>
          <p:cNvSpPr txBox="1"/>
          <p:nvPr/>
        </p:nvSpPr>
        <p:spPr>
          <a:xfrm>
            <a:off x="7754112" y="2098548"/>
            <a:ext cx="777240" cy="237744"/>
          </a:xfrm>
          <a:prstGeom prst="rect">
            <a:avLst/>
          </a:prstGeom>
          <a:noFill/>
          <a:ln/>
        </p:spPr>
        <p:txBody>
          <a:bodyPr wrap="square" lIns="0" tIns="0" rIns="0" bIns="0" rtlCol="0" anchor="ctr"/>
          <a:lstStyle/>
          <a:p>
            <a:pPr algn="ctr" indent="0" marL="0">
              <a:buNone/>
            </a:pPr>
            <a:r>
              <a:rPr lang="en-US" sz="1000" b="1" dirty="0">
                <a:solidFill>
                  <a:srgbClr val="F5C400"/>
                </a:solidFill>
              </a:rPr>
              <a:t>Listo</a:t>
            </a:r>
            <a:endParaRPr lang="en-US" sz="1000" dirty="0"/>
          </a:p>
        </p:txBody>
      </p:sp>
      <p:sp>
        <p:nvSpPr>
          <p:cNvPr id="39" name="Text 37"/>
          <p:cNvSpPr txBox="1"/>
          <p:nvPr/>
        </p:nvSpPr>
        <p:spPr>
          <a:xfrm>
            <a:off x="4892040" y="2487168"/>
            <a:ext cx="502920" cy="411480"/>
          </a:xfrm>
          <a:prstGeom prst="rect">
            <a:avLst/>
          </a:prstGeom>
          <a:noFill/>
          <a:ln/>
        </p:spPr>
        <p:txBody>
          <a:bodyPr wrap="square" lIns="0" tIns="0" rIns="0" bIns="0" rtlCol="0" anchor="ctr"/>
          <a:lstStyle/>
          <a:p>
            <a:pPr indent="0" marL="0">
              <a:buNone/>
            </a:pPr>
            <a:r>
              <a:rPr lang="en-US" sz="1200" b="1" dirty="0">
                <a:solidFill>
                  <a:srgbClr val="111111"/>
                </a:solidFill>
              </a:rPr>
              <a:t>RNF-05</a:t>
            </a:r>
            <a:endParaRPr lang="en-US" sz="1200" dirty="0"/>
          </a:p>
        </p:txBody>
      </p:sp>
      <p:sp>
        <p:nvSpPr>
          <p:cNvPr id="40" name="Text 38"/>
          <p:cNvSpPr txBox="1"/>
          <p:nvPr/>
        </p:nvSpPr>
        <p:spPr>
          <a:xfrm>
            <a:off x="5394960" y="2487168"/>
            <a:ext cx="2286000" cy="411480"/>
          </a:xfrm>
          <a:prstGeom prst="rect">
            <a:avLst/>
          </a:prstGeom>
          <a:noFill/>
          <a:ln/>
        </p:spPr>
        <p:txBody>
          <a:bodyPr wrap="square" lIns="0" tIns="0" rIns="0" bIns="0" rtlCol="0" anchor="ctr"/>
          <a:lstStyle/>
          <a:p>
            <a:pPr indent="0" marL="0">
              <a:buNone/>
            </a:pPr>
            <a:r>
              <a:rPr lang="en-US" sz="1200" dirty="0">
                <a:solidFill>
                  <a:srgbClr val="111111"/>
                </a:solidFill>
              </a:rPr>
              <a:t>Seguridad: límite de intentos y CORS</a:t>
            </a:r>
            <a:endParaRPr lang="en-US" sz="1200" dirty="0"/>
          </a:p>
        </p:txBody>
      </p:sp>
      <p:sp>
        <p:nvSpPr>
          <p:cNvPr id="41" name="Shape 39"/>
          <p:cNvSpPr/>
          <p:nvPr/>
        </p:nvSpPr>
        <p:spPr>
          <a:xfrm>
            <a:off x="7754112" y="2574036"/>
            <a:ext cx="777240" cy="237744"/>
          </a:xfrm>
          <a:prstGeom prst="roundRect">
            <a:avLst>
              <a:gd name="adj" fmla="val 50000"/>
            </a:avLst>
          </a:prstGeom>
          <a:solidFill>
            <a:srgbClr val="111111"/>
          </a:solidFill>
          <a:ln w="12700">
            <a:solidFill>
              <a:srgbClr val="111111"/>
            </a:solidFill>
            <a:prstDash val="solid"/>
          </a:ln>
        </p:spPr>
      </p:sp>
      <p:sp>
        <p:nvSpPr>
          <p:cNvPr id="42" name="Text 40"/>
          <p:cNvSpPr txBox="1"/>
          <p:nvPr/>
        </p:nvSpPr>
        <p:spPr>
          <a:xfrm>
            <a:off x="7754112" y="2574036"/>
            <a:ext cx="777240" cy="237744"/>
          </a:xfrm>
          <a:prstGeom prst="rect">
            <a:avLst/>
          </a:prstGeom>
          <a:noFill/>
          <a:ln/>
        </p:spPr>
        <p:txBody>
          <a:bodyPr wrap="square" lIns="0" tIns="0" rIns="0" bIns="0" rtlCol="0" anchor="ctr"/>
          <a:lstStyle/>
          <a:p>
            <a:pPr algn="ctr" indent="0" marL="0">
              <a:buNone/>
            </a:pPr>
            <a:r>
              <a:rPr lang="en-US" sz="1000" b="1" dirty="0">
                <a:solidFill>
                  <a:srgbClr val="F5C400"/>
                </a:solidFill>
              </a:rPr>
              <a:t>Listo</a:t>
            </a:r>
            <a:endParaRPr lang="en-US" sz="1000" dirty="0"/>
          </a:p>
        </p:txBody>
      </p:sp>
      <p:sp>
        <p:nvSpPr>
          <p:cNvPr id="43" name="Text 41"/>
          <p:cNvSpPr txBox="1"/>
          <p:nvPr/>
        </p:nvSpPr>
        <p:spPr>
          <a:xfrm>
            <a:off x="4892040" y="2962656"/>
            <a:ext cx="502920" cy="411480"/>
          </a:xfrm>
          <a:prstGeom prst="rect">
            <a:avLst/>
          </a:prstGeom>
          <a:noFill/>
          <a:ln/>
        </p:spPr>
        <p:txBody>
          <a:bodyPr wrap="square" lIns="0" tIns="0" rIns="0" bIns="0" rtlCol="0" anchor="ctr"/>
          <a:lstStyle/>
          <a:p>
            <a:pPr indent="0" marL="0">
              <a:buNone/>
            </a:pPr>
            <a:r>
              <a:rPr lang="en-US" sz="1200" b="1" dirty="0">
                <a:solidFill>
                  <a:srgbClr val="111111"/>
                </a:solidFill>
              </a:rPr>
              <a:t>RNF-07</a:t>
            </a:r>
            <a:endParaRPr lang="en-US" sz="1200" dirty="0"/>
          </a:p>
        </p:txBody>
      </p:sp>
      <p:sp>
        <p:nvSpPr>
          <p:cNvPr id="44" name="Text 42"/>
          <p:cNvSpPr txBox="1"/>
          <p:nvPr/>
        </p:nvSpPr>
        <p:spPr>
          <a:xfrm>
            <a:off x="5394960" y="2962656"/>
            <a:ext cx="2286000" cy="411480"/>
          </a:xfrm>
          <a:prstGeom prst="rect">
            <a:avLst/>
          </a:prstGeom>
          <a:noFill/>
          <a:ln/>
        </p:spPr>
        <p:txBody>
          <a:bodyPr wrap="square" lIns="0" tIns="0" rIns="0" bIns="0" rtlCol="0" anchor="ctr"/>
          <a:lstStyle/>
          <a:p>
            <a:pPr indent="0" marL="0">
              <a:buNone/>
            </a:pPr>
            <a:r>
              <a:rPr lang="en-US" sz="1200" dirty="0">
                <a:solidFill>
                  <a:srgbClr val="111111"/>
                </a:solidFill>
              </a:rPr>
              <a:t>Disponibilidad: servidor en la nube con HTTPS</a:t>
            </a:r>
            <a:endParaRPr lang="en-US" sz="1200" dirty="0"/>
          </a:p>
        </p:txBody>
      </p:sp>
      <p:sp>
        <p:nvSpPr>
          <p:cNvPr id="45" name="Shape 43"/>
          <p:cNvSpPr/>
          <p:nvPr/>
        </p:nvSpPr>
        <p:spPr>
          <a:xfrm>
            <a:off x="7754112" y="3049524"/>
            <a:ext cx="777240" cy="237744"/>
          </a:xfrm>
          <a:prstGeom prst="roundRect">
            <a:avLst>
              <a:gd name="adj" fmla="val 50000"/>
            </a:avLst>
          </a:prstGeom>
          <a:solidFill>
            <a:srgbClr val="F5C400"/>
          </a:solidFill>
          <a:ln w="12700">
            <a:solidFill>
              <a:srgbClr val="F5C400"/>
            </a:solidFill>
            <a:prstDash val="solid"/>
          </a:ln>
        </p:spPr>
      </p:sp>
      <p:sp>
        <p:nvSpPr>
          <p:cNvPr id="46" name="Text 44"/>
          <p:cNvSpPr txBox="1"/>
          <p:nvPr/>
        </p:nvSpPr>
        <p:spPr>
          <a:xfrm>
            <a:off x="7754112" y="3049524"/>
            <a:ext cx="777240" cy="237744"/>
          </a:xfrm>
          <a:prstGeom prst="rect">
            <a:avLst/>
          </a:prstGeom>
          <a:noFill/>
          <a:ln/>
        </p:spPr>
        <p:txBody>
          <a:bodyPr wrap="square" lIns="0" tIns="0" rIns="0" bIns="0" rtlCol="0" anchor="ctr"/>
          <a:lstStyle/>
          <a:p>
            <a:pPr algn="ctr" indent="0" marL="0">
              <a:buNone/>
            </a:pPr>
            <a:r>
              <a:rPr lang="en-US" sz="1000" b="1" dirty="0">
                <a:solidFill>
                  <a:srgbClr val="111111"/>
                </a:solidFill>
              </a:rPr>
              <a:t>Sprint 2</a:t>
            </a:r>
            <a:endParaRPr lang="en-US" sz="1000" dirty="0"/>
          </a:p>
        </p:txBody>
      </p:sp>
      <p:sp>
        <p:nvSpPr>
          <p:cNvPr id="47" name="Text 45"/>
          <p:cNvSpPr txBox="1"/>
          <p:nvPr/>
        </p:nvSpPr>
        <p:spPr>
          <a:xfrm>
            <a:off x="4892040" y="3438144"/>
            <a:ext cx="502920" cy="411480"/>
          </a:xfrm>
          <a:prstGeom prst="rect">
            <a:avLst/>
          </a:prstGeom>
          <a:noFill/>
          <a:ln/>
        </p:spPr>
        <p:txBody>
          <a:bodyPr wrap="square" lIns="0" tIns="0" rIns="0" bIns="0" rtlCol="0" anchor="ctr"/>
          <a:lstStyle/>
          <a:p>
            <a:pPr indent="0" marL="0">
              <a:buNone/>
            </a:pPr>
            <a:r>
              <a:rPr lang="en-US" sz="1200" b="1" dirty="0">
                <a:solidFill>
                  <a:srgbClr val="111111"/>
                </a:solidFill>
              </a:rPr>
              <a:t>RNF-08</a:t>
            </a:r>
            <a:endParaRPr lang="en-US" sz="1200" dirty="0"/>
          </a:p>
        </p:txBody>
      </p:sp>
      <p:sp>
        <p:nvSpPr>
          <p:cNvPr id="48" name="Text 46"/>
          <p:cNvSpPr txBox="1"/>
          <p:nvPr/>
        </p:nvSpPr>
        <p:spPr>
          <a:xfrm>
            <a:off x="5394960" y="3438144"/>
            <a:ext cx="2286000" cy="411480"/>
          </a:xfrm>
          <a:prstGeom prst="rect">
            <a:avLst/>
          </a:prstGeom>
          <a:noFill/>
          <a:ln/>
        </p:spPr>
        <p:txBody>
          <a:bodyPr wrap="square" lIns="0" tIns="0" rIns="0" bIns="0" rtlCol="0" anchor="ctr"/>
          <a:lstStyle/>
          <a:p>
            <a:pPr indent="0" marL="0">
              <a:buNone/>
            </a:pPr>
            <a:r>
              <a:rPr lang="en-US" sz="1200" dirty="0">
                <a:solidFill>
                  <a:srgbClr val="111111"/>
                </a:solidFill>
              </a:rPr>
              <a:t>Privacidad: cumplimiento del RGPD</a:t>
            </a:r>
            <a:endParaRPr lang="en-US" sz="1200" dirty="0"/>
          </a:p>
        </p:txBody>
      </p:sp>
      <p:sp>
        <p:nvSpPr>
          <p:cNvPr id="49" name="Shape 47"/>
          <p:cNvSpPr/>
          <p:nvPr/>
        </p:nvSpPr>
        <p:spPr>
          <a:xfrm>
            <a:off x="7754112" y="3525012"/>
            <a:ext cx="777240" cy="237744"/>
          </a:xfrm>
          <a:prstGeom prst="roundRect">
            <a:avLst>
              <a:gd name="adj" fmla="val 50000"/>
            </a:avLst>
          </a:prstGeom>
          <a:solidFill>
            <a:srgbClr val="F5C400"/>
          </a:solidFill>
          <a:ln w="12700">
            <a:solidFill>
              <a:srgbClr val="F5C400"/>
            </a:solidFill>
            <a:prstDash val="solid"/>
          </a:ln>
        </p:spPr>
      </p:sp>
      <p:sp>
        <p:nvSpPr>
          <p:cNvPr id="50" name="Text 48"/>
          <p:cNvSpPr txBox="1"/>
          <p:nvPr/>
        </p:nvSpPr>
        <p:spPr>
          <a:xfrm>
            <a:off x="7754112" y="3525012"/>
            <a:ext cx="777240" cy="237744"/>
          </a:xfrm>
          <a:prstGeom prst="rect">
            <a:avLst/>
          </a:prstGeom>
          <a:noFill/>
          <a:ln/>
        </p:spPr>
        <p:txBody>
          <a:bodyPr wrap="square" lIns="0" tIns="0" rIns="0" bIns="0" rtlCol="0" anchor="ctr"/>
          <a:lstStyle/>
          <a:p>
            <a:pPr algn="ctr" indent="0" marL="0">
              <a:buNone/>
            </a:pPr>
            <a:r>
              <a:rPr lang="en-US" sz="1000" b="1" dirty="0">
                <a:solidFill>
                  <a:srgbClr val="111111"/>
                </a:solidFill>
              </a:rPr>
              <a:t>Sprint 3</a:t>
            </a:r>
            <a:endParaRPr lang="en-US" sz="1000" dirty="0"/>
          </a:p>
        </p:txBody>
      </p:sp>
      <p:sp>
        <p:nvSpPr>
          <p:cNvPr id="51" name="Text 49"/>
          <p:cNvSpPr txBox="1"/>
          <p:nvPr/>
        </p:nvSpPr>
        <p:spPr>
          <a:xfrm>
            <a:off x="4892040" y="3913632"/>
            <a:ext cx="502920" cy="411480"/>
          </a:xfrm>
          <a:prstGeom prst="rect">
            <a:avLst/>
          </a:prstGeom>
          <a:noFill/>
          <a:ln/>
        </p:spPr>
        <p:txBody>
          <a:bodyPr wrap="square" lIns="0" tIns="0" rIns="0" bIns="0" rtlCol="0" anchor="ctr"/>
          <a:lstStyle/>
          <a:p>
            <a:pPr indent="0" marL="0">
              <a:buNone/>
            </a:pPr>
            <a:r>
              <a:rPr lang="en-US" sz="1200" b="1" dirty="0">
                <a:solidFill>
                  <a:srgbClr val="111111"/>
                </a:solidFill>
              </a:rPr>
              <a:t>RNF-09</a:t>
            </a:r>
            <a:endParaRPr lang="en-US" sz="1200" dirty="0"/>
          </a:p>
        </p:txBody>
      </p:sp>
      <p:sp>
        <p:nvSpPr>
          <p:cNvPr id="52" name="Text 50"/>
          <p:cNvSpPr txBox="1"/>
          <p:nvPr/>
        </p:nvSpPr>
        <p:spPr>
          <a:xfrm>
            <a:off x="5394960" y="3913632"/>
            <a:ext cx="2286000" cy="411480"/>
          </a:xfrm>
          <a:prstGeom prst="rect">
            <a:avLst/>
          </a:prstGeom>
          <a:noFill/>
          <a:ln/>
        </p:spPr>
        <p:txBody>
          <a:bodyPr wrap="square" lIns="0" tIns="0" rIns="0" bIns="0" rtlCol="0" anchor="ctr"/>
          <a:lstStyle/>
          <a:p>
            <a:pPr indent="0" marL="0">
              <a:buNone/>
            </a:pPr>
            <a:r>
              <a:rPr lang="en-US" sz="1200" dirty="0">
                <a:solidFill>
                  <a:srgbClr val="111111"/>
                </a:solidFill>
              </a:rPr>
              <a:t>Publicación en Google Play y App Store</a:t>
            </a:r>
            <a:endParaRPr lang="en-US" sz="1200" dirty="0"/>
          </a:p>
        </p:txBody>
      </p:sp>
      <p:sp>
        <p:nvSpPr>
          <p:cNvPr id="53" name="Shape 51"/>
          <p:cNvSpPr/>
          <p:nvPr/>
        </p:nvSpPr>
        <p:spPr>
          <a:xfrm>
            <a:off x="7754112" y="4000500"/>
            <a:ext cx="777240" cy="237744"/>
          </a:xfrm>
          <a:prstGeom prst="roundRect">
            <a:avLst>
              <a:gd name="adj" fmla="val 50000"/>
            </a:avLst>
          </a:prstGeom>
          <a:solidFill>
            <a:srgbClr val="F5C400"/>
          </a:solidFill>
          <a:ln w="12700">
            <a:solidFill>
              <a:srgbClr val="F5C400"/>
            </a:solidFill>
            <a:prstDash val="solid"/>
          </a:ln>
        </p:spPr>
      </p:sp>
      <p:sp>
        <p:nvSpPr>
          <p:cNvPr id="54" name="Text 52"/>
          <p:cNvSpPr txBox="1"/>
          <p:nvPr/>
        </p:nvSpPr>
        <p:spPr>
          <a:xfrm>
            <a:off x="7754112" y="4000500"/>
            <a:ext cx="777240" cy="237744"/>
          </a:xfrm>
          <a:prstGeom prst="rect">
            <a:avLst/>
          </a:prstGeom>
          <a:noFill/>
          <a:ln/>
        </p:spPr>
        <p:txBody>
          <a:bodyPr wrap="square" lIns="0" tIns="0" rIns="0" bIns="0" rtlCol="0" anchor="ctr"/>
          <a:lstStyle/>
          <a:p>
            <a:pPr algn="ctr" indent="0" marL="0">
              <a:buNone/>
            </a:pPr>
            <a:r>
              <a:rPr lang="en-US" sz="1000" b="1" dirty="0">
                <a:solidFill>
                  <a:srgbClr val="111111"/>
                </a:solidFill>
              </a:rPr>
              <a:t>Sprint 2</a:t>
            </a:r>
            <a:endParaRPr lang="en-US" sz="1000" dirty="0"/>
          </a:p>
        </p:txBody>
      </p:sp>
      <p:sp>
        <p:nvSpPr>
          <p:cNvPr id="55" name="Text 53"/>
          <p:cNvSpPr txBox="1"/>
          <p:nvPr/>
        </p:nvSpPr>
        <p:spPr>
          <a:xfrm>
            <a:off x="457200" y="4498848"/>
            <a:ext cx="8229600" cy="228600"/>
          </a:xfrm>
          <a:prstGeom prst="rect">
            <a:avLst/>
          </a:prstGeom>
          <a:noFill/>
          <a:ln/>
        </p:spPr>
        <p:txBody>
          <a:bodyPr wrap="square" lIns="0" tIns="0" rIns="0" bIns="0" rtlCol="0" anchor="t"/>
          <a:lstStyle/>
          <a:p>
            <a:pPr indent="0" marL="0">
              <a:buNone/>
            </a:pPr>
            <a:r>
              <a:rPr lang="en-US" sz="1100" i="1" dirty="0">
                <a:solidFill>
                  <a:srgbClr val="6B6B6B"/>
                </a:solidFill>
              </a:rPr>
              <a:t>Matriz completa con 28 requisitos, criterios de aceptación y estado: Matriz_de_Requisitos.xlsx en el repositorio.</a:t>
            </a:r>
            <a:endParaRPr lang="en-US" sz="11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600" b="1" dirty="0">
                <a:solidFill>
                  <a:srgbClr val="111111"/>
                </a:solidFill>
                <a:latin typeface="Arial" pitchFamily="34" charset="0"/>
                <a:ea typeface="Arial" pitchFamily="34" charset="-122"/>
                <a:cs typeface="Arial" pitchFamily="34" charset="-120"/>
              </a:rPr>
              <a:t>Metodología: Scrum en sprints de 2 semanas</a:t>
            </a:r>
            <a:endParaRPr lang="en-US" sz="2600" dirty="0"/>
          </a:p>
        </p:txBody>
      </p:sp>
      <p:sp>
        <p:nvSpPr>
          <p:cNvPr id="3" name="Shape 1"/>
          <p:cNvSpPr/>
          <p:nvPr/>
        </p:nvSpPr>
        <p:spPr>
          <a:xfrm>
            <a:off x="457200" y="1051560"/>
            <a:ext cx="2743200" cy="3520440"/>
          </a:xfrm>
          <a:prstGeom prst="roundRect">
            <a:avLst>
              <a:gd name="adj" fmla="val 2667"/>
            </a:avLst>
          </a:prstGeom>
          <a:solidFill>
            <a:srgbClr val="111111"/>
          </a:solidFill>
          <a:ln w="12700">
            <a:solidFill>
              <a:srgbClr val="111111"/>
            </a:solidFill>
            <a:prstDash val="solid"/>
          </a:ln>
        </p:spPr>
      </p:sp>
      <p:sp>
        <p:nvSpPr>
          <p:cNvPr id="4" name="Text 2"/>
          <p:cNvSpPr txBox="1"/>
          <p:nvPr/>
        </p:nvSpPr>
        <p:spPr>
          <a:xfrm>
            <a:off x="658368" y="1188720"/>
            <a:ext cx="2377440" cy="347472"/>
          </a:xfrm>
          <a:prstGeom prst="rect">
            <a:avLst/>
          </a:prstGeom>
          <a:noFill/>
          <a:ln/>
        </p:spPr>
        <p:txBody>
          <a:bodyPr wrap="square" lIns="0" tIns="0" rIns="0" bIns="0" rtlCol="0" anchor="t"/>
          <a:lstStyle/>
          <a:p>
            <a:pPr indent="0" marL="0">
              <a:buNone/>
            </a:pPr>
            <a:r>
              <a:rPr lang="en-US" sz="1700" b="1" dirty="0">
                <a:solidFill>
                  <a:srgbClr val="F5C400"/>
                </a:solidFill>
                <a:latin typeface="Arial" pitchFamily="34" charset="0"/>
                <a:ea typeface="Arial" pitchFamily="34" charset="-122"/>
                <a:cs typeface="Arial" pitchFamily="34" charset="-120"/>
              </a:rPr>
              <a:t>Por qué Scrum</a:t>
            </a:r>
            <a:endParaRPr lang="en-US" sz="1700" dirty="0"/>
          </a:p>
        </p:txBody>
      </p:sp>
      <p:sp>
        <p:nvSpPr>
          <p:cNvPr id="5" name="Text 3"/>
          <p:cNvSpPr txBox="1"/>
          <p:nvPr/>
        </p:nvSpPr>
        <p:spPr>
          <a:xfrm>
            <a:off x="658368" y="1645920"/>
            <a:ext cx="2377440" cy="201168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FFFFFF"/>
                </a:solidFill>
              </a:rPr>
              <a:t>Cada dos semanas hay algo funcionando para mostrar.</a:t>
            </a:r>
            <a:endParaRPr lang="en-US" sz="1400" dirty="0"/>
          </a:p>
          <a:p>
            <a:pPr marL="342900" indent="-342900">
              <a:spcAft>
                <a:spcPts val="800"/>
              </a:spcAft>
              <a:buSzPct val="100000"/>
              <a:buChar char="•"/>
            </a:pPr>
            <a:r>
              <a:rPr lang="en-US" sz="1400" dirty="0">
                <a:solidFill>
                  <a:srgbClr val="FFFFFF"/>
                </a:solidFill>
              </a:rPr>
              <a:t>En cada revisión recibo feedback de la docente y del local.</a:t>
            </a:r>
            <a:endParaRPr lang="en-US" sz="1400" dirty="0"/>
          </a:p>
          <a:p>
            <a:pPr marL="342900" indent="-342900">
              <a:spcAft>
                <a:spcPts val="800"/>
              </a:spcAft>
              <a:buSzPct val="100000"/>
              <a:buChar char="•"/>
            </a:pPr>
            <a:r>
              <a:rPr lang="en-US" sz="1400" dirty="0">
                <a:solidFill>
                  <a:srgbClr val="FFFFFF"/>
                </a:solidFill>
              </a:rPr>
              <a:t>Si algo cambia, ajusto el sprint siguiente sin rehacer el plan.</a:t>
            </a:r>
            <a:endParaRPr lang="en-US" sz="1400" dirty="0"/>
          </a:p>
        </p:txBody>
      </p:sp>
      <p:sp>
        <p:nvSpPr>
          <p:cNvPr id="6" name="Text 4"/>
          <p:cNvSpPr txBox="1"/>
          <p:nvPr/>
        </p:nvSpPr>
        <p:spPr>
          <a:xfrm>
            <a:off x="658368" y="3794760"/>
            <a:ext cx="2377440" cy="640080"/>
          </a:xfrm>
          <a:prstGeom prst="rect">
            <a:avLst/>
          </a:prstGeom>
          <a:noFill/>
          <a:ln/>
        </p:spPr>
        <p:txBody>
          <a:bodyPr wrap="square" lIns="0" tIns="0" rIns="0" bIns="0" rtlCol="0" anchor="t"/>
          <a:lstStyle/>
          <a:p>
            <a:pPr indent="0" marL="0">
              <a:buNone/>
            </a:pPr>
            <a:r>
              <a:rPr lang="en-US" sz="1200" i="1" dirty="0">
                <a:solidFill>
                  <a:srgbClr val="F5C400"/>
                </a:solidFill>
              </a:rPr>
              <a:t>Ciclo de cada sprint: planificación, desarrollo, demo y retrospectiva.</a:t>
            </a:r>
            <a:endParaRPr lang="en-US" sz="1200" dirty="0"/>
          </a:p>
        </p:txBody>
      </p:sp>
      <p:sp>
        <p:nvSpPr>
          <p:cNvPr id="7" name="Text 5"/>
          <p:cNvSpPr txBox="1"/>
          <p:nvPr/>
        </p:nvSpPr>
        <p:spPr>
          <a:xfrm>
            <a:off x="3474720" y="1051560"/>
            <a:ext cx="5212080" cy="320040"/>
          </a:xfrm>
          <a:prstGeom prst="rect">
            <a:avLst/>
          </a:prstGeom>
          <a:noFill/>
          <a:ln/>
        </p:spPr>
        <p:txBody>
          <a:bodyPr wrap="square" lIns="0" tIns="0" rIns="0" bIns="0" rtlCol="0" anchor="t"/>
          <a:lstStyle/>
          <a:p>
            <a:pPr indent="0" marL="0">
              <a:buNone/>
            </a:pPr>
            <a:r>
              <a:rPr lang="en-US" sz="1500" b="1" dirty="0">
                <a:solidFill>
                  <a:srgbClr val="111111"/>
                </a:solidFill>
                <a:latin typeface="Arial" pitchFamily="34" charset="0"/>
                <a:ea typeface="Arial" pitchFamily="34" charset="-122"/>
                <a:cs typeface="Arial" pitchFamily="34" charset="-120"/>
              </a:rPr>
              <a:t>Orden del backlog: primero lo que impide publicar</a:t>
            </a:r>
            <a:endParaRPr lang="en-US" sz="1500" dirty="0"/>
          </a:p>
        </p:txBody>
      </p:sp>
      <p:sp>
        <p:nvSpPr>
          <p:cNvPr id="8" name="Shape 6"/>
          <p:cNvSpPr/>
          <p:nvPr/>
        </p:nvSpPr>
        <p:spPr>
          <a:xfrm>
            <a:off x="3474720" y="1463040"/>
            <a:ext cx="5212080" cy="548640"/>
          </a:xfrm>
          <a:prstGeom prst="roundRect">
            <a:avLst>
              <a:gd name="adj" fmla="val 13333"/>
            </a:avLst>
          </a:prstGeom>
          <a:solidFill>
            <a:srgbClr val="FFF4BF"/>
          </a:solidFill>
          <a:ln w="12700">
            <a:solidFill>
              <a:srgbClr val="FFF4BF"/>
            </a:solidFill>
            <a:prstDash val="solid"/>
          </a:ln>
        </p:spPr>
      </p:sp>
      <p:sp>
        <p:nvSpPr>
          <p:cNvPr id="9" name="Text 7"/>
          <p:cNvSpPr txBox="1"/>
          <p:nvPr/>
        </p:nvSpPr>
        <p:spPr>
          <a:xfrm>
            <a:off x="3639312" y="1463040"/>
            <a:ext cx="822960" cy="548640"/>
          </a:xfrm>
          <a:prstGeom prst="rect">
            <a:avLst/>
          </a:prstGeom>
          <a:noFill/>
          <a:ln/>
        </p:spPr>
        <p:txBody>
          <a:bodyPr wrap="square" lIns="0" tIns="0" rIns="0" bIns="0" rtlCol="0" anchor="ctr"/>
          <a:lstStyle/>
          <a:p>
            <a:pPr indent="0" marL="0">
              <a:buNone/>
            </a:pPr>
            <a:r>
              <a:rPr lang="en-US" sz="1200" b="1" dirty="0">
                <a:solidFill>
                  <a:srgbClr val="111111"/>
                </a:solidFill>
              </a:rPr>
              <a:t>Sprint 1</a:t>
            </a:r>
            <a:endParaRPr lang="en-US" sz="1200" dirty="0"/>
          </a:p>
        </p:txBody>
      </p:sp>
      <p:sp>
        <p:nvSpPr>
          <p:cNvPr id="10" name="Text 8"/>
          <p:cNvSpPr txBox="1"/>
          <p:nvPr/>
        </p:nvSpPr>
        <p:spPr>
          <a:xfrm>
            <a:off x="4434840" y="1463040"/>
            <a:ext cx="1325880" cy="548640"/>
          </a:xfrm>
          <a:prstGeom prst="rect">
            <a:avLst/>
          </a:prstGeom>
          <a:noFill/>
          <a:ln/>
        </p:spPr>
        <p:txBody>
          <a:bodyPr wrap="square" lIns="0" tIns="0" rIns="0" bIns="0" rtlCol="0" anchor="ctr"/>
          <a:lstStyle/>
          <a:p>
            <a:pPr indent="0" marL="0">
              <a:buNone/>
            </a:pPr>
            <a:r>
              <a:rPr lang="en-US" sz="1300" b="1" dirty="0">
                <a:solidFill>
                  <a:srgbClr val="111111"/>
                </a:solidFill>
              </a:rPr>
              <a:t>Seguridad</a:t>
            </a:r>
            <a:endParaRPr lang="en-US" sz="1300" dirty="0"/>
          </a:p>
        </p:txBody>
      </p:sp>
      <p:sp>
        <p:nvSpPr>
          <p:cNvPr id="11" name="Text 9"/>
          <p:cNvSpPr txBox="1"/>
          <p:nvPr/>
        </p:nvSpPr>
        <p:spPr>
          <a:xfrm>
            <a:off x="5806440" y="1463040"/>
            <a:ext cx="2743200" cy="548640"/>
          </a:xfrm>
          <a:prstGeom prst="rect">
            <a:avLst/>
          </a:prstGeom>
          <a:noFill/>
          <a:ln/>
        </p:spPr>
        <p:txBody>
          <a:bodyPr wrap="square" lIns="0" tIns="0" rIns="0" bIns="0" rtlCol="0" anchor="ctr"/>
          <a:lstStyle/>
          <a:p>
            <a:pPr indent="0" marL="0">
              <a:buNone/>
            </a:pPr>
            <a:r>
              <a:rPr lang="en-US" sz="1100" dirty="0">
                <a:solidFill>
                  <a:srgbClr val="111111"/>
                </a:solidFill>
              </a:rPr>
              <a:t>Con vulnerabilidades abiertas la app no se puede publicar.</a:t>
            </a:r>
            <a:endParaRPr lang="en-US" sz="1100" dirty="0"/>
          </a:p>
        </p:txBody>
      </p:sp>
      <p:sp>
        <p:nvSpPr>
          <p:cNvPr id="12" name="Shape 10"/>
          <p:cNvSpPr/>
          <p:nvPr/>
        </p:nvSpPr>
        <p:spPr>
          <a:xfrm>
            <a:off x="3474720" y="2103120"/>
            <a:ext cx="5212080" cy="548640"/>
          </a:xfrm>
          <a:prstGeom prst="roundRect">
            <a:avLst>
              <a:gd name="adj" fmla="val 13333"/>
            </a:avLst>
          </a:prstGeom>
          <a:solidFill>
            <a:srgbClr val="F2F2F2"/>
          </a:solidFill>
          <a:ln w="12700">
            <a:solidFill>
              <a:srgbClr val="F2F2F2"/>
            </a:solidFill>
            <a:prstDash val="solid"/>
          </a:ln>
        </p:spPr>
      </p:sp>
      <p:sp>
        <p:nvSpPr>
          <p:cNvPr id="13" name="Text 11"/>
          <p:cNvSpPr txBox="1"/>
          <p:nvPr/>
        </p:nvSpPr>
        <p:spPr>
          <a:xfrm>
            <a:off x="3639312" y="2103120"/>
            <a:ext cx="822960" cy="548640"/>
          </a:xfrm>
          <a:prstGeom prst="rect">
            <a:avLst/>
          </a:prstGeom>
          <a:noFill/>
          <a:ln/>
        </p:spPr>
        <p:txBody>
          <a:bodyPr wrap="square" lIns="0" tIns="0" rIns="0" bIns="0" rtlCol="0" anchor="ctr"/>
          <a:lstStyle/>
          <a:p>
            <a:pPr indent="0" marL="0">
              <a:buNone/>
            </a:pPr>
            <a:r>
              <a:rPr lang="en-US" sz="1200" b="1" dirty="0">
                <a:solidFill>
                  <a:srgbClr val="111111"/>
                </a:solidFill>
              </a:rPr>
              <a:t>Sprint 2</a:t>
            </a:r>
            <a:endParaRPr lang="en-US" sz="1200" dirty="0"/>
          </a:p>
        </p:txBody>
      </p:sp>
      <p:sp>
        <p:nvSpPr>
          <p:cNvPr id="14" name="Text 12"/>
          <p:cNvSpPr txBox="1"/>
          <p:nvPr/>
        </p:nvSpPr>
        <p:spPr>
          <a:xfrm>
            <a:off x="4434840" y="2103120"/>
            <a:ext cx="1325880" cy="548640"/>
          </a:xfrm>
          <a:prstGeom prst="rect">
            <a:avLst/>
          </a:prstGeom>
          <a:noFill/>
          <a:ln/>
        </p:spPr>
        <p:txBody>
          <a:bodyPr wrap="square" lIns="0" tIns="0" rIns="0" bIns="0" rtlCol="0" anchor="ctr"/>
          <a:lstStyle/>
          <a:p>
            <a:pPr indent="0" marL="0">
              <a:buNone/>
            </a:pPr>
            <a:r>
              <a:rPr lang="en-US" sz="1300" b="1" dirty="0">
                <a:solidFill>
                  <a:srgbClr val="111111"/>
                </a:solidFill>
              </a:rPr>
              <a:t>Nube: Android e iOS</a:t>
            </a:r>
            <a:endParaRPr lang="en-US" sz="1300" dirty="0"/>
          </a:p>
        </p:txBody>
      </p:sp>
      <p:sp>
        <p:nvSpPr>
          <p:cNvPr id="15" name="Text 13"/>
          <p:cNvSpPr txBox="1"/>
          <p:nvPr/>
        </p:nvSpPr>
        <p:spPr>
          <a:xfrm>
            <a:off x="5806440" y="2103120"/>
            <a:ext cx="2743200" cy="548640"/>
          </a:xfrm>
          <a:prstGeom prst="rect">
            <a:avLst/>
          </a:prstGeom>
          <a:noFill/>
          <a:ln/>
        </p:spPr>
        <p:txBody>
          <a:bodyPr wrap="square" lIns="0" tIns="0" rIns="0" bIns="0" rtlCol="0" anchor="ctr"/>
          <a:lstStyle/>
          <a:p>
            <a:pPr indent="0" marL="0">
              <a:buNone/>
            </a:pPr>
            <a:r>
              <a:rPr lang="en-US" sz="1100" dirty="0">
                <a:solidFill>
                  <a:srgbClr val="111111"/>
                </a:solidFill>
              </a:rPr>
              <a:t>Google Play pide 14 días de prueba cerrada y Apple una cuenta verificada: deben partir a tiempo.</a:t>
            </a:r>
            <a:endParaRPr lang="en-US" sz="1100" dirty="0"/>
          </a:p>
        </p:txBody>
      </p:sp>
      <p:sp>
        <p:nvSpPr>
          <p:cNvPr id="16" name="Shape 14"/>
          <p:cNvSpPr/>
          <p:nvPr/>
        </p:nvSpPr>
        <p:spPr>
          <a:xfrm>
            <a:off x="3474720" y="2743200"/>
            <a:ext cx="5212080" cy="548640"/>
          </a:xfrm>
          <a:prstGeom prst="roundRect">
            <a:avLst>
              <a:gd name="adj" fmla="val 13333"/>
            </a:avLst>
          </a:prstGeom>
          <a:solidFill>
            <a:srgbClr val="F2F2F2"/>
          </a:solidFill>
          <a:ln w="12700">
            <a:solidFill>
              <a:srgbClr val="F2F2F2"/>
            </a:solidFill>
            <a:prstDash val="solid"/>
          </a:ln>
        </p:spPr>
      </p:sp>
      <p:sp>
        <p:nvSpPr>
          <p:cNvPr id="17" name="Text 15"/>
          <p:cNvSpPr txBox="1"/>
          <p:nvPr/>
        </p:nvSpPr>
        <p:spPr>
          <a:xfrm>
            <a:off x="3639312" y="2743200"/>
            <a:ext cx="822960" cy="548640"/>
          </a:xfrm>
          <a:prstGeom prst="rect">
            <a:avLst/>
          </a:prstGeom>
          <a:noFill/>
          <a:ln/>
        </p:spPr>
        <p:txBody>
          <a:bodyPr wrap="square" lIns="0" tIns="0" rIns="0" bIns="0" rtlCol="0" anchor="ctr"/>
          <a:lstStyle/>
          <a:p>
            <a:pPr indent="0" marL="0">
              <a:buNone/>
            </a:pPr>
            <a:r>
              <a:rPr lang="en-US" sz="1200" b="1" dirty="0">
                <a:solidFill>
                  <a:srgbClr val="111111"/>
                </a:solidFill>
              </a:rPr>
              <a:t>Sprint 3</a:t>
            </a:r>
            <a:endParaRPr lang="en-US" sz="1200" dirty="0"/>
          </a:p>
        </p:txBody>
      </p:sp>
      <p:sp>
        <p:nvSpPr>
          <p:cNvPr id="18" name="Text 16"/>
          <p:cNvSpPr txBox="1"/>
          <p:nvPr/>
        </p:nvSpPr>
        <p:spPr>
          <a:xfrm>
            <a:off x="4434840" y="2743200"/>
            <a:ext cx="1325880" cy="548640"/>
          </a:xfrm>
          <a:prstGeom prst="rect">
            <a:avLst/>
          </a:prstGeom>
          <a:noFill/>
          <a:ln/>
        </p:spPr>
        <p:txBody>
          <a:bodyPr wrap="square" lIns="0" tIns="0" rIns="0" bIns="0" rtlCol="0" anchor="ctr"/>
          <a:lstStyle/>
          <a:p>
            <a:pPr indent="0" marL="0">
              <a:buNone/>
            </a:pPr>
            <a:r>
              <a:rPr lang="en-US" sz="1300" b="1" dirty="0">
                <a:solidFill>
                  <a:srgbClr val="111111"/>
                </a:solidFill>
              </a:rPr>
              <a:t>Privacidad y pruebas</a:t>
            </a:r>
            <a:endParaRPr lang="en-US" sz="1300" dirty="0"/>
          </a:p>
        </p:txBody>
      </p:sp>
      <p:sp>
        <p:nvSpPr>
          <p:cNvPr id="19" name="Text 17"/>
          <p:cNvSpPr txBox="1"/>
          <p:nvPr/>
        </p:nvSpPr>
        <p:spPr>
          <a:xfrm>
            <a:off x="5806440" y="2743200"/>
            <a:ext cx="2743200" cy="548640"/>
          </a:xfrm>
          <a:prstGeom prst="rect">
            <a:avLst/>
          </a:prstGeom>
          <a:noFill/>
          <a:ln/>
        </p:spPr>
        <p:txBody>
          <a:bodyPr wrap="square" lIns="0" tIns="0" rIns="0" bIns="0" rtlCol="0" anchor="ctr"/>
          <a:lstStyle/>
          <a:p>
            <a:pPr indent="0" marL="0">
              <a:buNone/>
            </a:pPr>
            <a:r>
              <a:rPr lang="en-US" sz="1100" dirty="0">
                <a:solidFill>
                  <a:srgbClr val="111111"/>
                </a:solidFill>
              </a:rPr>
              <a:t>La ley europea de datos y las pruebas son requisito antes de abrirla al público.</a:t>
            </a:r>
            <a:endParaRPr lang="en-US" sz="1100" dirty="0"/>
          </a:p>
        </p:txBody>
      </p:sp>
      <p:sp>
        <p:nvSpPr>
          <p:cNvPr id="20" name="Shape 18"/>
          <p:cNvSpPr/>
          <p:nvPr/>
        </p:nvSpPr>
        <p:spPr>
          <a:xfrm>
            <a:off x="3474720" y="3383280"/>
            <a:ext cx="5212080" cy="548640"/>
          </a:xfrm>
          <a:prstGeom prst="roundRect">
            <a:avLst>
              <a:gd name="adj" fmla="val 13333"/>
            </a:avLst>
          </a:prstGeom>
          <a:solidFill>
            <a:srgbClr val="F2F2F2"/>
          </a:solidFill>
          <a:ln w="12700">
            <a:solidFill>
              <a:srgbClr val="F2F2F2"/>
            </a:solidFill>
            <a:prstDash val="solid"/>
          </a:ln>
        </p:spPr>
      </p:sp>
      <p:sp>
        <p:nvSpPr>
          <p:cNvPr id="21" name="Text 19"/>
          <p:cNvSpPr txBox="1"/>
          <p:nvPr/>
        </p:nvSpPr>
        <p:spPr>
          <a:xfrm>
            <a:off x="3639312" y="3383280"/>
            <a:ext cx="822960" cy="548640"/>
          </a:xfrm>
          <a:prstGeom prst="rect">
            <a:avLst/>
          </a:prstGeom>
          <a:noFill/>
          <a:ln/>
        </p:spPr>
        <p:txBody>
          <a:bodyPr wrap="square" lIns="0" tIns="0" rIns="0" bIns="0" rtlCol="0" anchor="ctr"/>
          <a:lstStyle/>
          <a:p>
            <a:pPr indent="0" marL="0">
              <a:buNone/>
            </a:pPr>
            <a:r>
              <a:rPr lang="en-US" sz="1200" b="1" dirty="0">
                <a:solidFill>
                  <a:srgbClr val="111111"/>
                </a:solidFill>
              </a:rPr>
              <a:t>Cierre</a:t>
            </a:r>
            <a:endParaRPr lang="en-US" sz="1200" dirty="0"/>
          </a:p>
        </p:txBody>
      </p:sp>
      <p:sp>
        <p:nvSpPr>
          <p:cNvPr id="22" name="Text 20"/>
          <p:cNvSpPr txBox="1"/>
          <p:nvPr/>
        </p:nvSpPr>
        <p:spPr>
          <a:xfrm>
            <a:off x="4434840" y="3383280"/>
            <a:ext cx="1325880" cy="548640"/>
          </a:xfrm>
          <a:prstGeom prst="rect">
            <a:avLst/>
          </a:prstGeom>
          <a:noFill/>
          <a:ln/>
        </p:spPr>
        <p:txBody>
          <a:bodyPr wrap="square" lIns="0" tIns="0" rIns="0" bIns="0" rtlCol="0" anchor="ctr"/>
          <a:lstStyle/>
          <a:p>
            <a:pPr indent="0" marL="0">
              <a:buNone/>
            </a:pPr>
            <a:r>
              <a:rPr lang="en-US" sz="1300" b="1" dirty="0">
                <a:solidFill>
                  <a:srgbClr val="111111"/>
                </a:solidFill>
              </a:rPr>
              <a:t>Producción</a:t>
            </a:r>
            <a:endParaRPr lang="en-US" sz="1300" dirty="0"/>
          </a:p>
        </p:txBody>
      </p:sp>
      <p:sp>
        <p:nvSpPr>
          <p:cNvPr id="23" name="Text 21"/>
          <p:cNvSpPr txBox="1"/>
          <p:nvPr/>
        </p:nvSpPr>
        <p:spPr>
          <a:xfrm>
            <a:off x="5806440" y="3383280"/>
            <a:ext cx="2743200" cy="548640"/>
          </a:xfrm>
          <a:prstGeom prst="rect">
            <a:avLst/>
          </a:prstGeom>
          <a:noFill/>
          <a:ln/>
        </p:spPr>
        <p:txBody>
          <a:bodyPr wrap="square" lIns="0" tIns="0" rIns="0" bIns="0" rtlCol="0" anchor="ctr"/>
          <a:lstStyle/>
          <a:p>
            <a:pPr indent="0" marL="0">
              <a:buNone/>
            </a:pPr>
            <a:r>
              <a:rPr lang="en-US" sz="1100" dirty="0">
                <a:solidFill>
                  <a:srgbClr val="111111"/>
                </a:solidFill>
              </a:rPr>
              <a:t>Prueba con el personal y publicación en Google Play y App Store.</a:t>
            </a:r>
            <a:endParaRPr lang="en-US" sz="1100" dirty="0"/>
          </a:p>
        </p:txBody>
      </p:sp>
      <p:sp>
        <p:nvSpPr>
          <p:cNvPr id="24" name="Text 22"/>
          <p:cNvSpPr txBox="1"/>
          <p:nvPr/>
        </p:nvSpPr>
        <p:spPr>
          <a:xfrm>
            <a:off x="3474720" y="4069080"/>
            <a:ext cx="5212080" cy="457200"/>
          </a:xfrm>
          <a:prstGeom prst="rect">
            <a:avLst/>
          </a:prstGeom>
          <a:noFill/>
          <a:ln/>
        </p:spPr>
        <p:txBody>
          <a:bodyPr wrap="square" lIns="0" tIns="0" rIns="0" bIns="0" rtlCol="0" anchor="ctr"/>
          <a:lstStyle/>
          <a:p>
            <a:pPr indent="0" marL="0">
              <a:buNone/>
            </a:pPr>
            <a:r>
              <a:rPr lang="en-US" sz="1300" b="1" dirty="0">
                <a:solidFill>
                  <a:srgbClr val="111111"/>
                </a:solidFill>
              </a:rPr>
              <a:t>Avance: </a:t>
            </a:r>
            <a:pPr indent="0" marL="0">
              <a:buNone/>
            </a:pPr>
            <a:r>
              <a:rPr lang="en-US" sz="1300" dirty="0">
                <a:solidFill>
                  <a:srgbClr val="111111"/>
                </a:solidFill>
              </a:rPr>
              <a:t>Sprint 0 completado. Sprint 1 en curso, con CORS y límite de intentos listos. Backlog en GitHub: un milestone por sprint y un issue por tarea.</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600" b="1" dirty="0">
                <a:solidFill>
                  <a:srgbClr val="111111"/>
                </a:solidFill>
                <a:latin typeface="Arial" pitchFamily="34" charset="0"/>
                <a:ea typeface="Arial" pitchFamily="34" charset="-122"/>
                <a:cs typeface="Arial" pitchFamily="34" charset="-120"/>
              </a:rPr>
              <a:t>Arquitectura: cliente-servidor en tres capas</a:t>
            </a:r>
            <a:endParaRPr lang="en-US" sz="2600" dirty="0"/>
          </a:p>
        </p:txBody>
      </p:sp>
      <p:sp>
        <p:nvSpPr>
          <p:cNvPr id="3" name="Shape 1"/>
          <p:cNvSpPr/>
          <p:nvPr/>
        </p:nvSpPr>
        <p:spPr>
          <a:xfrm>
            <a:off x="457200" y="1051560"/>
            <a:ext cx="2514600" cy="2240280"/>
          </a:xfrm>
          <a:prstGeom prst="roundRect">
            <a:avLst>
              <a:gd name="adj" fmla="val 3265"/>
            </a:avLst>
          </a:prstGeom>
          <a:solidFill>
            <a:srgbClr val="F2F2F2"/>
          </a:solidFill>
          <a:ln w="12700">
            <a:solidFill>
              <a:srgbClr val="F2F2F2"/>
            </a:solidFill>
            <a:prstDash val="solid"/>
          </a:ln>
        </p:spPr>
      </p:sp>
      <p:sp>
        <p:nvSpPr>
          <p:cNvPr id="4" name="Shape 2"/>
          <p:cNvSpPr/>
          <p:nvPr/>
        </p:nvSpPr>
        <p:spPr>
          <a:xfrm>
            <a:off x="640080" y="1188720"/>
            <a:ext cx="457200" cy="457200"/>
          </a:xfrm>
          <a:prstGeom prst="ellipse">
            <a:avLst/>
          </a:prstGeom>
          <a:solidFill>
            <a:srgbClr val="111111"/>
          </a:solidFill>
          <a:ln w="12700">
            <a:solidFill>
              <a:srgbClr val="111111"/>
            </a:solidFill>
            <a:prstDash val="solid"/>
          </a:ln>
        </p:spPr>
      </p:sp>
      <p:pic>
        <p:nvPicPr>
          <p:cNvPr id="5" name="Image 0" descr="preencoded.png">    </p:cNvPr>
          <p:cNvPicPr>
            <a:picLocks noChangeAspect="1"/>
          </p:cNvPicPr>
          <p:nvPr/>
        </p:nvPicPr>
        <p:blipFill>
          <a:blip r:embed="rId1"/>
          <a:stretch>
            <a:fillRect/>
          </a:stretch>
        </p:blipFill>
        <p:spPr>
          <a:xfrm>
            <a:off x="754380" y="1303020"/>
            <a:ext cx="228600" cy="228600"/>
          </a:xfrm>
          <a:prstGeom prst="rect">
            <a:avLst/>
          </a:prstGeom>
        </p:spPr>
      </p:pic>
      <p:sp>
        <p:nvSpPr>
          <p:cNvPr id="6" name="Text 3"/>
          <p:cNvSpPr txBox="1"/>
          <p:nvPr/>
        </p:nvSpPr>
        <p:spPr>
          <a:xfrm>
            <a:off x="1207008" y="1170432"/>
            <a:ext cx="1645920" cy="274320"/>
          </a:xfrm>
          <a:prstGeom prst="rect">
            <a:avLst/>
          </a:prstGeom>
          <a:noFill/>
          <a:ln/>
        </p:spPr>
        <p:txBody>
          <a:bodyPr wrap="square" lIns="0" tIns="0" rIns="0" bIns="0" rtlCol="0" anchor="t"/>
          <a:lstStyle/>
          <a:p>
            <a:pPr indent="0" marL="0">
              <a:buNone/>
            </a:pPr>
            <a:r>
              <a:rPr lang="en-US" sz="1600" b="1" dirty="0">
                <a:solidFill>
                  <a:srgbClr val="111111"/>
                </a:solidFill>
                <a:latin typeface="Arial" pitchFamily="34" charset="0"/>
                <a:ea typeface="Arial" pitchFamily="34" charset="-122"/>
                <a:cs typeface="Arial" pitchFamily="34" charset="-120"/>
              </a:rPr>
              <a:t>App móvil</a:t>
            </a:r>
            <a:endParaRPr lang="en-US" sz="1600" dirty="0"/>
          </a:p>
        </p:txBody>
      </p:sp>
      <p:sp>
        <p:nvSpPr>
          <p:cNvPr id="7" name="Text 4"/>
          <p:cNvSpPr txBox="1"/>
          <p:nvPr/>
        </p:nvSpPr>
        <p:spPr>
          <a:xfrm>
            <a:off x="1207008" y="1444752"/>
            <a:ext cx="1645920" cy="228600"/>
          </a:xfrm>
          <a:prstGeom prst="rect">
            <a:avLst/>
          </a:prstGeom>
          <a:noFill/>
          <a:ln/>
        </p:spPr>
        <p:txBody>
          <a:bodyPr wrap="square" lIns="0" tIns="0" rIns="0" bIns="0" rtlCol="0" anchor="t"/>
          <a:lstStyle/>
          <a:p>
            <a:pPr indent="0" marL="0">
              <a:buNone/>
            </a:pPr>
            <a:r>
              <a:rPr lang="en-US" sz="1200" b="1" dirty="0">
                <a:solidFill>
                  <a:srgbClr val="6B6B6B"/>
                </a:solidFill>
              </a:rPr>
              <a:t>React Native + Expo</a:t>
            </a:r>
            <a:endParaRPr lang="en-US" sz="1200" dirty="0"/>
          </a:p>
        </p:txBody>
      </p:sp>
      <p:sp>
        <p:nvSpPr>
          <p:cNvPr id="8" name="Text 5"/>
          <p:cNvSpPr txBox="1"/>
          <p:nvPr/>
        </p:nvSpPr>
        <p:spPr>
          <a:xfrm>
            <a:off x="640080" y="1828800"/>
            <a:ext cx="2148840" cy="137160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rgbClr val="111111"/>
                </a:solidFill>
              </a:rPr>
              <a:t>Pantallas de cliente, personal y administrador</a:t>
            </a:r>
            <a:endParaRPr lang="en-US" sz="1200" dirty="0"/>
          </a:p>
          <a:p>
            <a:pPr marL="342900" indent="-342900">
              <a:spcAft>
                <a:spcPts val="400"/>
              </a:spcAft>
              <a:buSzPct val="100000"/>
              <a:buChar char="•"/>
            </a:pPr>
            <a:r>
              <a:rPr lang="en-US" sz="1200" dirty="0">
                <a:solidFill>
                  <a:srgbClr val="111111"/>
                </a:solidFill>
              </a:rPr>
              <a:t>Cámara para leer el QR</a:t>
            </a:r>
            <a:endParaRPr lang="en-US" sz="1200" dirty="0"/>
          </a:p>
          <a:p>
            <a:pPr marL="342900" indent="-342900">
              <a:spcAft>
                <a:spcPts val="400"/>
              </a:spcAft>
              <a:buSzPct val="100000"/>
              <a:buChar char="•"/>
            </a:pPr>
            <a:r>
              <a:rPr lang="en-US" sz="1200" dirty="0">
                <a:solidFill>
                  <a:srgbClr val="111111"/>
                </a:solidFill>
              </a:rPr>
              <a:t>Habla con la API por HTTPS</a:t>
            </a:r>
            <a:endParaRPr lang="en-US" sz="1200" dirty="0"/>
          </a:p>
        </p:txBody>
      </p:sp>
      <p:sp>
        <p:nvSpPr>
          <p:cNvPr id="9" name="Shape 6"/>
          <p:cNvSpPr/>
          <p:nvPr/>
        </p:nvSpPr>
        <p:spPr>
          <a:xfrm>
            <a:off x="2999232" y="2057400"/>
            <a:ext cx="265176" cy="256032"/>
          </a:xfrm>
          <a:prstGeom prst="rightArrow">
            <a:avLst/>
          </a:prstGeom>
          <a:solidFill>
            <a:srgbClr val="F5C400"/>
          </a:solidFill>
          <a:ln w="12700">
            <a:solidFill>
              <a:srgbClr val="F5C400"/>
            </a:solidFill>
            <a:prstDash val="solid"/>
          </a:ln>
        </p:spPr>
      </p:sp>
      <p:sp>
        <p:nvSpPr>
          <p:cNvPr id="10" name="Shape 7"/>
          <p:cNvSpPr/>
          <p:nvPr/>
        </p:nvSpPr>
        <p:spPr>
          <a:xfrm>
            <a:off x="3291840" y="1051560"/>
            <a:ext cx="2514600" cy="2240280"/>
          </a:xfrm>
          <a:prstGeom prst="roundRect">
            <a:avLst>
              <a:gd name="adj" fmla="val 3265"/>
            </a:avLst>
          </a:prstGeom>
          <a:solidFill>
            <a:srgbClr val="111111"/>
          </a:solidFill>
          <a:ln w="12700">
            <a:solidFill>
              <a:srgbClr val="111111"/>
            </a:solidFill>
            <a:prstDash val="solid"/>
          </a:ln>
        </p:spPr>
      </p:sp>
      <p:sp>
        <p:nvSpPr>
          <p:cNvPr id="11" name="Shape 8"/>
          <p:cNvSpPr/>
          <p:nvPr/>
        </p:nvSpPr>
        <p:spPr>
          <a:xfrm>
            <a:off x="3474720" y="1188720"/>
            <a:ext cx="457200" cy="457200"/>
          </a:xfrm>
          <a:prstGeom prst="ellipse">
            <a:avLst/>
          </a:prstGeom>
          <a:solidFill>
            <a:srgbClr val="F5C400"/>
          </a:solidFill>
          <a:ln w="12700">
            <a:solidFill>
              <a:srgbClr val="F5C400"/>
            </a:solidFill>
            <a:prstDash val="solid"/>
          </a:ln>
        </p:spPr>
      </p:sp>
      <p:pic>
        <p:nvPicPr>
          <p:cNvPr id="12" name="Image 1" descr="preencoded.png">    </p:cNvPr>
          <p:cNvPicPr>
            <a:picLocks noChangeAspect="1"/>
          </p:cNvPicPr>
          <p:nvPr/>
        </p:nvPicPr>
        <p:blipFill>
          <a:blip r:embed="rId2"/>
          <a:stretch>
            <a:fillRect/>
          </a:stretch>
        </p:blipFill>
        <p:spPr>
          <a:xfrm>
            <a:off x="3589020" y="1303020"/>
            <a:ext cx="228600" cy="228600"/>
          </a:xfrm>
          <a:prstGeom prst="rect">
            <a:avLst/>
          </a:prstGeom>
        </p:spPr>
      </p:pic>
      <p:sp>
        <p:nvSpPr>
          <p:cNvPr id="13" name="Text 9"/>
          <p:cNvSpPr txBox="1"/>
          <p:nvPr/>
        </p:nvSpPr>
        <p:spPr>
          <a:xfrm>
            <a:off x="4041648" y="1170432"/>
            <a:ext cx="1645920" cy="274320"/>
          </a:xfrm>
          <a:prstGeom prst="rect">
            <a:avLst/>
          </a:prstGeom>
          <a:noFill/>
          <a:ln/>
        </p:spPr>
        <p:txBody>
          <a:bodyPr wrap="square" lIns="0" tIns="0" rIns="0" bIns="0" rtlCol="0" anchor="t"/>
          <a:lstStyle/>
          <a:p>
            <a:pPr indent="0" marL="0">
              <a:buNone/>
            </a:pPr>
            <a:r>
              <a:rPr lang="en-US" sz="1600" b="1" dirty="0">
                <a:solidFill>
                  <a:srgbClr val="FFFFFF"/>
                </a:solidFill>
                <a:latin typeface="Arial" pitchFamily="34" charset="0"/>
                <a:ea typeface="Arial" pitchFamily="34" charset="-122"/>
                <a:cs typeface="Arial" pitchFamily="34" charset="-120"/>
              </a:rPr>
              <a:t>API REST</a:t>
            </a:r>
            <a:endParaRPr lang="en-US" sz="1600" dirty="0"/>
          </a:p>
        </p:txBody>
      </p:sp>
      <p:sp>
        <p:nvSpPr>
          <p:cNvPr id="14" name="Text 10"/>
          <p:cNvSpPr txBox="1"/>
          <p:nvPr/>
        </p:nvSpPr>
        <p:spPr>
          <a:xfrm>
            <a:off x="4041648" y="1444752"/>
            <a:ext cx="1645920" cy="228600"/>
          </a:xfrm>
          <a:prstGeom prst="rect">
            <a:avLst/>
          </a:prstGeom>
          <a:noFill/>
          <a:ln/>
        </p:spPr>
        <p:txBody>
          <a:bodyPr wrap="square" lIns="0" tIns="0" rIns="0" bIns="0" rtlCol="0" anchor="t"/>
          <a:lstStyle/>
          <a:p>
            <a:pPr indent="0" marL="0">
              <a:buNone/>
            </a:pPr>
            <a:r>
              <a:rPr lang="en-US" sz="1200" b="1" dirty="0">
                <a:solidFill>
                  <a:srgbClr val="F5C400"/>
                </a:solidFill>
              </a:rPr>
              <a:t>Python + FastAPI</a:t>
            </a:r>
            <a:endParaRPr lang="en-US" sz="1200" dirty="0"/>
          </a:p>
        </p:txBody>
      </p:sp>
      <p:sp>
        <p:nvSpPr>
          <p:cNvPr id="15" name="Text 11"/>
          <p:cNvSpPr txBox="1"/>
          <p:nvPr/>
        </p:nvSpPr>
        <p:spPr>
          <a:xfrm>
            <a:off x="3474720" y="1828800"/>
            <a:ext cx="2148840" cy="137160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rgbClr val="FFFFFF"/>
                </a:solidFill>
              </a:rPr>
              <a:t>Login y permisos por rol (JWT)</a:t>
            </a:r>
            <a:endParaRPr lang="en-US" sz="1200" dirty="0"/>
          </a:p>
          <a:p>
            <a:pPr marL="342900" indent="-342900">
              <a:spcAft>
                <a:spcPts val="400"/>
              </a:spcAft>
              <a:buSzPct val="100000"/>
              <a:buChar char="•"/>
            </a:pPr>
            <a:r>
              <a:rPr lang="en-US" sz="1200" dirty="0">
                <a:solidFill>
                  <a:srgbClr val="FFFFFF"/>
                </a:solidFill>
              </a:rPr>
              <a:t>Valida el QR: vigente y sin usar</a:t>
            </a:r>
            <a:endParaRPr lang="en-US" sz="1200" dirty="0"/>
          </a:p>
          <a:p>
            <a:pPr marL="342900" indent="-342900">
              <a:spcAft>
                <a:spcPts val="400"/>
              </a:spcAft>
              <a:buSzPct val="100000"/>
              <a:buChar char="•"/>
            </a:pPr>
            <a:r>
              <a:rPr lang="en-US" sz="1200" dirty="0">
                <a:solidFill>
                  <a:srgbClr val="FFFFFF"/>
                </a:solidFill>
              </a:rPr>
              <a:t>Visitas, canjes y panel</a:t>
            </a:r>
            <a:endParaRPr lang="en-US" sz="1200" dirty="0"/>
          </a:p>
        </p:txBody>
      </p:sp>
      <p:sp>
        <p:nvSpPr>
          <p:cNvPr id="16" name="Shape 12"/>
          <p:cNvSpPr/>
          <p:nvPr/>
        </p:nvSpPr>
        <p:spPr>
          <a:xfrm>
            <a:off x="5833872" y="2057400"/>
            <a:ext cx="265176" cy="256032"/>
          </a:xfrm>
          <a:prstGeom prst="rightArrow">
            <a:avLst/>
          </a:prstGeom>
          <a:solidFill>
            <a:srgbClr val="F5C400"/>
          </a:solidFill>
          <a:ln w="12700">
            <a:solidFill>
              <a:srgbClr val="F5C400"/>
            </a:solidFill>
            <a:prstDash val="solid"/>
          </a:ln>
        </p:spPr>
      </p:sp>
      <p:sp>
        <p:nvSpPr>
          <p:cNvPr id="17" name="Shape 13"/>
          <p:cNvSpPr/>
          <p:nvPr/>
        </p:nvSpPr>
        <p:spPr>
          <a:xfrm>
            <a:off x="6126480" y="1051560"/>
            <a:ext cx="2514600" cy="2240280"/>
          </a:xfrm>
          <a:prstGeom prst="roundRect">
            <a:avLst>
              <a:gd name="adj" fmla="val 3265"/>
            </a:avLst>
          </a:prstGeom>
          <a:solidFill>
            <a:srgbClr val="F2F2F2"/>
          </a:solidFill>
          <a:ln w="12700">
            <a:solidFill>
              <a:srgbClr val="F2F2F2"/>
            </a:solidFill>
            <a:prstDash val="solid"/>
          </a:ln>
        </p:spPr>
      </p:sp>
      <p:sp>
        <p:nvSpPr>
          <p:cNvPr id="18" name="Shape 14"/>
          <p:cNvSpPr/>
          <p:nvPr/>
        </p:nvSpPr>
        <p:spPr>
          <a:xfrm>
            <a:off x="6309360" y="1188720"/>
            <a:ext cx="457200" cy="457200"/>
          </a:xfrm>
          <a:prstGeom prst="ellipse">
            <a:avLst/>
          </a:prstGeom>
          <a:solidFill>
            <a:srgbClr val="111111"/>
          </a:solidFill>
          <a:ln w="12700">
            <a:solidFill>
              <a:srgbClr val="111111"/>
            </a:solidFill>
            <a:prstDash val="solid"/>
          </a:ln>
        </p:spPr>
      </p:sp>
      <p:pic>
        <p:nvPicPr>
          <p:cNvPr id="19" name="Image 2" descr="preencoded.png">    </p:cNvPr>
          <p:cNvPicPr>
            <a:picLocks noChangeAspect="1"/>
          </p:cNvPicPr>
          <p:nvPr/>
        </p:nvPicPr>
        <p:blipFill>
          <a:blip r:embed="rId3"/>
          <a:stretch>
            <a:fillRect/>
          </a:stretch>
        </p:blipFill>
        <p:spPr>
          <a:xfrm>
            <a:off x="6423660" y="1303020"/>
            <a:ext cx="228600" cy="228600"/>
          </a:xfrm>
          <a:prstGeom prst="rect">
            <a:avLst/>
          </a:prstGeom>
        </p:spPr>
      </p:pic>
      <p:sp>
        <p:nvSpPr>
          <p:cNvPr id="20" name="Text 15"/>
          <p:cNvSpPr txBox="1"/>
          <p:nvPr/>
        </p:nvSpPr>
        <p:spPr>
          <a:xfrm>
            <a:off x="6876288" y="1170432"/>
            <a:ext cx="1645920" cy="274320"/>
          </a:xfrm>
          <a:prstGeom prst="rect">
            <a:avLst/>
          </a:prstGeom>
          <a:noFill/>
          <a:ln/>
        </p:spPr>
        <p:txBody>
          <a:bodyPr wrap="square" lIns="0" tIns="0" rIns="0" bIns="0" rtlCol="0" anchor="t"/>
          <a:lstStyle/>
          <a:p>
            <a:pPr indent="0" marL="0">
              <a:buNone/>
            </a:pPr>
            <a:r>
              <a:rPr lang="en-US" sz="1600" b="1" dirty="0">
                <a:solidFill>
                  <a:srgbClr val="111111"/>
                </a:solidFill>
                <a:latin typeface="Arial" pitchFamily="34" charset="0"/>
                <a:ea typeface="Arial" pitchFamily="34" charset="-122"/>
                <a:cs typeface="Arial" pitchFamily="34" charset="-120"/>
              </a:rPr>
              <a:t>Base de datos</a:t>
            </a:r>
            <a:endParaRPr lang="en-US" sz="1600" dirty="0"/>
          </a:p>
        </p:txBody>
      </p:sp>
      <p:sp>
        <p:nvSpPr>
          <p:cNvPr id="21" name="Text 16"/>
          <p:cNvSpPr txBox="1"/>
          <p:nvPr/>
        </p:nvSpPr>
        <p:spPr>
          <a:xfrm>
            <a:off x="6876288" y="1444752"/>
            <a:ext cx="1645920" cy="228600"/>
          </a:xfrm>
          <a:prstGeom prst="rect">
            <a:avLst/>
          </a:prstGeom>
          <a:noFill/>
          <a:ln/>
        </p:spPr>
        <p:txBody>
          <a:bodyPr wrap="square" lIns="0" tIns="0" rIns="0" bIns="0" rtlCol="0" anchor="t"/>
          <a:lstStyle/>
          <a:p>
            <a:pPr indent="0" marL="0">
              <a:buNone/>
            </a:pPr>
            <a:r>
              <a:rPr lang="en-US" sz="1200" b="1" dirty="0">
                <a:solidFill>
                  <a:srgbClr val="6B6B6B"/>
                </a:solidFill>
              </a:rPr>
              <a:t>MongoDB</a:t>
            </a:r>
            <a:endParaRPr lang="en-US" sz="1200" dirty="0"/>
          </a:p>
        </p:txBody>
      </p:sp>
      <p:sp>
        <p:nvSpPr>
          <p:cNvPr id="22" name="Text 17"/>
          <p:cNvSpPr txBox="1"/>
          <p:nvPr/>
        </p:nvSpPr>
        <p:spPr>
          <a:xfrm>
            <a:off x="6309360" y="1828800"/>
            <a:ext cx="2148840" cy="137160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rgbClr val="111111"/>
                </a:solidFill>
              </a:rPr>
              <a:t>12 colecciones: usuarios, visitas, QR, canjes, menú, premios y más</a:t>
            </a:r>
            <a:endParaRPr lang="en-US" sz="1200" dirty="0"/>
          </a:p>
        </p:txBody>
      </p:sp>
      <p:sp>
        <p:nvSpPr>
          <p:cNvPr id="23" name="Text 18"/>
          <p:cNvSpPr txBox="1"/>
          <p:nvPr/>
        </p:nvSpPr>
        <p:spPr>
          <a:xfrm>
            <a:off x="457200" y="3474720"/>
            <a:ext cx="3657600" cy="274320"/>
          </a:xfrm>
          <a:prstGeom prst="rect">
            <a:avLst/>
          </a:prstGeom>
          <a:noFill/>
          <a:ln/>
        </p:spPr>
        <p:txBody>
          <a:bodyPr wrap="square" lIns="0" tIns="0" rIns="0" bIns="0" rtlCol="0" anchor="t"/>
          <a:lstStyle/>
          <a:p>
            <a:pPr indent="0" marL="0">
              <a:buNone/>
            </a:pPr>
            <a:r>
              <a:rPr lang="en-US" sz="1300" b="1" dirty="0">
                <a:solidFill>
                  <a:srgbClr val="111111"/>
                </a:solidFill>
              </a:rPr>
              <a:t>Servicios externos</a:t>
            </a:r>
            <a:endParaRPr lang="en-US" sz="1300" dirty="0"/>
          </a:p>
        </p:txBody>
      </p:sp>
      <p:sp>
        <p:nvSpPr>
          <p:cNvPr id="24" name="Shape 19"/>
          <p:cNvSpPr/>
          <p:nvPr/>
        </p:nvSpPr>
        <p:spPr>
          <a:xfrm>
            <a:off x="457200" y="3840480"/>
            <a:ext cx="411480" cy="411480"/>
          </a:xfrm>
          <a:prstGeom prst="ellipse">
            <a:avLst/>
          </a:prstGeom>
          <a:solidFill>
            <a:srgbClr val="F5C400"/>
          </a:solidFill>
          <a:ln w="12700">
            <a:solidFill>
              <a:srgbClr val="F5C400"/>
            </a:solidFill>
            <a:prstDash val="solid"/>
          </a:ln>
        </p:spPr>
      </p:sp>
      <p:pic>
        <p:nvPicPr>
          <p:cNvPr id="25" name="Image 3" descr="preencoded.png">    </p:cNvPr>
          <p:cNvPicPr>
            <a:picLocks noChangeAspect="1"/>
          </p:cNvPicPr>
          <p:nvPr/>
        </p:nvPicPr>
        <p:blipFill>
          <a:blip r:embed="rId4"/>
          <a:stretch>
            <a:fillRect/>
          </a:stretch>
        </p:blipFill>
        <p:spPr>
          <a:xfrm>
            <a:off x="560070" y="3943350"/>
            <a:ext cx="205740" cy="205740"/>
          </a:xfrm>
          <a:prstGeom prst="rect">
            <a:avLst/>
          </a:prstGeom>
        </p:spPr>
      </p:pic>
      <p:sp>
        <p:nvSpPr>
          <p:cNvPr id="26" name="Text 20"/>
          <p:cNvSpPr txBox="1"/>
          <p:nvPr/>
        </p:nvSpPr>
        <p:spPr>
          <a:xfrm>
            <a:off x="987552" y="3813048"/>
            <a:ext cx="2011680" cy="246888"/>
          </a:xfrm>
          <a:prstGeom prst="rect">
            <a:avLst/>
          </a:prstGeom>
          <a:noFill/>
          <a:ln/>
        </p:spPr>
        <p:txBody>
          <a:bodyPr wrap="square" lIns="0" tIns="0" rIns="0" bIns="0" rtlCol="0" anchor="t"/>
          <a:lstStyle/>
          <a:p>
            <a:pPr indent="0" marL="0">
              <a:buNone/>
            </a:pPr>
            <a:r>
              <a:rPr lang="en-US" sz="1300" b="1" dirty="0">
                <a:solidFill>
                  <a:srgbClr val="111111"/>
                </a:solidFill>
              </a:rPr>
              <a:t>Google Sign-In</a:t>
            </a:r>
            <a:endParaRPr lang="en-US" sz="1300" dirty="0"/>
          </a:p>
        </p:txBody>
      </p:sp>
      <p:sp>
        <p:nvSpPr>
          <p:cNvPr id="27" name="Text 21"/>
          <p:cNvSpPr txBox="1"/>
          <p:nvPr/>
        </p:nvSpPr>
        <p:spPr>
          <a:xfrm>
            <a:off x="987552" y="4059936"/>
            <a:ext cx="2011680" cy="246888"/>
          </a:xfrm>
          <a:prstGeom prst="rect">
            <a:avLst/>
          </a:prstGeom>
          <a:noFill/>
          <a:ln/>
        </p:spPr>
        <p:txBody>
          <a:bodyPr wrap="square" lIns="0" tIns="0" rIns="0" bIns="0" rtlCol="0" anchor="t"/>
          <a:lstStyle/>
          <a:p>
            <a:pPr indent="0" marL="0">
              <a:buNone/>
            </a:pPr>
            <a:r>
              <a:rPr lang="en-US" sz="1200" dirty="0">
                <a:solidFill>
                  <a:srgbClr val="111111"/>
                </a:solidFill>
              </a:rPr>
              <a:t>verifica el login con Google</a:t>
            </a:r>
            <a:endParaRPr lang="en-US" sz="1200" dirty="0"/>
          </a:p>
        </p:txBody>
      </p:sp>
      <p:sp>
        <p:nvSpPr>
          <p:cNvPr id="28" name="Shape 22"/>
          <p:cNvSpPr/>
          <p:nvPr/>
        </p:nvSpPr>
        <p:spPr>
          <a:xfrm>
            <a:off x="3291840" y="3840480"/>
            <a:ext cx="411480" cy="411480"/>
          </a:xfrm>
          <a:prstGeom prst="ellipse">
            <a:avLst/>
          </a:prstGeom>
          <a:solidFill>
            <a:srgbClr val="F5C400"/>
          </a:solidFill>
          <a:ln w="12700">
            <a:solidFill>
              <a:srgbClr val="F5C400"/>
            </a:solidFill>
            <a:prstDash val="solid"/>
          </a:ln>
        </p:spPr>
      </p:sp>
      <p:pic>
        <p:nvPicPr>
          <p:cNvPr id="29" name="Image 4" descr="preencoded.png">    </p:cNvPr>
          <p:cNvPicPr>
            <a:picLocks noChangeAspect="1"/>
          </p:cNvPicPr>
          <p:nvPr/>
        </p:nvPicPr>
        <p:blipFill>
          <a:blip r:embed="rId5"/>
          <a:stretch>
            <a:fillRect/>
          </a:stretch>
        </p:blipFill>
        <p:spPr>
          <a:xfrm>
            <a:off x="3394710" y="3943350"/>
            <a:ext cx="205740" cy="205740"/>
          </a:xfrm>
          <a:prstGeom prst="rect">
            <a:avLst/>
          </a:prstGeom>
        </p:spPr>
      </p:pic>
      <p:sp>
        <p:nvSpPr>
          <p:cNvPr id="30" name="Text 23"/>
          <p:cNvSpPr txBox="1"/>
          <p:nvPr/>
        </p:nvSpPr>
        <p:spPr>
          <a:xfrm>
            <a:off x="3822192" y="3813048"/>
            <a:ext cx="2011680" cy="246888"/>
          </a:xfrm>
          <a:prstGeom prst="rect">
            <a:avLst/>
          </a:prstGeom>
          <a:noFill/>
          <a:ln/>
        </p:spPr>
        <p:txBody>
          <a:bodyPr wrap="square" lIns="0" tIns="0" rIns="0" bIns="0" rtlCol="0" anchor="t"/>
          <a:lstStyle/>
          <a:p>
            <a:pPr indent="0" marL="0">
              <a:buNone/>
            </a:pPr>
            <a:r>
              <a:rPr lang="en-US" sz="1300" b="1" dirty="0">
                <a:solidFill>
                  <a:srgbClr val="111111"/>
                </a:solidFill>
              </a:rPr>
              <a:t>Notificaciones push</a:t>
            </a:r>
            <a:endParaRPr lang="en-US" sz="1300" dirty="0"/>
          </a:p>
        </p:txBody>
      </p:sp>
      <p:sp>
        <p:nvSpPr>
          <p:cNvPr id="31" name="Text 24"/>
          <p:cNvSpPr txBox="1"/>
          <p:nvPr/>
        </p:nvSpPr>
        <p:spPr>
          <a:xfrm>
            <a:off x="3822192" y="4059936"/>
            <a:ext cx="2011680" cy="246888"/>
          </a:xfrm>
          <a:prstGeom prst="rect">
            <a:avLst/>
          </a:prstGeom>
          <a:noFill/>
          <a:ln/>
        </p:spPr>
        <p:txBody>
          <a:bodyPr wrap="square" lIns="0" tIns="0" rIns="0" bIns="0" rtlCol="0" anchor="t"/>
          <a:lstStyle/>
          <a:p>
            <a:pPr indent="0" marL="0">
              <a:buNone/>
            </a:pPr>
            <a:r>
              <a:rPr lang="en-US" sz="1200" dirty="0">
                <a:solidFill>
                  <a:srgbClr val="111111"/>
                </a:solidFill>
              </a:rPr>
              <a:t>avisa de promociones y premios</a:t>
            </a:r>
            <a:endParaRPr lang="en-US" sz="1200" dirty="0"/>
          </a:p>
        </p:txBody>
      </p:sp>
      <p:sp>
        <p:nvSpPr>
          <p:cNvPr id="32" name="Shape 25"/>
          <p:cNvSpPr/>
          <p:nvPr/>
        </p:nvSpPr>
        <p:spPr>
          <a:xfrm>
            <a:off x="6126480" y="3840480"/>
            <a:ext cx="411480" cy="411480"/>
          </a:xfrm>
          <a:prstGeom prst="ellipse">
            <a:avLst/>
          </a:prstGeom>
          <a:solidFill>
            <a:srgbClr val="F5C400"/>
          </a:solidFill>
          <a:ln w="12700">
            <a:solidFill>
              <a:srgbClr val="F5C400"/>
            </a:solidFill>
            <a:prstDash val="solid"/>
          </a:ln>
        </p:spPr>
      </p:sp>
      <p:pic>
        <p:nvPicPr>
          <p:cNvPr id="33" name="Image 5" descr="preencoded.png">    </p:cNvPr>
          <p:cNvPicPr>
            <a:picLocks noChangeAspect="1"/>
          </p:cNvPicPr>
          <p:nvPr/>
        </p:nvPicPr>
        <p:blipFill>
          <a:blip r:embed="rId6"/>
          <a:stretch>
            <a:fillRect/>
          </a:stretch>
        </p:blipFill>
        <p:spPr>
          <a:xfrm>
            <a:off x="6229350" y="3943350"/>
            <a:ext cx="205740" cy="205740"/>
          </a:xfrm>
          <a:prstGeom prst="rect">
            <a:avLst/>
          </a:prstGeom>
        </p:spPr>
      </p:pic>
      <p:sp>
        <p:nvSpPr>
          <p:cNvPr id="34" name="Text 26"/>
          <p:cNvSpPr txBox="1"/>
          <p:nvPr/>
        </p:nvSpPr>
        <p:spPr>
          <a:xfrm>
            <a:off x="6656832" y="3813048"/>
            <a:ext cx="2011680" cy="246888"/>
          </a:xfrm>
          <a:prstGeom prst="rect">
            <a:avLst/>
          </a:prstGeom>
          <a:noFill/>
          <a:ln/>
        </p:spPr>
        <p:txBody>
          <a:bodyPr wrap="square" lIns="0" tIns="0" rIns="0" bIns="0" rtlCol="0" anchor="t"/>
          <a:lstStyle/>
          <a:p>
            <a:pPr indent="0" marL="0">
              <a:buNone/>
            </a:pPr>
            <a:r>
              <a:rPr lang="en-US" sz="1300" b="1" dirty="0">
                <a:solidFill>
                  <a:srgbClr val="111111"/>
                </a:solidFill>
              </a:rPr>
              <a:t>Nube (Sprint 2)</a:t>
            </a:r>
            <a:endParaRPr lang="en-US" sz="1300" dirty="0"/>
          </a:p>
        </p:txBody>
      </p:sp>
      <p:sp>
        <p:nvSpPr>
          <p:cNvPr id="35" name="Text 27"/>
          <p:cNvSpPr txBox="1"/>
          <p:nvPr/>
        </p:nvSpPr>
        <p:spPr>
          <a:xfrm>
            <a:off x="6656832" y="4059936"/>
            <a:ext cx="2011680" cy="246888"/>
          </a:xfrm>
          <a:prstGeom prst="rect">
            <a:avLst/>
          </a:prstGeom>
          <a:noFill/>
          <a:ln/>
        </p:spPr>
        <p:txBody>
          <a:bodyPr wrap="square" lIns="0" tIns="0" rIns="0" bIns="0" rtlCol="0" anchor="t"/>
          <a:lstStyle/>
          <a:p>
            <a:pPr indent="0" marL="0">
              <a:buNone/>
            </a:pPr>
            <a:r>
              <a:rPr lang="en-US" sz="1200" dirty="0">
                <a:solidFill>
                  <a:srgbClr val="111111"/>
                </a:solidFill>
              </a:rPr>
              <a:t>API y base de datos en Europa</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600" b="1" dirty="0">
                <a:solidFill>
                  <a:srgbClr val="111111"/>
                </a:solidFill>
                <a:latin typeface="Arial" pitchFamily="34" charset="0"/>
                <a:ea typeface="Arial" pitchFamily="34" charset="-122"/>
                <a:cs typeface="Arial" pitchFamily="34" charset="-120"/>
              </a:rPr>
              <a:t>Lanzamiento en Android e iOS, sin Mac</a:t>
            </a:r>
            <a:endParaRPr lang="en-US" sz="2600" dirty="0"/>
          </a:p>
        </p:txBody>
      </p:sp>
      <p:sp>
        <p:nvSpPr>
          <p:cNvPr id="3" name="Shape 1"/>
          <p:cNvSpPr/>
          <p:nvPr/>
        </p:nvSpPr>
        <p:spPr>
          <a:xfrm>
            <a:off x="457200" y="1051560"/>
            <a:ext cx="2560320" cy="3520440"/>
          </a:xfrm>
          <a:prstGeom prst="roundRect">
            <a:avLst>
              <a:gd name="adj" fmla="val 2857"/>
            </a:avLst>
          </a:prstGeom>
          <a:solidFill>
            <a:srgbClr val="111111"/>
          </a:solidFill>
          <a:ln w="12700">
            <a:solidFill>
              <a:srgbClr val="111111"/>
            </a:solidFill>
            <a:prstDash val="solid"/>
          </a:ln>
        </p:spPr>
      </p:sp>
      <p:sp>
        <p:nvSpPr>
          <p:cNvPr id="4" name="Text 2"/>
          <p:cNvSpPr txBox="1"/>
          <p:nvPr/>
        </p:nvSpPr>
        <p:spPr>
          <a:xfrm>
            <a:off x="685800" y="1234440"/>
            <a:ext cx="2194560" cy="822960"/>
          </a:xfrm>
          <a:prstGeom prst="rect">
            <a:avLst/>
          </a:prstGeom>
          <a:noFill/>
          <a:ln/>
        </p:spPr>
        <p:txBody>
          <a:bodyPr wrap="square" lIns="0" tIns="0" rIns="0" bIns="0" rtlCol="0" anchor="t"/>
          <a:lstStyle/>
          <a:p>
            <a:pPr indent="0" marL="0">
              <a:buNone/>
            </a:pPr>
            <a:r>
              <a:rPr lang="en-US" sz="4800" b="1" dirty="0">
                <a:solidFill>
                  <a:srgbClr val="F5C400"/>
                </a:solidFill>
                <a:latin typeface="Arial" pitchFamily="34" charset="0"/>
                <a:ea typeface="Arial" pitchFamily="34" charset="-122"/>
                <a:cs typeface="Arial" pitchFamily="34" charset="-120"/>
              </a:rPr>
              <a:t>47 %</a:t>
            </a:r>
            <a:endParaRPr lang="en-US" sz="4800" dirty="0"/>
          </a:p>
        </p:txBody>
      </p:sp>
      <p:sp>
        <p:nvSpPr>
          <p:cNvPr id="5" name="Text 3"/>
          <p:cNvSpPr txBox="1"/>
          <p:nvPr/>
        </p:nvSpPr>
        <p:spPr>
          <a:xfrm>
            <a:off x="685800" y="2103120"/>
            <a:ext cx="2148840" cy="822960"/>
          </a:xfrm>
          <a:prstGeom prst="rect">
            <a:avLst/>
          </a:prstGeom>
          <a:noFill/>
          <a:ln/>
        </p:spPr>
        <p:txBody>
          <a:bodyPr wrap="square" lIns="0" tIns="0" rIns="0" bIns="0" rtlCol="0" anchor="t"/>
          <a:lstStyle/>
          <a:p>
            <a:pPr indent="0" marL="0">
              <a:buNone/>
            </a:pPr>
            <a:r>
              <a:rPr lang="en-US" sz="1400" dirty="0">
                <a:solidFill>
                  <a:srgbClr val="FFFFFF"/>
                </a:solidFill>
              </a:rPr>
              <a:t>de los teléfonos en Irlanda usa iOS (StatCounter, septiembre de 2026).</a:t>
            </a:r>
            <a:endParaRPr lang="en-US" sz="1400" dirty="0"/>
          </a:p>
        </p:txBody>
      </p:sp>
      <p:sp>
        <p:nvSpPr>
          <p:cNvPr id="6" name="Text 4"/>
          <p:cNvSpPr txBox="1"/>
          <p:nvPr/>
        </p:nvSpPr>
        <p:spPr>
          <a:xfrm>
            <a:off x="685800" y="3108960"/>
            <a:ext cx="2148840" cy="1188720"/>
          </a:xfrm>
          <a:prstGeom prst="rect">
            <a:avLst/>
          </a:prstGeom>
          <a:noFill/>
          <a:ln/>
        </p:spPr>
        <p:txBody>
          <a:bodyPr wrap="square" lIns="0" tIns="0" rIns="0" bIns="0" rtlCol="0" anchor="t"/>
          <a:lstStyle/>
          <a:p>
            <a:pPr indent="0" marL="0">
              <a:buNone/>
            </a:pPr>
            <a:r>
              <a:rPr lang="en-US" sz="1300" dirty="0">
                <a:solidFill>
                  <a:srgbClr val="FFFFFF"/>
                </a:solidFill>
              </a:rPr>
              <a:t>Por la retroalimentación de la Fase 1, la app se publica en Google Play y en App Store.</a:t>
            </a:r>
            <a:endParaRPr lang="en-US" sz="1300" dirty="0"/>
          </a:p>
        </p:txBody>
      </p:sp>
      <p:sp>
        <p:nvSpPr>
          <p:cNvPr id="7" name="Shape 5"/>
          <p:cNvSpPr/>
          <p:nvPr/>
        </p:nvSpPr>
        <p:spPr>
          <a:xfrm>
            <a:off x="3291840" y="1051560"/>
            <a:ext cx="1188720" cy="1188720"/>
          </a:xfrm>
          <a:prstGeom prst="roundRect">
            <a:avLst>
              <a:gd name="adj" fmla="val 6154"/>
            </a:avLst>
          </a:prstGeom>
          <a:solidFill>
            <a:srgbClr val="F2F2F2"/>
          </a:solidFill>
          <a:ln w="12700">
            <a:solidFill>
              <a:srgbClr val="F2F2F2"/>
            </a:solidFill>
            <a:prstDash val="solid"/>
          </a:ln>
        </p:spPr>
      </p:sp>
      <p:sp>
        <p:nvSpPr>
          <p:cNvPr id="8" name="Shape 6"/>
          <p:cNvSpPr/>
          <p:nvPr/>
        </p:nvSpPr>
        <p:spPr>
          <a:xfrm>
            <a:off x="3401568" y="1143000"/>
            <a:ext cx="329184" cy="329184"/>
          </a:xfrm>
          <a:prstGeom prst="ellipse">
            <a:avLst/>
          </a:prstGeom>
          <a:solidFill>
            <a:srgbClr val="F5C400"/>
          </a:solidFill>
          <a:ln w="12700">
            <a:solidFill>
              <a:srgbClr val="F5C400"/>
            </a:solidFill>
            <a:prstDash val="solid"/>
          </a:ln>
        </p:spPr>
      </p:sp>
      <p:sp>
        <p:nvSpPr>
          <p:cNvPr id="9" name="Text 7"/>
          <p:cNvSpPr txBox="1"/>
          <p:nvPr/>
        </p:nvSpPr>
        <p:spPr>
          <a:xfrm>
            <a:off x="3401568" y="1143000"/>
            <a:ext cx="329184" cy="329184"/>
          </a:xfrm>
          <a:prstGeom prst="rect">
            <a:avLst/>
          </a:prstGeom>
          <a:noFill/>
          <a:ln/>
        </p:spPr>
        <p:txBody>
          <a:bodyPr wrap="square" lIns="0" tIns="0" rIns="0" bIns="0" rtlCol="0" anchor="ctr"/>
          <a:lstStyle/>
          <a:p>
            <a:pPr algn="ctr" indent="0" marL="0">
              <a:buNone/>
            </a:pPr>
            <a:r>
              <a:rPr lang="en-US" sz="1300" b="1" dirty="0">
                <a:solidFill>
                  <a:srgbClr val="111111"/>
                </a:solidFill>
              </a:rPr>
              <a:t>1</a:t>
            </a:r>
            <a:endParaRPr lang="en-US" sz="1300" dirty="0"/>
          </a:p>
        </p:txBody>
      </p:sp>
      <p:sp>
        <p:nvSpPr>
          <p:cNvPr id="10" name="Text 8"/>
          <p:cNvSpPr txBox="1"/>
          <p:nvPr/>
        </p:nvSpPr>
        <p:spPr>
          <a:xfrm>
            <a:off x="3401568" y="1536192"/>
            <a:ext cx="1005840" cy="658368"/>
          </a:xfrm>
          <a:prstGeom prst="rect">
            <a:avLst/>
          </a:prstGeom>
          <a:noFill/>
          <a:ln/>
        </p:spPr>
        <p:txBody>
          <a:bodyPr wrap="square" lIns="0" tIns="0" rIns="0" bIns="0" rtlCol="0" anchor="t"/>
          <a:lstStyle/>
          <a:p>
            <a:pPr indent="0" marL="0">
              <a:buNone/>
            </a:pPr>
            <a:r>
              <a:rPr lang="en-US" sz="1200" b="1" dirty="0">
                <a:solidFill>
                  <a:srgbClr val="111111"/>
                </a:solidFill>
              </a:rPr>
              <a:t>Mismo código Expo</a:t>
            </a:r>
            <a:endParaRPr lang="en-US" sz="1200" dirty="0"/>
          </a:p>
        </p:txBody>
      </p:sp>
      <p:sp>
        <p:nvSpPr>
          <p:cNvPr id="11" name="Shape 9"/>
          <p:cNvSpPr/>
          <p:nvPr/>
        </p:nvSpPr>
        <p:spPr>
          <a:xfrm>
            <a:off x="4498848" y="1517904"/>
            <a:ext cx="146304" cy="256032"/>
          </a:xfrm>
          <a:prstGeom prst="rightArrow">
            <a:avLst/>
          </a:prstGeom>
          <a:solidFill>
            <a:srgbClr val="F5C400"/>
          </a:solidFill>
          <a:ln w="12700">
            <a:solidFill>
              <a:srgbClr val="F5C400"/>
            </a:solidFill>
            <a:prstDash val="solid"/>
          </a:ln>
        </p:spPr>
      </p:sp>
      <p:sp>
        <p:nvSpPr>
          <p:cNvPr id="12" name="Shape 10"/>
          <p:cNvSpPr/>
          <p:nvPr/>
        </p:nvSpPr>
        <p:spPr>
          <a:xfrm>
            <a:off x="4663440" y="1051560"/>
            <a:ext cx="1188720" cy="1188720"/>
          </a:xfrm>
          <a:prstGeom prst="roundRect">
            <a:avLst>
              <a:gd name="adj" fmla="val 6154"/>
            </a:avLst>
          </a:prstGeom>
          <a:solidFill>
            <a:srgbClr val="F2F2F2"/>
          </a:solidFill>
          <a:ln w="12700">
            <a:solidFill>
              <a:srgbClr val="F2F2F2"/>
            </a:solidFill>
            <a:prstDash val="solid"/>
          </a:ln>
        </p:spPr>
      </p:sp>
      <p:sp>
        <p:nvSpPr>
          <p:cNvPr id="13" name="Shape 11"/>
          <p:cNvSpPr/>
          <p:nvPr/>
        </p:nvSpPr>
        <p:spPr>
          <a:xfrm>
            <a:off x="4773168" y="1143000"/>
            <a:ext cx="329184" cy="329184"/>
          </a:xfrm>
          <a:prstGeom prst="ellipse">
            <a:avLst/>
          </a:prstGeom>
          <a:solidFill>
            <a:srgbClr val="F5C400"/>
          </a:solidFill>
          <a:ln w="12700">
            <a:solidFill>
              <a:srgbClr val="F5C400"/>
            </a:solidFill>
            <a:prstDash val="solid"/>
          </a:ln>
        </p:spPr>
      </p:sp>
      <p:sp>
        <p:nvSpPr>
          <p:cNvPr id="14" name="Text 12"/>
          <p:cNvSpPr txBox="1"/>
          <p:nvPr/>
        </p:nvSpPr>
        <p:spPr>
          <a:xfrm>
            <a:off x="4773168" y="1143000"/>
            <a:ext cx="329184" cy="329184"/>
          </a:xfrm>
          <a:prstGeom prst="rect">
            <a:avLst/>
          </a:prstGeom>
          <a:noFill/>
          <a:ln/>
        </p:spPr>
        <p:txBody>
          <a:bodyPr wrap="square" lIns="0" tIns="0" rIns="0" bIns="0" rtlCol="0" anchor="ctr"/>
          <a:lstStyle/>
          <a:p>
            <a:pPr algn="ctr" indent="0" marL="0">
              <a:buNone/>
            </a:pPr>
            <a:r>
              <a:rPr lang="en-US" sz="1300" b="1" dirty="0">
                <a:solidFill>
                  <a:srgbClr val="111111"/>
                </a:solidFill>
              </a:rPr>
              <a:t>2</a:t>
            </a:r>
            <a:endParaRPr lang="en-US" sz="1300" dirty="0"/>
          </a:p>
        </p:txBody>
      </p:sp>
      <p:sp>
        <p:nvSpPr>
          <p:cNvPr id="15" name="Text 13"/>
          <p:cNvSpPr txBox="1"/>
          <p:nvPr/>
        </p:nvSpPr>
        <p:spPr>
          <a:xfrm>
            <a:off x="4773168" y="1536192"/>
            <a:ext cx="1005840" cy="658368"/>
          </a:xfrm>
          <a:prstGeom prst="rect">
            <a:avLst/>
          </a:prstGeom>
          <a:noFill/>
          <a:ln/>
        </p:spPr>
        <p:txBody>
          <a:bodyPr wrap="square" lIns="0" tIns="0" rIns="0" bIns="0" rtlCol="0" anchor="t"/>
          <a:lstStyle/>
          <a:p>
            <a:pPr indent="0" marL="0">
              <a:buNone/>
            </a:pPr>
            <a:r>
              <a:rPr lang="en-US" sz="1200" b="1" dirty="0">
                <a:solidFill>
                  <a:srgbClr val="111111"/>
                </a:solidFill>
              </a:rPr>
              <a:t>EAS Build compila iOS en la nube</a:t>
            </a:r>
            <a:endParaRPr lang="en-US" sz="1200" dirty="0"/>
          </a:p>
        </p:txBody>
      </p:sp>
      <p:sp>
        <p:nvSpPr>
          <p:cNvPr id="16" name="Shape 14"/>
          <p:cNvSpPr/>
          <p:nvPr/>
        </p:nvSpPr>
        <p:spPr>
          <a:xfrm>
            <a:off x="5870448" y="1517904"/>
            <a:ext cx="146304" cy="256032"/>
          </a:xfrm>
          <a:prstGeom prst="rightArrow">
            <a:avLst/>
          </a:prstGeom>
          <a:solidFill>
            <a:srgbClr val="F5C400"/>
          </a:solidFill>
          <a:ln w="12700">
            <a:solidFill>
              <a:srgbClr val="F5C400"/>
            </a:solidFill>
            <a:prstDash val="solid"/>
          </a:ln>
        </p:spPr>
      </p:sp>
      <p:sp>
        <p:nvSpPr>
          <p:cNvPr id="17" name="Shape 15"/>
          <p:cNvSpPr/>
          <p:nvPr/>
        </p:nvSpPr>
        <p:spPr>
          <a:xfrm>
            <a:off x="6035040" y="1051560"/>
            <a:ext cx="1188720" cy="1188720"/>
          </a:xfrm>
          <a:prstGeom prst="roundRect">
            <a:avLst>
              <a:gd name="adj" fmla="val 6154"/>
            </a:avLst>
          </a:prstGeom>
          <a:solidFill>
            <a:srgbClr val="F2F2F2"/>
          </a:solidFill>
          <a:ln w="12700">
            <a:solidFill>
              <a:srgbClr val="F2F2F2"/>
            </a:solidFill>
            <a:prstDash val="solid"/>
          </a:ln>
        </p:spPr>
      </p:sp>
      <p:sp>
        <p:nvSpPr>
          <p:cNvPr id="18" name="Shape 16"/>
          <p:cNvSpPr/>
          <p:nvPr/>
        </p:nvSpPr>
        <p:spPr>
          <a:xfrm>
            <a:off x="6144768" y="1143000"/>
            <a:ext cx="329184" cy="329184"/>
          </a:xfrm>
          <a:prstGeom prst="ellipse">
            <a:avLst/>
          </a:prstGeom>
          <a:solidFill>
            <a:srgbClr val="F5C400"/>
          </a:solidFill>
          <a:ln w="12700">
            <a:solidFill>
              <a:srgbClr val="F5C400"/>
            </a:solidFill>
            <a:prstDash val="solid"/>
          </a:ln>
        </p:spPr>
      </p:sp>
      <p:sp>
        <p:nvSpPr>
          <p:cNvPr id="19" name="Text 17"/>
          <p:cNvSpPr txBox="1"/>
          <p:nvPr/>
        </p:nvSpPr>
        <p:spPr>
          <a:xfrm>
            <a:off x="6144768" y="1143000"/>
            <a:ext cx="329184" cy="329184"/>
          </a:xfrm>
          <a:prstGeom prst="rect">
            <a:avLst/>
          </a:prstGeom>
          <a:noFill/>
          <a:ln/>
        </p:spPr>
        <p:txBody>
          <a:bodyPr wrap="square" lIns="0" tIns="0" rIns="0" bIns="0" rtlCol="0" anchor="ctr"/>
          <a:lstStyle/>
          <a:p>
            <a:pPr algn="ctr" indent="0" marL="0">
              <a:buNone/>
            </a:pPr>
            <a:r>
              <a:rPr lang="en-US" sz="1300" b="1" dirty="0">
                <a:solidFill>
                  <a:srgbClr val="111111"/>
                </a:solidFill>
              </a:rPr>
              <a:t>3</a:t>
            </a:r>
            <a:endParaRPr lang="en-US" sz="1300" dirty="0"/>
          </a:p>
        </p:txBody>
      </p:sp>
      <p:sp>
        <p:nvSpPr>
          <p:cNvPr id="20" name="Text 18"/>
          <p:cNvSpPr txBox="1"/>
          <p:nvPr/>
        </p:nvSpPr>
        <p:spPr>
          <a:xfrm>
            <a:off x="6144768" y="1536192"/>
            <a:ext cx="1005840" cy="658368"/>
          </a:xfrm>
          <a:prstGeom prst="rect">
            <a:avLst/>
          </a:prstGeom>
          <a:noFill/>
          <a:ln/>
        </p:spPr>
        <p:txBody>
          <a:bodyPr wrap="square" lIns="0" tIns="0" rIns="0" bIns="0" rtlCol="0" anchor="t"/>
          <a:lstStyle/>
          <a:p>
            <a:pPr indent="0" marL="0">
              <a:buNone/>
            </a:pPr>
            <a:r>
              <a:rPr lang="en-US" sz="1200" b="1" dirty="0">
                <a:solidFill>
                  <a:srgbClr val="111111"/>
                </a:solidFill>
              </a:rPr>
              <a:t>TestFlight: prueba en iPhones reales</a:t>
            </a:r>
            <a:endParaRPr lang="en-US" sz="1200" dirty="0"/>
          </a:p>
        </p:txBody>
      </p:sp>
      <p:sp>
        <p:nvSpPr>
          <p:cNvPr id="21" name="Shape 19"/>
          <p:cNvSpPr/>
          <p:nvPr/>
        </p:nvSpPr>
        <p:spPr>
          <a:xfrm>
            <a:off x="7242048" y="1517904"/>
            <a:ext cx="146304" cy="256032"/>
          </a:xfrm>
          <a:prstGeom prst="rightArrow">
            <a:avLst/>
          </a:prstGeom>
          <a:solidFill>
            <a:srgbClr val="F5C400"/>
          </a:solidFill>
          <a:ln w="12700">
            <a:solidFill>
              <a:srgbClr val="F5C400"/>
            </a:solidFill>
            <a:prstDash val="solid"/>
          </a:ln>
        </p:spPr>
      </p:sp>
      <p:sp>
        <p:nvSpPr>
          <p:cNvPr id="22" name="Shape 20"/>
          <p:cNvSpPr/>
          <p:nvPr/>
        </p:nvSpPr>
        <p:spPr>
          <a:xfrm>
            <a:off x="7406640" y="1051560"/>
            <a:ext cx="1188720" cy="1188720"/>
          </a:xfrm>
          <a:prstGeom prst="roundRect">
            <a:avLst>
              <a:gd name="adj" fmla="val 6154"/>
            </a:avLst>
          </a:prstGeom>
          <a:solidFill>
            <a:srgbClr val="F2F2F2"/>
          </a:solidFill>
          <a:ln w="12700">
            <a:solidFill>
              <a:srgbClr val="F2F2F2"/>
            </a:solidFill>
            <a:prstDash val="solid"/>
          </a:ln>
        </p:spPr>
      </p:sp>
      <p:sp>
        <p:nvSpPr>
          <p:cNvPr id="23" name="Shape 21"/>
          <p:cNvSpPr/>
          <p:nvPr/>
        </p:nvSpPr>
        <p:spPr>
          <a:xfrm>
            <a:off x="7516368" y="1143000"/>
            <a:ext cx="329184" cy="329184"/>
          </a:xfrm>
          <a:prstGeom prst="ellipse">
            <a:avLst/>
          </a:prstGeom>
          <a:solidFill>
            <a:srgbClr val="F5C400"/>
          </a:solidFill>
          <a:ln w="12700">
            <a:solidFill>
              <a:srgbClr val="F5C400"/>
            </a:solidFill>
            <a:prstDash val="solid"/>
          </a:ln>
        </p:spPr>
      </p:sp>
      <p:sp>
        <p:nvSpPr>
          <p:cNvPr id="24" name="Text 22"/>
          <p:cNvSpPr txBox="1"/>
          <p:nvPr/>
        </p:nvSpPr>
        <p:spPr>
          <a:xfrm>
            <a:off x="7516368" y="1143000"/>
            <a:ext cx="329184" cy="329184"/>
          </a:xfrm>
          <a:prstGeom prst="rect">
            <a:avLst/>
          </a:prstGeom>
          <a:noFill/>
          <a:ln/>
        </p:spPr>
        <p:txBody>
          <a:bodyPr wrap="square" lIns="0" tIns="0" rIns="0" bIns="0" rtlCol="0" anchor="ctr"/>
          <a:lstStyle/>
          <a:p>
            <a:pPr algn="ctr" indent="0" marL="0">
              <a:buNone/>
            </a:pPr>
            <a:r>
              <a:rPr lang="en-US" sz="1300" b="1" dirty="0">
                <a:solidFill>
                  <a:srgbClr val="111111"/>
                </a:solidFill>
              </a:rPr>
              <a:t>4</a:t>
            </a:r>
            <a:endParaRPr lang="en-US" sz="1300" dirty="0"/>
          </a:p>
        </p:txBody>
      </p:sp>
      <p:sp>
        <p:nvSpPr>
          <p:cNvPr id="25" name="Text 23"/>
          <p:cNvSpPr txBox="1"/>
          <p:nvPr/>
        </p:nvSpPr>
        <p:spPr>
          <a:xfrm>
            <a:off x="7516368" y="1536192"/>
            <a:ext cx="1005840" cy="658368"/>
          </a:xfrm>
          <a:prstGeom prst="rect">
            <a:avLst/>
          </a:prstGeom>
          <a:noFill/>
          <a:ln/>
        </p:spPr>
        <p:txBody>
          <a:bodyPr wrap="square" lIns="0" tIns="0" rIns="0" bIns="0" rtlCol="0" anchor="t"/>
          <a:lstStyle/>
          <a:p>
            <a:pPr indent="0" marL="0">
              <a:buNone/>
            </a:pPr>
            <a:r>
              <a:rPr lang="en-US" sz="1200" b="1" dirty="0">
                <a:solidFill>
                  <a:srgbClr val="111111"/>
                </a:solidFill>
              </a:rPr>
              <a:t>Revisión de Apple y App Store</a:t>
            </a:r>
            <a:endParaRPr lang="en-US" sz="1200" dirty="0"/>
          </a:p>
        </p:txBody>
      </p:sp>
      <p:sp>
        <p:nvSpPr>
          <p:cNvPr id="26" name="Shape 24"/>
          <p:cNvSpPr/>
          <p:nvPr/>
        </p:nvSpPr>
        <p:spPr>
          <a:xfrm>
            <a:off x="3291840" y="2423160"/>
            <a:ext cx="5394960" cy="868680"/>
          </a:xfrm>
          <a:prstGeom prst="roundRect">
            <a:avLst>
              <a:gd name="adj" fmla="val 8421"/>
            </a:avLst>
          </a:prstGeom>
          <a:solidFill>
            <a:srgbClr val="FFF4BF"/>
          </a:solidFill>
          <a:ln w="12700">
            <a:solidFill>
              <a:srgbClr val="FFF4BF"/>
            </a:solidFill>
            <a:prstDash val="solid"/>
          </a:ln>
        </p:spPr>
      </p:sp>
      <p:sp>
        <p:nvSpPr>
          <p:cNvPr id="27" name="Text 25"/>
          <p:cNvSpPr txBox="1"/>
          <p:nvPr/>
        </p:nvSpPr>
        <p:spPr>
          <a:xfrm>
            <a:off x="3474720" y="2487168"/>
            <a:ext cx="5074920" cy="749808"/>
          </a:xfrm>
          <a:prstGeom prst="rect">
            <a:avLst/>
          </a:prstGeom>
          <a:noFill/>
          <a:ln/>
        </p:spPr>
        <p:txBody>
          <a:bodyPr wrap="square" lIns="0" tIns="0" rIns="0" bIns="0" rtlCol="0" anchor="ctr"/>
          <a:lstStyle/>
          <a:p>
            <a:pPr indent="0" marL="0">
              <a:buNone/>
            </a:pPr>
            <a:r>
              <a:rPr lang="en-US" sz="1200" b="1" dirty="0">
                <a:solidFill>
                  <a:srgbClr val="111111"/>
                </a:solidFill>
              </a:rPr>
              <a:t>Qué exige Apple: </a:t>
            </a:r>
            <a:pPr indent="0" marL="0">
              <a:buNone/>
            </a:pPr>
            <a:r>
              <a:rPr lang="en-US" sz="1200" dirty="0">
                <a:solidFill>
                  <a:srgbClr val="111111"/>
                </a:solidFill>
              </a:rPr>
              <a:t>iniciar sesión con Apple si la app ofrece login con Google (nueva HU-20, Sprint 2), borrado de cuenta en la app y etiqueta de privacidad (Sprint 3).</a:t>
            </a:r>
            <a:endParaRPr lang="en-US" sz="1200" dirty="0"/>
          </a:p>
        </p:txBody>
      </p:sp>
      <p:sp>
        <p:nvSpPr>
          <p:cNvPr id="28" name="Text 26"/>
          <p:cNvSpPr txBox="1"/>
          <p:nvPr/>
        </p:nvSpPr>
        <p:spPr>
          <a:xfrm>
            <a:off x="3291840" y="3456432"/>
            <a:ext cx="1280160" cy="411480"/>
          </a:xfrm>
          <a:prstGeom prst="rect">
            <a:avLst/>
          </a:prstGeom>
          <a:noFill/>
          <a:ln/>
        </p:spPr>
        <p:txBody>
          <a:bodyPr wrap="square" lIns="0" tIns="0" rIns="0" bIns="0" rtlCol="0" anchor="t"/>
          <a:lstStyle/>
          <a:p>
            <a:pPr indent="0" marL="0">
              <a:buNone/>
            </a:pPr>
            <a:r>
              <a:rPr lang="en-US" sz="2000" b="1" dirty="0">
                <a:solidFill>
                  <a:srgbClr val="111111"/>
                </a:solidFill>
                <a:latin typeface="Arial" pitchFamily="34" charset="0"/>
                <a:ea typeface="Arial" pitchFamily="34" charset="-122"/>
                <a:cs typeface="Arial" pitchFamily="34" charset="-120"/>
              </a:rPr>
              <a:t>99 USD</a:t>
            </a:r>
            <a:endParaRPr lang="en-US" sz="2000" dirty="0"/>
          </a:p>
        </p:txBody>
      </p:sp>
      <p:sp>
        <p:nvSpPr>
          <p:cNvPr id="29" name="Text 27"/>
          <p:cNvSpPr txBox="1"/>
          <p:nvPr/>
        </p:nvSpPr>
        <p:spPr>
          <a:xfrm>
            <a:off x="3291840" y="3886200"/>
            <a:ext cx="1234440" cy="640080"/>
          </a:xfrm>
          <a:prstGeom prst="rect">
            <a:avLst/>
          </a:prstGeom>
          <a:noFill/>
          <a:ln/>
        </p:spPr>
        <p:txBody>
          <a:bodyPr wrap="square" lIns="0" tIns="0" rIns="0" bIns="0" rtlCol="0" anchor="t"/>
          <a:lstStyle/>
          <a:p>
            <a:pPr indent="0" marL="0">
              <a:buNone/>
            </a:pPr>
            <a:r>
              <a:rPr lang="en-US" sz="1100" dirty="0">
                <a:solidFill>
                  <a:srgbClr val="6B6B6B"/>
                </a:solidFill>
              </a:rPr>
              <a:t>al año, cuenta de Apple (se inscribe en el Sprint 1)</a:t>
            </a:r>
            <a:endParaRPr lang="en-US" sz="1100" dirty="0"/>
          </a:p>
        </p:txBody>
      </p:sp>
      <p:sp>
        <p:nvSpPr>
          <p:cNvPr id="30" name="Text 28"/>
          <p:cNvSpPr txBox="1"/>
          <p:nvPr/>
        </p:nvSpPr>
        <p:spPr>
          <a:xfrm>
            <a:off x="4663440" y="3456432"/>
            <a:ext cx="1280160" cy="411480"/>
          </a:xfrm>
          <a:prstGeom prst="rect">
            <a:avLst/>
          </a:prstGeom>
          <a:noFill/>
          <a:ln/>
        </p:spPr>
        <p:txBody>
          <a:bodyPr wrap="square" lIns="0" tIns="0" rIns="0" bIns="0" rtlCol="0" anchor="t"/>
          <a:lstStyle/>
          <a:p>
            <a:pPr indent="0" marL="0">
              <a:buNone/>
            </a:pPr>
            <a:r>
              <a:rPr lang="en-US" sz="2000" b="1" dirty="0">
                <a:solidFill>
                  <a:srgbClr val="111111"/>
                </a:solidFill>
                <a:latin typeface="Arial" pitchFamily="34" charset="0"/>
                <a:ea typeface="Arial" pitchFamily="34" charset="-122"/>
                <a:cs typeface="Arial" pitchFamily="34" charset="-120"/>
              </a:rPr>
              <a:t>25 USD</a:t>
            </a:r>
            <a:endParaRPr lang="en-US" sz="2000" dirty="0"/>
          </a:p>
        </p:txBody>
      </p:sp>
      <p:sp>
        <p:nvSpPr>
          <p:cNvPr id="31" name="Text 29"/>
          <p:cNvSpPr txBox="1"/>
          <p:nvPr/>
        </p:nvSpPr>
        <p:spPr>
          <a:xfrm>
            <a:off x="4663440" y="3886200"/>
            <a:ext cx="1234440" cy="640080"/>
          </a:xfrm>
          <a:prstGeom prst="rect">
            <a:avLst/>
          </a:prstGeom>
          <a:noFill/>
          <a:ln/>
        </p:spPr>
        <p:txBody>
          <a:bodyPr wrap="square" lIns="0" tIns="0" rIns="0" bIns="0" rtlCol="0" anchor="t"/>
          <a:lstStyle/>
          <a:p>
            <a:pPr indent="0" marL="0">
              <a:buNone/>
            </a:pPr>
            <a:r>
              <a:rPr lang="en-US" sz="1100" dirty="0">
                <a:solidFill>
                  <a:srgbClr val="6B6B6B"/>
                </a:solidFill>
              </a:rPr>
              <a:t>una vez, cuenta de Google Play</a:t>
            </a:r>
            <a:endParaRPr lang="en-US" sz="1100" dirty="0"/>
          </a:p>
        </p:txBody>
      </p:sp>
      <p:sp>
        <p:nvSpPr>
          <p:cNvPr id="32" name="Text 30"/>
          <p:cNvSpPr txBox="1"/>
          <p:nvPr/>
        </p:nvSpPr>
        <p:spPr>
          <a:xfrm>
            <a:off x="6035040" y="3456432"/>
            <a:ext cx="1280160" cy="411480"/>
          </a:xfrm>
          <a:prstGeom prst="rect">
            <a:avLst/>
          </a:prstGeom>
          <a:noFill/>
          <a:ln/>
        </p:spPr>
        <p:txBody>
          <a:bodyPr wrap="square" lIns="0" tIns="0" rIns="0" bIns="0" rtlCol="0" anchor="t"/>
          <a:lstStyle/>
          <a:p>
            <a:pPr indent="0" marL="0">
              <a:buNone/>
            </a:pPr>
            <a:r>
              <a:rPr lang="en-US" sz="2000" b="1" dirty="0">
                <a:solidFill>
                  <a:srgbClr val="111111"/>
                </a:solidFill>
                <a:latin typeface="Arial" pitchFamily="34" charset="0"/>
                <a:ea typeface="Arial" pitchFamily="34" charset="-122"/>
                <a:cs typeface="Arial" pitchFamily="34" charset="-120"/>
              </a:rPr>
              <a:t>0 USD</a:t>
            </a:r>
            <a:endParaRPr lang="en-US" sz="2000" dirty="0"/>
          </a:p>
        </p:txBody>
      </p:sp>
      <p:sp>
        <p:nvSpPr>
          <p:cNvPr id="33" name="Text 31"/>
          <p:cNvSpPr txBox="1"/>
          <p:nvPr/>
        </p:nvSpPr>
        <p:spPr>
          <a:xfrm>
            <a:off x="6035040" y="3886200"/>
            <a:ext cx="1234440" cy="640080"/>
          </a:xfrm>
          <a:prstGeom prst="rect">
            <a:avLst/>
          </a:prstGeom>
          <a:noFill/>
          <a:ln/>
        </p:spPr>
        <p:txBody>
          <a:bodyPr wrap="square" lIns="0" tIns="0" rIns="0" bIns="0" rtlCol="0" anchor="t"/>
          <a:lstStyle/>
          <a:p>
            <a:pPr indent="0" marL="0">
              <a:buNone/>
            </a:pPr>
            <a:r>
              <a:rPr lang="en-US" sz="1100" dirty="0">
                <a:solidFill>
                  <a:srgbClr val="6B6B6B"/>
                </a:solidFill>
              </a:rPr>
              <a:t>EAS Build: 15 builds de iOS gratis al mes</a:t>
            </a:r>
            <a:endParaRPr lang="en-US" sz="1100" dirty="0"/>
          </a:p>
        </p:txBody>
      </p:sp>
      <p:sp>
        <p:nvSpPr>
          <p:cNvPr id="34" name="Text 32"/>
          <p:cNvSpPr txBox="1"/>
          <p:nvPr/>
        </p:nvSpPr>
        <p:spPr>
          <a:xfrm>
            <a:off x="7406640" y="3456432"/>
            <a:ext cx="1280160" cy="411480"/>
          </a:xfrm>
          <a:prstGeom prst="rect">
            <a:avLst/>
          </a:prstGeom>
          <a:noFill/>
          <a:ln/>
        </p:spPr>
        <p:txBody>
          <a:bodyPr wrap="square" lIns="0" tIns="0" rIns="0" bIns="0" rtlCol="0" anchor="t"/>
          <a:lstStyle/>
          <a:p>
            <a:pPr indent="0" marL="0">
              <a:buNone/>
            </a:pPr>
            <a:r>
              <a:rPr lang="en-US" sz="2000" b="1" dirty="0">
                <a:solidFill>
                  <a:srgbClr val="111111"/>
                </a:solidFill>
                <a:latin typeface="Arial" pitchFamily="34" charset="0"/>
                <a:ea typeface="Arial" pitchFamily="34" charset="-122"/>
                <a:cs typeface="Arial" pitchFamily="34" charset="-120"/>
              </a:rPr>
              <a:t>1 USD/h</a:t>
            </a:r>
            <a:endParaRPr lang="en-US" sz="2000" dirty="0"/>
          </a:p>
        </p:txBody>
      </p:sp>
      <p:sp>
        <p:nvSpPr>
          <p:cNvPr id="35" name="Text 33"/>
          <p:cNvSpPr txBox="1"/>
          <p:nvPr/>
        </p:nvSpPr>
        <p:spPr>
          <a:xfrm>
            <a:off x="7406640" y="3886200"/>
            <a:ext cx="1234440" cy="640080"/>
          </a:xfrm>
          <a:prstGeom prst="rect">
            <a:avLst/>
          </a:prstGeom>
          <a:noFill/>
          <a:ln/>
        </p:spPr>
        <p:txBody>
          <a:bodyPr wrap="square" lIns="0" tIns="0" rIns="0" bIns="0" rtlCol="0" anchor="t"/>
          <a:lstStyle/>
          <a:p>
            <a:pPr indent="0" marL="0">
              <a:buNone/>
            </a:pPr>
            <a:r>
              <a:rPr lang="en-US" sz="1100" dirty="0">
                <a:solidFill>
                  <a:srgbClr val="6B6B6B"/>
                </a:solidFill>
              </a:rPr>
              <a:t>Mac en la nube, solo si hace falta</a:t>
            </a:r>
            <a:endParaRPr lang="en-US" sz="11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600" b="1" dirty="0">
                <a:solidFill>
                  <a:srgbClr val="111111"/>
                </a:solidFill>
                <a:latin typeface="Arial" pitchFamily="34" charset="0"/>
                <a:ea typeface="Arial" pitchFamily="34" charset="-122"/>
                <a:cs typeface="Arial" pitchFamily="34" charset="-120"/>
              </a:rPr>
              <a:t>Modelo de negocio: pago inicial y mantención</a:t>
            </a:r>
            <a:endParaRPr lang="en-US" sz="2600" dirty="0"/>
          </a:p>
        </p:txBody>
      </p:sp>
      <p:sp>
        <p:nvSpPr>
          <p:cNvPr id="3" name="Shape 1"/>
          <p:cNvSpPr/>
          <p:nvPr/>
        </p:nvSpPr>
        <p:spPr>
          <a:xfrm>
            <a:off x="457200" y="1051560"/>
            <a:ext cx="2606040" cy="3520440"/>
          </a:xfrm>
          <a:prstGeom prst="roundRect">
            <a:avLst>
              <a:gd name="adj" fmla="val 2807"/>
            </a:avLst>
          </a:prstGeom>
          <a:solidFill>
            <a:srgbClr val="F2F2F2"/>
          </a:solidFill>
          <a:ln w="12700">
            <a:solidFill>
              <a:srgbClr val="F2F2F2"/>
            </a:solidFill>
            <a:prstDash val="solid"/>
          </a:ln>
        </p:spPr>
      </p:sp>
      <p:sp>
        <p:nvSpPr>
          <p:cNvPr id="4" name="Shape 2"/>
          <p:cNvSpPr/>
          <p:nvPr/>
        </p:nvSpPr>
        <p:spPr>
          <a:xfrm>
            <a:off x="658368" y="1207008"/>
            <a:ext cx="457200" cy="457200"/>
          </a:xfrm>
          <a:prstGeom prst="ellipse">
            <a:avLst/>
          </a:prstGeom>
          <a:solidFill>
            <a:srgbClr val="111111"/>
          </a:solidFill>
          <a:ln w="12700">
            <a:solidFill>
              <a:srgbClr val="111111"/>
            </a:solidFill>
            <a:prstDash val="solid"/>
          </a:ln>
        </p:spPr>
      </p:sp>
      <p:pic>
        <p:nvPicPr>
          <p:cNvPr id="5" name="Image 0" descr="preencoded.png">    </p:cNvPr>
          <p:cNvPicPr>
            <a:picLocks noChangeAspect="1"/>
          </p:cNvPicPr>
          <p:nvPr/>
        </p:nvPicPr>
        <p:blipFill>
          <a:blip r:embed="rId1"/>
          <a:stretch>
            <a:fillRect/>
          </a:stretch>
        </p:blipFill>
        <p:spPr>
          <a:xfrm>
            <a:off x="772668" y="1321308"/>
            <a:ext cx="228600" cy="228600"/>
          </a:xfrm>
          <a:prstGeom prst="rect">
            <a:avLst/>
          </a:prstGeom>
        </p:spPr>
      </p:pic>
      <p:sp>
        <p:nvSpPr>
          <p:cNvPr id="6" name="Text 3"/>
          <p:cNvSpPr txBox="1"/>
          <p:nvPr/>
        </p:nvSpPr>
        <p:spPr>
          <a:xfrm>
            <a:off x="1234440" y="1207008"/>
            <a:ext cx="1737360" cy="457200"/>
          </a:xfrm>
          <a:prstGeom prst="rect">
            <a:avLst/>
          </a:prstGeom>
          <a:noFill/>
          <a:ln/>
        </p:spPr>
        <p:txBody>
          <a:bodyPr wrap="square" lIns="0" tIns="0" rIns="0" bIns="0" rtlCol="0" anchor="ctr"/>
          <a:lstStyle/>
          <a:p>
            <a:pPr indent="0" marL="0">
              <a:buNone/>
            </a:pPr>
            <a:r>
              <a:rPr lang="en-US" sz="1500" b="1" dirty="0">
                <a:solidFill>
                  <a:srgbClr val="111111"/>
                </a:solidFill>
                <a:latin typeface="Arial" pitchFamily="34" charset="0"/>
                <a:ea typeface="Arial" pitchFamily="34" charset="-122"/>
                <a:cs typeface="Arial" pitchFamily="34" charset="-120"/>
              </a:rPr>
              <a:t>Propuesta de valor</a:t>
            </a:r>
            <a:endParaRPr lang="en-US" sz="1500" dirty="0"/>
          </a:p>
        </p:txBody>
      </p:sp>
      <p:sp>
        <p:nvSpPr>
          <p:cNvPr id="7" name="Text 4"/>
          <p:cNvSpPr txBox="1"/>
          <p:nvPr/>
        </p:nvSpPr>
        <p:spPr>
          <a:xfrm>
            <a:off x="658368" y="1874520"/>
            <a:ext cx="2240280" cy="2606040"/>
          </a:xfrm>
          <a:prstGeom prst="rect">
            <a:avLst/>
          </a:prstGeom>
          <a:noFill/>
          <a:ln/>
        </p:spPr>
        <p:txBody>
          <a:bodyPr wrap="square" lIns="0" tIns="0" rIns="0" bIns="0" rtlCol="0" anchor="t"/>
          <a:lstStyle/>
          <a:p>
            <a:pPr indent="0" marL="0">
              <a:spcAft>
                <a:spcPts val="1200"/>
              </a:spcAft>
              <a:buNone/>
            </a:pPr>
            <a:r>
              <a:rPr lang="en-US" sz="1400" b="1" dirty="0">
                <a:solidFill>
                  <a:srgbClr val="111111"/>
                </a:solidFill>
              </a:rPr>
              <a:t>Para el local: </a:t>
            </a:r>
            <a:pPr indent="0" marL="0">
              <a:spcAft>
                <a:spcPts val="1200"/>
              </a:spcAft>
              <a:buNone/>
            </a:pPr>
            <a:r>
              <a:rPr lang="en-US" sz="1400" dirty="0">
                <a:solidFill>
                  <a:srgbClr val="111111"/>
                </a:solidFill>
              </a:rPr>
              <a:t>reemplaza la tarjeta de papel y evita sellos falsos.</a:t>
            </a:r>
            <a:endParaRPr lang="en-US" sz="1400" dirty="0"/>
          </a:p>
          <a:p>
            <a:pPr indent="0" marL="0">
              <a:spcAft>
                <a:spcPts val="1200"/>
              </a:spcAft>
              <a:buNone/>
            </a:pPr>
            <a:r>
              <a:rPr lang="en-US" sz="1400" b="1" dirty="0">
                <a:solidFill>
                  <a:srgbClr val="111111"/>
                </a:solidFill>
              </a:rPr>
              <a:t>Para el local: </a:t>
            </a:r>
            <a:pPr indent="0" marL="0">
              <a:spcAft>
                <a:spcPts val="1200"/>
              </a:spcAft>
              <a:buNone/>
            </a:pPr>
            <a:r>
              <a:rPr lang="en-US" sz="1400" dirty="0">
                <a:solidFill>
                  <a:srgbClr val="111111"/>
                </a:solidFill>
              </a:rPr>
              <a:t>muestra quién vuelve y qué premio funciona.</a:t>
            </a:r>
            <a:endParaRPr lang="en-US" sz="1400" dirty="0"/>
          </a:p>
          <a:p>
            <a:pPr indent="0" marL="0">
              <a:spcAft>
                <a:spcPts val="1200"/>
              </a:spcAft>
              <a:buNone/>
            </a:pPr>
            <a:r>
              <a:rPr lang="en-US" sz="1400" b="1" dirty="0">
                <a:solidFill>
                  <a:srgbClr val="111111"/>
                </a:solidFill>
              </a:rPr>
              <a:t>Para el cliente: </a:t>
            </a:r>
            <a:pPr indent="0" marL="0">
              <a:spcAft>
                <a:spcPts val="1200"/>
              </a:spcAft>
              <a:buNone/>
            </a:pPr>
            <a:r>
              <a:rPr lang="en-US" sz="1400" dirty="0">
                <a:solidFill>
                  <a:srgbClr val="111111"/>
                </a:solidFill>
              </a:rPr>
              <a:t>premios por volver, sin tarjeta que perder.</a:t>
            </a:r>
            <a:endParaRPr lang="en-US" sz="1400" dirty="0"/>
          </a:p>
        </p:txBody>
      </p:sp>
      <p:sp>
        <p:nvSpPr>
          <p:cNvPr id="8" name="Shape 5"/>
          <p:cNvSpPr/>
          <p:nvPr/>
        </p:nvSpPr>
        <p:spPr>
          <a:xfrm>
            <a:off x="3246120" y="1051560"/>
            <a:ext cx="2606040" cy="3520440"/>
          </a:xfrm>
          <a:prstGeom prst="roundRect">
            <a:avLst>
              <a:gd name="adj" fmla="val 2807"/>
            </a:avLst>
          </a:prstGeom>
          <a:solidFill>
            <a:srgbClr val="F2F2F2"/>
          </a:solidFill>
          <a:ln w="12700">
            <a:solidFill>
              <a:srgbClr val="F2F2F2"/>
            </a:solidFill>
            <a:prstDash val="solid"/>
          </a:ln>
        </p:spPr>
      </p:sp>
      <p:sp>
        <p:nvSpPr>
          <p:cNvPr id="9" name="Shape 6"/>
          <p:cNvSpPr/>
          <p:nvPr/>
        </p:nvSpPr>
        <p:spPr>
          <a:xfrm>
            <a:off x="3447288" y="1207008"/>
            <a:ext cx="457200" cy="457200"/>
          </a:xfrm>
          <a:prstGeom prst="ellipse">
            <a:avLst/>
          </a:prstGeom>
          <a:solidFill>
            <a:srgbClr val="111111"/>
          </a:solidFill>
          <a:ln w="12700">
            <a:solidFill>
              <a:srgbClr val="111111"/>
            </a:solidFill>
            <a:prstDash val="solid"/>
          </a:ln>
        </p:spPr>
      </p:sp>
      <p:pic>
        <p:nvPicPr>
          <p:cNvPr id="10" name="Image 1" descr="preencoded.png">    </p:cNvPr>
          <p:cNvPicPr>
            <a:picLocks noChangeAspect="1"/>
          </p:cNvPicPr>
          <p:nvPr/>
        </p:nvPicPr>
        <p:blipFill>
          <a:blip r:embed="rId2"/>
          <a:stretch>
            <a:fillRect/>
          </a:stretch>
        </p:blipFill>
        <p:spPr>
          <a:xfrm>
            <a:off x="3561588" y="1321308"/>
            <a:ext cx="228600" cy="228600"/>
          </a:xfrm>
          <a:prstGeom prst="rect">
            <a:avLst/>
          </a:prstGeom>
        </p:spPr>
      </p:pic>
      <p:sp>
        <p:nvSpPr>
          <p:cNvPr id="11" name="Text 7"/>
          <p:cNvSpPr txBox="1"/>
          <p:nvPr/>
        </p:nvSpPr>
        <p:spPr>
          <a:xfrm>
            <a:off x="4023360" y="1207008"/>
            <a:ext cx="1737360" cy="457200"/>
          </a:xfrm>
          <a:prstGeom prst="rect">
            <a:avLst/>
          </a:prstGeom>
          <a:noFill/>
          <a:ln/>
        </p:spPr>
        <p:txBody>
          <a:bodyPr wrap="square" lIns="0" tIns="0" rIns="0" bIns="0" rtlCol="0" anchor="ctr"/>
          <a:lstStyle/>
          <a:p>
            <a:pPr indent="0" marL="0">
              <a:buNone/>
            </a:pPr>
            <a:r>
              <a:rPr lang="en-US" sz="1500" b="1" dirty="0">
                <a:solidFill>
                  <a:srgbClr val="111111"/>
                </a:solidFill>
                <a:latin typeface="Arial" pitchFamily="34" charset="0"/>
                <a:ea typeface="Arial" pitchFamily="34" charset="-122"/>
                <a:cs typeface="Arial" pitchFamily="34" charset="-120"/>
              </a:rPr>
              <a:t>Clientes y usuarios</a:t>
            </a:r>
            <a:endParaRPr lang="en-US" sz="1500" dirty="0"/>
          </a:p>
        </p:txBody>
      </p:sp>
      <p:sp>
        <p:nvSpPr>
          <p:cNvPr id="12" name="Text 8"/>
          <p:cNvSpPr txBox="1"/>
          <p:nvPr/>
        </p:nvSpPr>
        <p:spPr>
          <a:xfrm>
            <a:off x="3447288" y="1874520"/>
            <a:ext cx="2240280" cy="2606040"/>
          </a:xfrm>
          <a:prstGeom prst="rect">
            <a:avLst/>
          </a:prstGeom>
          <a:noFill/>
          <a:ln/>
        </p:spPr>
        <p:txBody>
          <a:bodyPr wrap="square" lIns="0" tIns="0" rIns="0" bIns="0" rtlCol="0" anchor="t"/>
          <a:lstStyle/>
          <a:p>
            <a:pPr indent="0" marL="0">
              <a:spcAft>
                <a:spcPts val="1200"/>
              </a:spcAft>
              <a:buNone/>
            </a:pPr>
            <a:r>
              <a:rPr lang="en-US" sz="1400" b="1" dirty="0">
                <a:solidFill>
                  <a:srgbClr val="111111"/>
                </a:solidFill>
              </a:rPr>
              <a:t>Paga: </a:t>
            </a:r>
            <a:pPr indent="0" marL="0">
              <a:spcAft>
                <a:spcPts val="1200"/>
              </a:spcAft>
              <a:buNone/>
            </a:pPr>
            <a:r>
              <a:rPr lang="en-US" sz="1400" dirty="0">
                <a:solidFill>
                  <a:srgbClr val="111111"/>
                </a:solidFill>
              </a:rPr>
              <a:t>Clancy's Cork.</a:t>
            </a:r>
            <a:endParaRPr lang="en-US" sz="1400" dirty="0"/>
          </a:p>
          <a:p>
            <a:pPr indent="0" marL="0">
              <a:spcAft>
                <a:spcPts val="1200"/>
              </a:spcAft>
              <a:buNone/>
            </a:pPr>
            <a:r>
              <a:rPr lang="en-US" sz="1400" b="1" dirty="0">
                <a:solidFill>
                  <a:srgbClr val="111111"/>
                </a:solidFill>
              </a:rPr>
              <a:t>La usan: </a:t>
            </a:r>
            <a:pPr indent="0" marL="0">
              <a:spcAft>
                <a:spcPts val="1200"/>
              </a:spcAft>
              <a:buNone/>
            </a:pPr>
            <a:r>
              <a:rPr lang="en-US" sz="1400" dirty="0">
                <a:solidFill>
                  <a:srgbClr val="111111"/>
                </a:solidFill>
              </a:rPr>
              <a:t>clientes del local, meseros y administración.</a:t>
            </a:r>
            <a:endParaRPr lang="en-US" sz="1400" dirty="0"/>
          </a:p>
          <a:p>
            <a:pPr indent="0" marL="0">
              <a:spcAft>
                <a:spcPts val="1200"/>
              </a:spcAft>
              <a:buNone/>
            </a:pPr>
            <a:r>
              <a:rPr lang="en-US" sz="1400" b="1" dirty="0">
                <a:solidFill>
                  <a:srgbClr val="111111"/>
                </a:solidFill>
              </a:rPr>
              <a:t>Sus clientes: </a:t>
            </a:r>
            <a:pPr indent="0" marL="0">
              <a:spcAft>
                <a:spcPts val="1200"/>
              </a:spcAft>
              <a:buNone/>
            </a:pPr>
            <a:r>
              <a:rPr lang="en-US" sz="1400" dirty="0">
                <a:solidFill>
                  <a:srgbClr val="111111"/>
                </a:solidFill>
              </a:rPr>
              <a:t>gente de Cork y turistas que visitan el pub.</a:t>
            </a:r>
            <a:endParaRPr lang="en-US" sz="1400" dirty="0"/>
          </a:p>
          <a:p>
            <a:pPr indent="0" marL="0">
              <a:spcAft>
                <a:spcPts val="1200"/>
              </a:spcAft>
              <a:buNone/>
            </a:pPr>
            <a:r>
              <a:rPr lang="en-US" sz="1400" b="1" dirty="0">
                <a:solidFill>
                  <a:srgbClr val="111111"/>
                </a:solidFill>
              </a:rPr>
              <a:t>A futuro: </a:t>
            </a:r>
            <a:pPr indent="0" marL="0">
              <a:spcAft>
                <a:spcPts val="1200"/>
              </a:spcAft>
              <a:buNone/>
            </a:pPr>
            <a:r>
              <a:rPr lang="en-US" sz="1400" dirty="0">
                <a:solidFill>
                  <a:srgbClr val="111111"/>
                </a:solidFill>
              </a:rPr>
              <a:t>otros bares.</a:t>
            </a:r>
            <a:endParaRPr lang="en-US" sz="1400" dirty="0"/>
          </a:p>
        </p:txBody>
      </p:sp>
      <p:sp>
        <p:nvSpPr>
          <p:cNvPr id="13" name="Shape 9"/>
          <p:cNvSpPr/>
          <p:nvPr/>
        </p:nvSpPr>
        <p:spPr>
          <a:xfrm>
            <a:off x="6035040" y="1051560"/>
            <a:ext cx="2651760" cy="3520440"/>
          </a:xfrm>
          <a:prstGeom prst="roundRect">
            <a:avLst>
              <a:gd name="adj" fmla="val 2759"/>
            </a:avLst>
          </a:prstGeom>
          <a:solidFill>
            <a:srgbClr val="111111"/>
          </a:solidFill>
          <a:ln w="12700">
            <a:solidFill>
              <a:srgbClr val="111111"/>
            </a:solidFill>
            <a:prstDash val="solid"/>
          </a:ln>
        </p:spPr>
      </p:sp>
      <p:sp>
        <p:nvSpPr>
          <p:cNvPr id="14" name="Text 10"/>
          <p:cNvSpPr txBox="1"/>
          <p:nvPr/>
        </p:nvSpPr>
        <p:spPr>
          <a:xfrm>
            <a:off x="6236208" y="1188720"/>
            <a:ext cx="2286000" cy="320040"/>
          </a:xfrm>
          <a:prstGeom prst="rect">
            <a:avLst/>
          </a:prstGeom>
          <a:noFill/>
          <a:ln/>
        </p:spPr>
        <p:txBody>
          <a:bodyPr wrap="square" lIns="0" tIns="0" rIns="0" bIns="0" rtlCol="0" anchor="t"/>
          <a:lstStyle/>
          <a:p>
            <a:pPr indent="0" marL="0">
              <a:buNone/>
            </a:pPr>
            <a:r>
              <a:rPr lang="en-US" sz="1500" b="1" dirty="0">
                <a:solidFill>
                  <a:srgbClr val="F5C400"/>
                </a:solidFill>
                <a:latin typeface="Arial" pitchFamily="34" charset="0"/>
                <a:ea typeface="Arial" pitchFamily="34" charset="-122"/>
                <a:cs typeface="Arial" pitchFamily="34" charset="-120"/>
              </a:rPr>
              <a:t>Sostenibilidad</a:t>
            </a:r>
            <a:endParaRPr lang="en-US" sz="1500" dirty="0"/>
          </a:p>
        </p:txBody>
      </p:sp>
      <p:sp>
        <p:nvSpPr>
          <p:cNvPr id="15" name="Text 11"/>
          <p:cNvSpPr txBox="1"/>
          <p:nvPr/>
        </p:nvSpPr>
        <p:spPr>
          <a:xfrm>
            <a:off x="6236208" y="1554480"/>
            <a:ext cx="2286000" cy="548640"/>
          </a:xfrm>
          <a:prstGeom prst="rect">
            <a:avLst/>
          </a:prstGeom>
          <a:noFill/>
          <a:ln/>
        </p:spPr>
        <p:txBody>
          <a:bodyPr wrap="square" lIns="0" tIns="0" rIns="0" bIns="0" rtlCol="0" anchor="t"/>
          <a:lstStyle/>
          <a:p>
            <a:pPr indent="0" marL="0">
              <a:buNone/>
            </a:pPr>
            <a:r>
              <a:rPr lang="en-US" sz="3200" b="1" dirty="0">
                <a:solidFill>
                  <a:srgbClr val="FFFFFF"/>
                </a:solidFill>
                <a:latin typeface="Arial" pitchFamily="34" charset="0"/>
                <a:ea typeface="Arial" pitchFamily="34" charset="-122"/>
                <a:cs typeface="Arial" pitchFamily="34" charset="-120"/>
              </a:rPr>
              <a:t>€2.500</a:t>
            </a:r>
            <a:endParaRPr lang="en-US" sz="3200" dirty="0"/>
          </a:p>
        </p:txBody>
      </p:sp>
      <p:sp>
        <p:nvSpPr>
          <p:cNvPr id="16" name="Text 12"/>
          <p:cNvSpPr txBox="1"/>
          <p:nvPr/>
        </p:nvSpPr>
        <p:spPr>
          <a:xfrm>
            <a:off x="6236208" y="2103120"/>
            <a:ext cx="2286000" cy="274320"/>
          </a:xfrm>
          <a:prstGeom prst="rect">
            <a:avLst/>
          </a:prstGeom>
          <a:noFill/>
          <a:ln/>
        </p:spPr>
        <p:txBody>
          <a:bodyPr wrap="square" lIns="0" tIns="0" rIns="0" bIns="0" rtlCol="0" anchor="t"/>
          <a:lstStyle/>
          <a:p>
            <a:pPr indent="0" marL="0">
              <a:buNone/>
            </a:pPr>
            <a:r>
              <a:rPr lang="en-US" sz="1200" dirty="0">
                <a:solidFill>
                  <a:srgbClr val="F5C400"/>
                </a:solidFill>
              </a:rPr>
              <a:t>pago inicial para terminarla y publicarla</a:t>
            </a:r>
            <a:endParaRPr lang="en-US" sz="1200" dirty="0"/>
          </a:p>
        </p:txBody>
      </p:sp>
      <p:sp>
        <p:nvSpPr>
          <p:cNvPr id="17" name="Text 13"/>
          <p:cNvSpPr txBox="1"/>
          <p:nvPr/>
        </p:nvSpPr>
        <p:spPr>
          <a:xfrm>
            <a:off x="6236208" y="2514600"/>
            <a:ext cx="2286000" cy="548640"/>
          </a:xfrm>
          <a:prstGeom prst="rect">
            <a:avLst/>
          </a:prstGeom>
          <a:noFill/>
          <a:ln/>
        </p:spPr>
        <p:txBody>
          <a:bodyPr wrap="square" lIns="0" tIns="0" rIns="0" bIns="0" rtlCol="0" anchor="t"/>
          <a:lstStyle/>
          <a:p>
            <a:pPr indent="0" marL="0">
              <a:buNone/>
            </a:pPr>
            <a:r>
              <a:rPr lang="en-US" sz="3200" b="1" dirty="0">
                <a:solidFill>
                  <a:srgbClr val="FFFFFF"/>
                </a:solidFill>
                <a:latin typeface="Arial" pitchFamily="34" charset="0"/>
                <a:ea typeface="Arial" pitchFamily="34" charset="-122"/>
                <a:cs typeface="Arial" pitchFamily="34" charset="-120"/>
              </a:rPr>
              <a:t>€75–90</a:t>
            </a:r>
            <a:endParaRPr lang="en-US" sz="3200" dirty="0"/>
          </a:p>
        </p:txBody>
      </p:sp>
      <p:sp>
        <p:nvSpPr>
          <p:cNvPr id="18" name="Text 14"/>
          <p:cNvSpPr txBox="1"/>
          <p:nvPr/>
        </p:nvSpPr>
        <p:spPr>
          <a:xfrm>
            <a:off x="6236208" y="3063240"/>
            <a:ext cx="2286000" cy="274320"/>
          </a:xfrm>
          <a:prstGeom prst="rect">
            <a:avLst/>
          </a:prstGeom>
          <a:noFill/>
          <a:ln/>
        </p:spPr>
        <p:txBody>
          <a:bodyPr wrap="square" lIns="0" tIns="0" rIns="0" bIns="0" rtlCol="0" anchor="t"/>
          <a:lstStyle/>
          <a:p>
            <a:pPr indent="0" marL="0">
              <a:buNone/>
            </a:pPr>
            <a:r>
              <a:rPr lang="en-US" sz="1200" dirty="0">
                <a:solidFill>
                  <a:srgbClr val="F5C400"/>
                </a:solidFill>
              </a:rPr>
              <a:t>por semana de mantención</a:t>
            </a:r>
            <a:endParaRPr lang="en-US" sz="1200" dirty="0"/>
          </a:p>
        </p:txBody>
      </p:sp>
      <p:sp>
        <p:nvSpPr>
          <p:cNvPr id="19" name="Text 15"/>
          <p:cNvSpPr txBox="1"/>
          <p:nvPr/>
        </p:nvSpPr>
        <p:spPr>
          <a:xfrm>
            <a:off x="6236208" y="3474720"/>
            <a:ext cx="2286000" cy="1005840"/>
          </a:xfrm>
          <a:prstGeom prst="rect">
            <a:avLst/>
          </a:prstGeom>
          <a:noFill/>
          <a:ln/>
        </p:spPr>
        <p:txBody>
          <a:bodyPr wrap="square" lIns="0" tIns="0" rIns="0" bIns="0" rtlCol="0" anchor="t"/>
          <a:lstStyle/>
          <a:p>
            <a:pPr indent="0" marL="0">
              <a:buNone/>
            </a:pPr>
            <a:r>
              <a:rPr lang="en-US" sz="1200" dirty="0">
                <a:solidFill>
                  <a:srgbClr val="FFFFFF"/>
                </a:solidFill>
              </a:rPr>
              <a:t>Publicar en las dos tiendas: Google Play 25 USD (una vez) y Apple 99 USD al año. Servidor y base de datos parten en plan gratuito.</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01168"/>
            <a:ext cx="8229600" cy="548640"/>
          </a:xfrm>
          <a:prstGeom prst="rect">
            <a:avLst/>
          </a:prstGeom>
          <a:noFill/>
          <a:ln/>
        </p:spPr>
        <p:txBody>
          <a:bodyPr wrap="square" lIns="0" tIns="0" rIns="0" bIns="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Mockups de la app: el cliente</a:t>
            </a:r>
            <a:endParaRPr lang="en-US" sz="2400" dirty="0"/>
          </a:p>
        </p:txBody>
      </p:sp>
      <p:sp>
        <p:nvSpPr>
          <p:cNvPr id="3" name="Shape 1"/>
          <p:cNvSpPr/>
          <p:nvPr/>
        </p:nvSpPr>
        <p:spPr>
          <a:xfrm>
            <a:off x="402336" y="813816"/>
            <a:ext cx="1757540" cy="256032"/>
          </a:xfrm>
          <a:prstGeom prst="roundRect">
            <a:avLst>
              <a:gd name="adj" fmla="val 21429"/>
            </a:avLst>
          </a:prstGeom>
          <a:solidFill>
            <a:srgbClr val="F5C400"/>
          </a:solidFill>
          <a:ln w="12700">
            <a:solidFill>
              <a:srgbClr val="F5C400"/>
            </a:solidFill>
            <a:prstDash val="solid"/>
          </a:ln>
        </p:spPr>
      </p:sp>
      <p:sp>
        <p:nvSpPr>
          <p:cNvPr id="4" name="Text 2"/>
          <p:cNvSpPr txBox="1"/>
          <p:nvPr/>
        </p:nvSpPr>
        <p:spPr>
          <a:xfrm>
            <a:off x="402336" y="813816"/>
            <a:ext cx="1757540" cy="256032"/>
          </a:xfrm>
          <a:prstGeom prst="rect">
            <a:avLst/>
          </a:prstGeom>
          <a:noFill/>
          <a:ln/>
        </p:spPr>
        <p:txBody>
          <a:bodyPr wrap="square" lIns="0" tIns="0" rIns="0" bIns="0" rtlCol="0" anchor="ctr"/>
          <a:lstStyle/>
          <a:p>
            <a:pPr algn="ctr" indent="0" marL="0">
              <a:buNone/>
            </a:pPr>
            <a:r>
              <a:rPr lang="en-US" sz="1100" b="1" dirty="0">
                <a:solidFill>
                  <a:srgbClr val="111111"/>
                </a:solidFill>
              </a:rPr>
              <a:t>1. Bienvenida</a:t>
            </a:r>
            <a:endParaRPr lang="en-US" sz="1100" dirty="0"/>
          </a:p>
        </p:txBody>
      </p:sp>
      <p:sp>
        <p:nvSpPr>
          <p:cNvPr id="5" name="Shape 3"/>
          <p:cNvSpPr/>
          <p:nvPr/>
        </p:nvSpPr>
        <p:spPr>
          <a:xfrm>
            <a:off x="402336" y="1088136"/>
            <a:ext cx="1757540" cy="3675888"/>
          </a:xfrm>
          <a:prstGeom prst="roundRect">
            <a:avLst>
              <a:gd name="adj" fmla="val 7284"/>
            </a:avLst>
          </a:prstGeom>
          <a:solidFill>
            <a:srgbClr val="2B2B2B"/>
          </a:solidFill>
          <a:ln w="12700">
            <a:solidFill>
              <a:srgbClr val="2B2B2B"/>
            </a:solidFill>
            <a:prstDash val="solid"/>
          </a:ln>
        </p:spPr>
      </p:sp>
      <p:pic>
        <p:nvPicPr>
          <p:cNvPr id="6" name="Image 0" descr="/mnt/user-data/uploads/Capturas_Presentacion/01 - Bienvenida.jpg">    </p:cNvPr>
          <p:cNvPicPr>
            <a:picLocks noChangeAspect="1"/>
          </p:cNvPicPr>
          <p:nvPr/>
        </p:nvPicPr>
        <p:blipFill>
          <a:blip r:embed="rId1"/>
          <a:stretch>
            <a:fillRect/>
          </a:stretch>
        </p:blipFill>
        <p:spPr>
          <a:xfrm>
            <a:off x="457200" y="1143000"/>
            <a:ext cx="1647812" cy="3566160"/>
          </a:xfrm>
          <a:prstGeom prst="rect">
            <a:avLst/>
          </a:prstGeom>
        </p:spPr>
      </p:pic>
      <p:sp>
        <p:nvSpPr>
          <p:cNvPr id="7" name="Shape 4"/>
          <p:cNvSpPr/>
          <p:nvPr/>
        </p:nvSpPr>
        <p:spPr>
          <a:xfrm>
            <a:off x="2596265" y="813816"/>
            <a:ext cx="1757540" cy="256032"/>
          </a:xfrm>
          <a:prstGeom prst="roundRect">
            <a:avLst>
              <a:gd name="adj" fmla="val 21429"/>
            </a:avLst>
          </a:prstGeom>
          <a:solidFill>
            <a:srgbClr val="F5C400"/>
          </a:solidFill>
          <a:ln w="12700">
            <a:solidFill>
              <a:srgbClr val="F5C400"/>
            </a:solidFill>
            <a:prstDash val="solid"/>
          </a:ln>
        </p:spPr>
      </p:sp>
      <p:sp>
        <p:nvSpPr>
          <p:cNvPr id="8" name="Text 5"/>
          <p:cNvSpPr txBox="1"/>
          <p:nvPr/>
        </p:nvSpPr>
        <p:spPr>
          <a:xfrm>
            <a:off x="2596265" y="813816"/>
            <a:ext cx="1757540" cy="256032"/>
          </a:xfrm>
          <a:prstGeom prst="rect">
            <a:avLst/>
          </a:prstGeom>
          <a:noFill/>
          <a:ln/>
        </p:spPr>
        <p:txBody>
          <a:bodyPr wrap="square" lIns="0" tIns="0" rIns="0" bIns="0" rtlCol="0" anchor="ctr"/>
          <a:lstStyle/>
          <a:p>
            <a:pPr algn="ctr" indent="0" marL="0">
              <a:buNone/>
            </a:pPr>
            <a:r>
              <a:rPr lang="en-US" sz="1100" b="1" dirty="0">
                <a:solidFill>
                  <a:srgbClr val="111111"/>
                </a:solidFill>
              </a:rPr>
              <a:t>2. Tarjeta de socio</a:t>
            </a:r>
            <a:endParaRPr lang="en-US" sz="1100" dirty="0"/>
          </a:p>
        </p:txBody>
      </p:sp>
      <p:sp>
        <p:nvSpPr>
          <p:cNvPr id="9" name="Shape 6"/>
          <p:cNvSpPr/>
          <p:nvPr/>
        </p:nvSpPr>
        <p:spPr>
          <a:xfrm>
            <a:off x="2596265" y="1088136"/>
            <a:ext cx="1757540" cy="3675888"/>
          </a:xfrm>
          <a:prstGeom prst="roundRect">
            <a:avLst>
              <a:gd name="adj" fmla="val 7284"/>
            </a:avLst>
          </a:prstGeom>
          <a:solidFill>
            <a:srgbClr val="2B2B2B"/>
          </a:solidFill>
          <a:ln w="12700">
            <a:solidFill>
              <a:srgbClr val="2B2B2B"/>
            </a:solidFill>
            <a:prstDash val="solid"/>
          </a:ln>
        </p:spPr>
      </p:sp>
      <p:pic>
        <p:nvPicPr>
          <p:cNvPr id="10" name="Image 1" descr="/mnt/user-data/uploads/Capturas_Presentacion/02 - Tarjeta de socio.jpg">    </p:cNvPr>
          <p:cNvPicPr>
            <a:picLocks noChangeAspect="1"/>
          </p:cNvPicPr>
          <p:nvPr/>
        </p:nvPicPr>
        <p:blipFill>
          <a:blip r:embed="rId2"/>
          <a:stretch>
            <a:fillRect/>
          </a:stretch>
        </p:blipFill>
        <p:spPr>
          <a:xfrm>
            <a:off x="2651129" y="1143000"/>
            <a:ext cx="1647812" cy="3566160"/>
          </a:xfrm>
          <a:prstGeom prst="rect">
            <a:avLst/>
          </a:prstGeom>
        </p:spPr>
      </p:pic>
      <p:sp>
        <p:nvSpPr>
          <p:cNvPr id="11" name="Shape 7"/>
          <p:cNvSpPr/>
          <p:nvPr/>
        </p:nvSpPr>
        <p:spPr>
          <a:xfrm>
            <a:off x="4790195" y="813816"/>
            <a:ext cx="1757540" cy="256032"/>
          </a:xfrm>
          <a:prstGeom prst="roundRect">
            <a:avLst>
              <a:gd name="adj" fmla="val 21429"/>
            </a:avLst>
          </a:prstGeom>
          <a:solidFill>
            <a:srgbClr val="F5C400"/>
          </a:solidFill>
          <a:ln w="12700">
            <a:solidFill>
              <a:srgbClr val="F5C400"/>
            </a:solidFill>
            <a:prstDash val="solid"/>
          </a:ln>
        </p:spPr>
      </p:sp>
      <p:sp>
        <p:nvSpPr>
          <p:cNvPr id="12" name="Text 8"/>
          <p:cNvSpPr txBox="1"/>
          <p:nvPr/>
        </p:nvSpPr>
        <p:spPr>
          <a:xfrm>
            <a:off x="4790195" y="813816"/>
            <a:ext cx="1757540" cy="256032"/>
          </a:xfrm>
          <a:prstGeom prst="rect">
            <a:avLst/>
          </a:prstGeom>
          <a:noFill/>
          <a:ln/>
        </p:spPr>
        <p:txBody>
          <a:bodyPr wrap="square" lIns="0" tIns="0" rIns="0" bIns="0" rtlCol="0" anchor="ctr"/>
          <a:lstStyle/>
          <a:p>
            <a:pPr algn="ctr" indent="0" marL="0">
              <a:buNone/>
            </a:pPr>
            <a:r>
              <a:rPr lang="en-US" sz="1100" b="1" dirty="0">
                <a:solidFill>
                  <a:srgbClr val="111111"/>
                </a:solidFill>
              </a:rPr>
              <a:t>3. QR de un solo uso</a:t>
            </a:r>
            <a:endParaRPr lang="en-US" sz="1100" dirty="0"/>
          </a:p>
        </p:txBody>
      </p:sp>
      <p:sp>
        <p:nvSpPr>
          <p:cNvPr id="13" name="Shape 9"/>
          <p:cNvSpPr/>
          <p:nvPr/>
        </p:nvSpPr>
        <p:spPr>
          <a:xfrm>
            <a:off x="4790195" y="1088136"/>
            <a:ext cx="1757540" cy="3675888"/>
          </a:xfrm>
          <a:prstGeom prst="roundRect">
            <a:avLst>
              <a:gd name="adj" fmla="val 7284"/>
            </a:avLst>
          </a:prstGeom>
          <a:solidFill>
            <a:srgbClr val="2B2B2B"/>
          </a:solidFill>
          <a:ln w="12700">
            <a:solidFill>
              <a:srgbClr val="2B2B2B"/>
            </a:solidFill>
            <a:prstDash val="solid"/>
          </a:ln>
        </p:spPr>
      </p:sp>
      <p:pic>
        <p:nvPicPr>
          <p:cNvPr id="14" name="Image 2" descr="/mnt/user-data/uploads/Capturas_Presentacion/03 - Pase QR del cliente.jpg">    </p:cNvPr>
          <p:cNvPicPr>
            <a:picLocks noChangeAspect="1"/>
          </p:cNvPicPr>
          <p:nvPr/>
        </p:nvPicPr>
        <p:blipFill>
          <a:blip r:embed="rId3"/>
          <a:stretch>
            <a:fillRect/>
          </a:stretch>
        </p:blipFill>
        <p:spPr>
          <a:xfrm>
            <a:off x="4845059" y="1143000"/>
            <a:ext cx="1647812" cy="3566160"/>
          </a:xfrm>
          <a:prstGeom prst="rect">
            <a:avLst/>
          </a:prstGeom>
        </p:spPr>
      </p:pic>
      <p:sp>
        <p:nvSpPr>
          <p:cNvPr id="15" name="Shape 10"/>
          <p:cNvSpPr/>
          <p:nvPr/>
        </p:nvSpPr>
        <p:spPr>
          <a:xfrm>
            <a:off x="6984124" y="813816"/>
            <a:ext cx="1757540" cy="256032"/>
          </a:xfrm>
          <a:prstGeom prst="roundRect">
            <a:avLst>
              <a:gd name="adj" fmla="val 21429"/>
            </a:avLst>
          </a:prstGeom>
          <a:solidFill>
            <a:srgbClr val="F5C400"/>
          </a:solidFill>
          <a:ln w="12700">
            <a:solidFill>
              <a:srgbClr val="F5C400"/>
            </a:solidFill>
            <a:prstDash val="solid"/>
          </a:ln>
        </p:spPr>
      </p:sp>
      <p:sp>
        <p:nvSpPr>
          <p:cNvPr id="16" name="Text 11"/>
          <p:cNvSpPr txBox="1"/>
          <p:nvPr/>
        </p:nvSpPr>
        <p:spPr>
          <a:xfrm>
            <a:off x="6984124" y="813816"/>
            <a:ext cx="1757540" cy="256032"/>
          </a:xfrm>
          <a:prstGeom prst="rect">
            <a:avLst/>
          </a:prstGeom>
          <a:noFill/>
          <a:ln/>
        </p:spPr>
        <p:txBody>
          <a:bodyPr wrap="square" lIns="0" tIns="0" rIns="0" bIns="0" rtlCol="0" anchor="ctr"/>
          <a:lstStyle/>
          <a:p>
            <a:pPr algn="ctr" indent="0" marL="0">
              <a:buNone/>
            </a:pPr>
            <a:r>
              <a:rPr lang="en-US" sz="1100" b="1" dirty="0">
                <a:solidFill>
                  <a:srgbClr val="111111"/>
                </a:solidFill>
              </a:rPr>
              <a:t>4. Premios</a:t>
            </a:r>
            <a:endParaRPr lang="en-US" sz="1100" dirty="0"/>
          </a:p>
        </p:txBody>
      </p:sp>
      <p:sp>
        <p:nvSpPr>
          <p:cNvPr id="17" name="Shape 12"/>
          <p:cNvSpPr/>
          <p:nvPr/>
        </p:nvSpPr>
        <p:spPr>
          <a:xfrm>
            <a:off x="6984124" y="1088136"/>
            <a:ext cx="1757540" cy="3675888"/>
          </a:xfrm>
          <a:prstGeom prst="roundRect">
            <a:avLst>
              <a:gd name="adj" fmla="val 7284"/>
            </a:avLst>
          </a:prstGeom>
          <a:solidFill>
            <a:srgbClr val="2B2B2B"/>
          </a:solidFill>
          <a:ln w="12700">
            <a:solidFill>
              <a:srgbClr val="2B2B2B"/>
            </a:solidFill>
            <a:prstDash val="solid"/>
          </a:ln>
        </p:spPr>
      </p:sp>
      <p:pic>
        <p:nvPicPr>
          <p:cNvPr id="18" name="Image 3" descr="/mnt/user-data/uploads/Capturas_Presentacion/06 - Recompensas del cliente.jpg">    </p:cNvPr>
          <p:cNvPicPr>
            <a:picLocks noChangeAspect="1"/>
          </p:cNvPicPr>
          <p:nvPr/>
        </p:nvPicPr>
        <p:blipFill>
          <a:blip r:embed="rId4"/>
          <a:stretch>
            <a:fillRect/>
          </a:stretch>
        </p:blipFill>
        <p:spPr>
          <a:xfrm>
            <a:off x="7038988" y="1143000"/>
            <a:ext cx="1647812" cy="3566160"/>
          </a:xfrm>
          <a:prstGeom prst="rect">
            <a:avLst/>
          </a:prstGeom>
        </p:spPr>
      </p:pic>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6A6A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01168"/>
            <a:ext cx="8229600" cy="548640"/>
          </a:xfrm>
          <a:prstGeom prst="rect">
            <a:avLst/>
          </a:prstGeom>
          <a:noFill/>
          <a:ln/>
        </p:spPr>
        <p:txBody>
          <a:bodyPr wrap="square" lIns="0" tIns="0" rIns="0" bIns="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Mockups de la app: el personal en el local</a:t>
            </a:r>
            <a:endParaRPr lang="en-US" sz="2400" dirty="0"/>
          </a:p>
        </p:txBody>
      </p:sp>
      <p:sp>
        <p:nvSpPr>
          <p:cNvPr id="3" name="Shape 1"/>
          <p:cNvSpPr/>
          <p:nvPr/>
        </p:nvSpPr>
        <p:spPr>
          <a:xfrm>
            <a:off x="402336" y="813816"/>
            <a:ext cx="1757540" cy="256032"/>
          </a:xfrm>
          <a:prstGeom prst="roundRect">
            <a:avLst>
              <a:gd name="adj" fmla="val 21429"/>
            </a:avLst>
          </a:prstGeom>
          <a:solidFill>
            <a:srgbClr val="F5C400"/>
          </a:solidFill>
          <a:ln w="12700">
            <a:solidFill>
              <a:srgbClr val="F5C400"/>
            </a:solidFill>
            <a:prstDash val="solid"/>
          </a:ln>
        </p:spPr>
      </p:sp>
      <p:sp>
        <p:nvSpPr>
          <p:cNvPr id="4" name="Text 2"/>
          <p:cNvSpPr txBox="1"/>
          <p:nvPr/>
        </p:nvSpPr>
        <p:spPr>
          <a:xfrm>
            <a:off x="402336" y="813816"/>
            <a:ext cx="1757540" cy="256032"/>
          </a:xfrm>
          <a:prstGeom prst="rect">
            <a:avLst/>
          </a:prstGeom>
          <a:noFill/>
          <a:ln/>
        </p:spPr>
        <p:txBody>
          <a:bodyPr wrap="square" lIns="0" tIns="0" rIns="0" bIns="0" rtlCol="0" anchor="ctr"/>
          <a:lstStyle/>
          <a:p>
            <a:pPr algn="ctr" indent="0" marL="0">
              <a:buNone/>
            </a:pPr>
            <a:r>
              <a:rPr lang="en-US" sz="1100" b="1" dirty="0">
                <a:solidFill>
                  <a:srgbClr val="111111"/>
                </a:solidFill>
              </a:rPr>
              <a:t>1. Escáner</a:t>
            </a:r>
            <a:endParaRPr lang="en-US" sz="1100" dirty="0"/>
          </a:p>
        </p:txBody>
      </p:sp>
      <p:sp>
        <p:nvSpPr>
          <p:cNvPr id="5" name="Shape 3"/>
          <p:cNvSpPr/>
          <p:nvPr/>
        </p:nvSpPr>
        <p:spPr>
          <a:xfrm>
            <a:off x="402336" y="1088136"/>
            <a:ext cx="1757540" cy="3675888"/>
          </a:xfrm>
          <a:prstGeom prst="roundRect">
            <a:avLst>
              <a:gd name="adj" fmla="val 7284"/>
            </a:avLst>
          </a:prstGeom>
          <a:solidFill>
            <a:srgbClr val="2B2B2B"/>
          </a:solidFill>
          <a:ln w="12700">
            <a:solidFill>
              <a:srgbClr val="2B2B2B"/>
            </a:solidFill>
            <a:prstDash val="solid"/>
          </a:ln>
        </p:spPr>
      </p:sp>
      <p:pic>
        <p:nvPicPr>
          <p:cNvPr id="6" name="Image 0" descr="/mnt/user-data/uploads/Capturas_Presentacion/04 - Escaner del mesero.jpg">    </p:cNvPr>
          <p:cNvPicPr>
            <a:picLocks noChangeAspect="1"/>
          </p:cNvPicPr>
          <p:nvPr/>
        </p:nvPicPr>
        <p:blipFill>
          <a:blip r:embed="rId1"/>
          <a:stretch>
            <a:fillRect/>
          </a:stretch>
        </p:blipFill>
        <p:spPr>
          <a:xfrm>
            <a:off x="457200" y="1143000"/>
            <a:ext cx="1647812" cy="3566160"/>
          </a:xfrm>
          <a:prstGeom prst="rect">
            <a:avLst/>
          </a:prstGeom>
        </p:spPr>
      </p:pic>
      <p:sp>
        <p:nvSpPr>
          <p:cNvPr id="7" name="Shape 4"/>
          <p:cNvSpPr/>
          <p:nvPr/>
        </p:nvSpPr>
        <p:spPr>
          <a:xfrm>
            <a:off x="2596265" y="813816"/>
            <a:ext cx="1757540" cy="256032"/>
          </a:xfrm>
          <a:prstGeom prst="roundRect">
            <a:avLst>
              <a:gd name="adj" fmla="val 21429"/>
            </a:avLst>
          </a:prstGeom>
          <a:solidFill>
            <a:srgbClr val="F5C400"/>
          </a:solidFill>
          <a:ln w="12700">
            <a:solidFill>
              <a:srgbClr val="F5C400"/>
            </a:solidFill>
            <a:prstDash val="solid"/>
          </a:ln>
        </p:spPr>
      </p:sp>
      <p:sp>
        <p:nvSpPr>
          <p:cNvPr id="8" name="Text 5"/>
          <p:cNvSpPr txBox="1"/>
          <p:nvPr/>
        </p:nvSpPr>
        <p:spPr>
          <a:xfrm>
            <a:off x="2596265" y="813816"/>
            <a:ext cx="1757540" cy="256032"/>
          </a:xfrm>
          <a:prstGeom prst="rect">
            <a:avLst/>
          </a:prstGeom>
          <a:noFill/>
          <a:ln/>
        </p:spPr>
        <p:txBody>
          <a:bodyPr wrap="square" lIns="0" tIns="0" rIns="0" bIns="0" rtlCol="0" anchor="ctr"/>
          <a:lstStyle/>
          <a:p>
            <a:pPr algn="ctr" indent="0" marL="0">
              <a:buNone/>
            </a:pPr>
            <a:r>
              <a:rPr lang="en-US" sz="1100" b="1" dirty="0">
                <a:solidFill>
                  <a:srgbClr val="111111"/>
                </a:solidFill>
              </a:rPr>
              <a:t>2. Visita sumada</a:t>
            </a:r>
            <a:endParaRPr lang="en-US" sz="1100" dirty="0"/>
          </a:p>
        </p:txBody>
      </p:sp>
      <p:sp>
        <p:nvSpPr>
          <p:cNvPr id="9" name="Shape 6"/>
          <p:cNvSpPr/>
          <p:nvPr/>
        </p:nvSpPr>
        <p:spPr>
          <a:xfrm>
            <a:off x="2596265" y="1088136"/>
            <a:ext cx="1757540" cy="3675888"/>
          </a:xfrm>
          <a:prstGeom prst="roundRect">
            <a:avLst>
              <a:gd name="adj" fmla="val 7284"/>
            </a:avLst>
          </a:prstGeom>
          <a:solidFill>
            <a:srgbClr val="2B2B2B"/>
          </a:solidFill>
          <a:ln w="12700">
            <a:solidFill>
              <a:srgbClr val="2B2B2B"/>
            </a:solidFill>
            <a:prstDash val="solid"/>
          </a:ln>
        </p:spPr>
      </p:sp>
      <p:pic>
        <p:nvPicPr>
          <p:cNvPr id="10" name="Image 1" descr="/mnt/user-data/uploads/Capturas_Presentacion/05 - Resultado de visita.jpg">    </p:cNvPr>
          <p:cNvPicPr>
            <a:picLocks noChangeAspect="1"/>
          </p:cNvPicPr>
          <p:nvPr/>
        </p:nvPicPr>
        <p:blipFill>
          <a:blip r:embed="rId2"/>
          <a:stretch>
            <a:fillRect/>
          </a:stretch>
        </p:blipFill>
        <p:spPr>
          <a:xfrm>
            <a:off x="2651129" y="1143000"/>
            <a:ext cx="1647812" cy="3566160"/>
          </a:xfrm>
          <a:prstGeom prst="rect">
            <a:avLst/>
          </a:prstGeom>
        </p:spPr>
      </p:pic>
      <p:sp>
        <p:nvSpPr>
          <p:cNvPr id="11" name="Shape 7"/>
          <p:cNvSpPr/>
          <p:nvPr/>
        </p:nvSpPr>
        <p:spPr>
          <a:xfrm>
            <a:off x="4790195" y="813816"/>
            <a:ext cx="1757540" cy="256032"/>
          </a:xfrm>
          <a:prstGeom prst="roundRect">
            <a:avLst>
              <a:gd name="adj" fmla="val 21429"/>
            </a:avLst>
          </a:prstGeom>
          <a:solidFill>
            <a:srgbClr val="F5C400"/>
          </a:solidFill>
          <a:ln w="12700">
            <a:solidFill>
              <a:srgbClr val="F5C400"/>
            </a:solidFill>
            <a:prstDash val="solid"/>
          </a:ln>
        </p:spPr>
      </p:sp>
      <p:sp>
        <p:nvSpPr>
          <p:cNvPr id="12" name="Text 8"/>
          <p:cNvSpPr txBox="1"/>
          <p:nvPr/>
        </p:nvSpPr>
        <p:spPr>
          <a:xfrm>
            <a:off x="4790195" y="813816"/>
            <a:ext cx="1757540" cy="256032"/>
          </a:xfrm>
          <a:prstGeom prst="rect">
            <a:avLst/>
          </a:prstGeom>
          <a:noFill/>
          <a:ln/>
        </p:spPr>
        <p:txBody>
          <a:bodyPr wrap="square" lIns="0" tIns="0" rIns="0" bIns="0" rtlCol="0" anchor="ctr"/>
          <a:lstStyle/>
          <a:p>
            <a:pPr algn="ctr" indent="0" marL="0">
              <a:buNone/>
            </a:pPr>
            <a:r>
              <a:rPr lang="en-US" sz="1100" b="1" dirty="0">
                <a:solidFill>
                  <a:srgbClr val="111111"/>
                </a:solidFill>
              </a:rPr>
              <a:t>3. QR de canje</a:t>
            </a:r>
            <a:endParaRPr lang="en-US" sz="1100" dirty="0"/>
          </a:p>
        </p:txBody>
      </p:sp>
      <p:sp>
        <p:nvSpPr>
          <p:cNvPr id="13" name="Shape 9"/>
          <p:cNvSpPr/>
          <p:nvPr/>
        </p:nvSpPr>
        <p:spPr>
          <a:xfrm>
            <a:off x="4790195" y="1088136"/>
            <a:ext cx="1757540" cy="3675888"/>
          </a:xfrm>
          <a:prstGeom prst="roundRect">
            <a:avLst>
              <a:gd name="adj" fmla="val 7284"/>
            </a:avLst>
          </a:prstGeom>
          <a:solidFill>
            <a:srgbClr val="2B2B2B"/>
          </a:solidFill>
          <a:ln w="12700">
            <a:solidFill>
              <a:srgbClr val="2B2B2B"/>
            </a:solidFill>
            <a:prstDash val="solid"/>
          </a:ln>
        </p:spPr>
      </p:sp>
      <p:pic>
        <p:nvPicPr>
          <p:cNvPr id="14" name="Image 2" descr="/mnt/user-data/uploads/Capturas_Presentacion/07 - QR de canje.jpg">    </p:cNvPr>
          <p:cNvPicPr>
            <a:picLocks noChangeAspect="1"/>
          </p:cNvPicPr>
          <p:nvPr/>
        </p:nvPicPr>
        <p:blipFill>
          <a:blip r:embed="rId3"/>
          <a:stretch>
            <a:fillRect/>
          </a:stretch>
        </p:blipFill>
        <p:spPr>
          <a:xfrm>
            <a:off x="4845059" y="1143000"/>
            <a:ext cx="1647812" cy="3566160"/>
          </a:xfrm>
          <a:prstGeom prst="rect">
            <a:avLst/>
          </a:prstGeom>
        </p:spPr>
      </p:pic>
      <p:sp>
        <p:nvSpPr>
          <p:cNvPr id="15" name="Shape 10"/>
          <p:cNvSpPr/>
          <p:nvPr/>
        </p:nvSpPr>
        <p:spPr>
          <a:xfrm>
            <a:off x="6984124" y="813816"/>
            <a:ext cx="1757540" cy="256032"/>
          </a:xfrm>
          <a:prstGeom prst="roundRect">
            <a:avLst>
              <a:gd name="adj" fmla="val 21429"/>
            </a:avLst>
          </a:prstGeom>
          <a:solidFill>
            <a:srgbClr val="F5C400"/>
          </a:solidFill>
          <a:ln w="12700">
            <a:solidFill>
              <a:srgbClr val="F5C400"/>
            </a:solidFill>
            <a:prstDash val="solid"/>
          </a:ln>
        </p:spPr>
      </p:sp>
      <p:sp>
        <p:nvSpPr>
          <p:cNvPr id="16" name="Text 11"/>
          <p:cNvSpPr txBox="1"/>
          <p:nvPr/>
        </p:nvSpPr>
        <p:spPr>
          <a:xfrm>
            <a:off x="6984124" y="813816"/>
            <a:ext cx="1757540" cy="256032"/>
          </a:xfrm>
          <a:prstGeom prst="rect">
            <a:avLst/>
          </a:prstGeom>
          <a:noFill/>
          <a:ln/>
        </p:spPr>
        <p:txBody>
          <a:bodyPr wrap="square" lIns="0" tIns="0" rIns="0" bIns="0" rtlCol="0" anchor="ctr"/>
          <a:lstStyle/>
          <a:p>
            <a:pPr algn="ctr" indent="0" marL="0">
              <a:buNone/>
            </a:pPr>
            <a:r>
              <a:rPr lang="en-US" sz="1100" b="1" dirty="0">
                <a:solidFill>
                  <a:srgbClr val="111111"/>
                </a:solidFill>
              </a:rPr>
              <a:t>4. Entregar premio</a:t>
            </a:r>
            <a:endParaRPr lang="en-US" sz="1100" dirty="0"/>
          </a:p>
        </p:txBody>
      </p:sp>
      <p:sp>
        <p:nvSpPr>
          <p:cNvPr id="17" name="Shape 12"/>
          <p:cNvSpPr/>
          <p:nvPr/>
        </p:nvSpPr>
        <p:spPr>
          <a:xfrm>
            <a:off x="6984124" y="1088136"/>
            <a:ext cx="1757540" cy="3675888"/>
          </a:xfrm>
          <a:prstGeom prst="roundRect">
            <a:avLst>
              <a:gd name="adj" fmla="val 7284"/>
            </a:avLst>
          </a:prstGeom>
          <a:solidFill>
            <a:srgbClr val="2B2B2B"/>
          </a:solidFill>
          <a:ln w="12700">
            <a:solidFill>
              <a:srgbClr val="2B2B2B"/>
            </a:solidFill>
            <a:prstDash val="solid"/>
          </a:ln>
        </p:spPr>
      </p:sp>
      <p:pic>
        <p:nvPicPr>
          <p:cNvPr id="18" name="Image 3" descr="/mnt/user-data/uploads/Capturas_Presentacion/08 - Canje - entregar al cliente.jpg">    </p:cNvPr>
          <p:cNvPicPr>
            <a:picLocks noChangeAspect="1"/>
          </p:cNvPicPr>
          <p:nvPr/>
        </p:nvPicPr>
        <p:blipFill>
          <a:blip r:embed="rId4"/>
          <a:stretch>
            <a:fillRect/>
          </a:stretch>
        </p:blipFill>
        <p:spPr>
          <a:xfrm>
            <a:off x="7038988" y="1143000"/>
            <a:ext cx="1647812" cy="3566160"/>
          </a:xfrm>
          <a:prstGeom prst="rect">
            <a:avLst/>
          </a:prstGeom>
        </p:spPr>
      </p:pic>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6A6A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01168"/>
            <a:ext cx="8229600" cy="548640"/>
          </a:xfrm>
          <a:prstGeom prst="rect">
            <a:avLst/>
          </a:prstGeom>
          <a:noFill/>
          <a:ln/>
        </p:spPr>
        <p:txBody>
          <a:bodyPr wrap="square" lIns="0" tIns="0" rIns="0" bIns="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Mockups de la app: la administración</a:t>
            </a:r>
            <a:endParaRPr lang="en-US" sz="2400" dirty="0"/>
          </a:p>
        </p:txBody>
      </p:sp>
      <p:sp>
        <p:nvSpPr>
          <p:cNvPr id="3" name="Shape 1"/>
          <p:cNvSpPr/>
          <p:nvPr/>
        </p:nvSpPr>
        <p:spPr>
          <a:xfrm>
            <a:off x="768096" y="1088136"/>
            <a:ext cx="1757540" cy="3675888"/>
          </a:xfrm>
          <a:prstGeom prst="roundRect">
            <a:avLst>
              <a:gd name="adj" fmla="val 7284"/>
            </a:avLst>
          </a:prstGeom>
          <a:solidFill>
            <a:srgbClr val="3A3A3A"/>
          </a:solidFill>
          <a:ln w="12700">
            <a:solidFill>
              <a:srgbClr val="3A3A3A"/>
            </a:solidFill>
            <a:prstDash val="solid"/>
          </a:ln>
        </p:spPr>
      </p:sp>
      <p:pic>
        <p:nvPicPr>
          <p:cNvPr id="4" name="Image 0" descr="/mnt/user-data/uploads/Capturas_Presentacion/10 - Panel del dueno.jpg">    </p:cNvPr>
          <p:cNvPicPr>
            <a:picLocks noChangeAspect="1"/>
          </p:cNvPicPr>
          <p:nvPr/>
        </p:nvPicPr>
        <p:blipFill>
          <a:blip r:embed="rId1"/>
          <a:stretch>
            <a:fillRect/>
          </a:stretch>
        </p:blipFill>
        <p:spPr>
          <a:xfrm>
            <a:off x="822960" y="1143000"/>
            <a:ext cx="1647812" cy="3566160"/>
          </a:xfrm>
          <a:prstGeom prst="rect">
            <a:avLst/>
          </a:prstGeom>
        </p:spPr>
      </p:pic>
      <p:sp>
        <p:nvSpPr>
          <p:cNvPr id="5" name="Shape 2"/>
          <p:cNvSpPr/>
          <p:nvPr/>
        </p:nvSpPr>
        <p:spPr>
          <a:xfrm>
            <a:off x="2825496" y="1088136"/>
            <a:ext cx="1757540" cy="3675888"/>
          </a:xfrm>
          <a:prstGeom prst="roundRect">
            <a:avLst>
              <a:gd name="adj" fmla="val 7284"/>
            </a:avLst>
          </a:prstGeom>
          <a:solidFill>
            <a:srgbClr val="3A3A3A"/>
          </a:solidFill>
          <a:ln w="12700">
            <a:solidFill>
              <a:srgbClr val="3A3A3A"/>
            </a:solidFill>
            <a:prstDash val="solid"/>
          </a:ln>
        </p:spPr>
      </p:sp>
      <p:pic>
        <p:nvPicPr>
          <p:cNvPr id="6" name="Image 1" descr="/mnt/user-data/uploads/Capturas_Presentacion/09 - Menu de la casa.jpg">    </p:cNvPr>
          <p:cNvPicPr>
            <a:picLocks noChangeAspect="1"/>
          </p:cNvPicPr>
          <p:nvPr/>
        </p:nvPicPr>
        <p:blipFill>
          <a:blip r:embed="rId2"/>
          <a:stretch>
            <a:fillRect/>
          </a:stretch>
        </p:blipFill>
        <p:spPr>
          <a:xfrm>
            <a:off x="2880360" y="1143000"/>
            <a:ext cx="1647812" cy="3566160"/>
          </a:xfrm>
          <a:prstGeom prst="rect">
            <a:avLst/>
          </a:prstGeom>
        </p:spPr>
      </p:pic>
      <p:sp>
        <p:nvSpPr>
          <p:cNvPr id="7" name="Shape 3"/>
          <p:cNvSpPr/>
          <p:nvPr/>
        </p:nvSpPr>
        <p:spPr>
          <a:xfrm>
            <a:off x="768096" y="813816"/>
            <a:ext cx="1757540" cy="256032"/>
          </a:xfrm>
          <a:prstGeom prst="roundRect">
            <a:avLst>
              <a:gd name="adj" fmla="val 21429"/>
            </a:avLst>
          </a:prstGeom>
          <a:solidFill>
            <a:srgbClr val="F5C400"/>
          </a:solidFill>
          <a:ln w="12700">
            <a:solidFill>
              <a:srgbClr val="F5C400"/>
            </a:solidFill>
            <a:prstDash val="solid"/>
          </a:ln>
        </p:spPr>
      </p:sp>
      <p:sp>
        <p:nvSpPr>
          <p:cNvPr id="8" name="Text 4"/>
          <p:cNvSpPr txBox="1"/>
          <p:nvPr/>
        </p:nvSpPr>
        <p:spPr>
          <a:xfrm>
            <a:off x="768096" y="813816"/>
            <a:ext cx="1757540" cy="256032"/>
          </a:xfrm>
          <a:prstGeom prst="rect">
            <a:avLst/>
          </a:prstGeom>
          <a:noFill/>
          <a:ln/>
        </p:spPr>
        <p:txBody>
          <a:bodyPr wrap="square" lIns="0" tIns="0" rIns="0" bIns="0" rtlCol="0" anchor="ctr"/>
          <a:lstStyle/>
          <a:p>
            <a:pPr algn="ctr" indent="0" marL="0">
              <a:buNone/>
            </a:pPr>
            <a:r>
              <a:rPr lang="en-US" sz="1100" b="1" dirty="0">
                <a:solidFill>
                  <a:srgbClr val="111111"/>
                </a:solidFill>
              </a:rPr>
              <a:t>1. Panel del dueño</a:t>
            </a:r>
            <a:endParaRPr lang="en-US" sz="1100" dirty="0"/>
          </a:p>
        </p:txBody>
      </p:sp>
      <p:sp>
        <p:nvSpPr>
          <p:cNvPr id="9" name="Shape 5"/>
          <p:cNvSpPr/>
          <p:nvPr/>
        </p:nvSpPr>
        <p:spPr>
          <a:xfrm>
            <a:off x="2825496" y="813816"/>
            <a:ext cx="1757540" cy="256032"/>
          </a:xfrm>
          <a:prstGeom prst="roundRect">
            <a:avLst>
              <a:gd name="adj" fmla="val 21429"/>
            </a:avLst>
          </a:prstGeom>
          <a:solidFill>
            <a:srgbClr val="F5C400"/>
          </a:solidFill>
          <a:ln w="12700">
            <a:solidFill>
              <a:srgbClr val="F5C400"/>
            </a:solidFill>
            <a:prstDash val="solid"/>
          </a:ln>
        </p:spPr>
      </p:sp>
      <p:sp>
        <p:nvSpPr>
          <p:cNvPr id="10" name="Text 6"/>
          <p:cNvSpPr txBox="1"/>
          <p:nvPr/>
        </p:nvSpPr>
        <p:spPr>
          <a:xfrm>
            <a:off x="2825496" y="813816"/>
            <a:ext cx="1757540" cy="256032"/>
          </a:xfrm>
          <a:prstGeom prst="rect">
            <a:avLst/>
          </a:prstGeom>
          <a:noFill/>
          <a:ln/>
        </p:spPr>
        <p:txBody>
          <a:bodyPr wrap="square" lIns="0" tIns="0" rIns="0" bIns="0" rtlCol="0" anchor="ctr"/>
          <a:lstStyle/>
          <a:p>
            <a:pPr algn="ctr" indent="0" marL="0">
              <a:buNone/>
            </a:pPr>
            <a:r>
              <a:rPr lang="en-US" sz="1100" b="1" dirty="0">
                <a:solidFill>
                  <a:srgbClr val="111111"/>
                </a:solidFill>
              </a:rPr>
              <a:t>2. Menú de la casa</a:t>
            </a:r>
            <a:endParaRPr lang="en-US" sz="1100" dirty="0"/>
          </a:p>
        </p:txBody>
      </p:sp>
      <p:sp>
        <p:nvSpPr>
          <p:cNvPr id="11" name="Shape 7"/>
          <p:cNvSpPr/>
          <p:nvPr/>
        </p:nvSpPr>
        <p:spPr>
          <a:xfrm>
            <a:off x="5120640" y="1143000"/>
            <a:ext cx="3566160" cy="3566160"/>
          </a:xfrm>
          <a:prstGeom prst="roundRect">
            <a:avLst>
              <a:gd name="adj" fmla="val 2051"/>
            </a:avLst>
          </a:prstGeom>
          <a:solidFill>
            <a:srgbClr val="1F1F1F"/>
          </a:solidFill>
          <a:ln w="12700">
            <a:solidFill>
              <a:srgbClr val="1F1F1F"/>
            </a:solidFill>
            <a:prstDash val="solid"/>
          </a:ln>
        </p:spPr>
      </p:sp>
      <p:sp>
        <p:nvSpPr>
          <p:cNvPr id="12" name="Text 8"/>
          <p:cNvSpPr txBox="1"/>
          <p:nvPr/>
        </p:nvSpPr>
        <p:spPr>
          <a:xfrm>
            <a:off x="5349240" y="1325880"/>
            <a:ext cx="3108960" cy="320040"/>
          </a:xfrm>
          <a:prstGeom prst="rect">
            <a:avLst/>
          </a:prstGeom>
          <a:noFill/>
          <a:ln/>
        </p:spPr>
        <p:txBody>
          <a:bodyPr wrap="square" lIns="0" tIns="0" rIns="0" bIns="0" rtlCol="0" anchor="t"/>
          <a:lstStyle/>
          <a:p>
            <a:pPr indent="0" marL="0">
              <a:buNone/>
            </a:pPr>
            <a:r>
              <a:rPr lang="en-US" sz="1500" b="1" dirty="0">
                <a:solidFill>
                  <a:srgbClr val="F5C400"/>
                </a:solidFill>
                <a:latin typeface="Arial" pitchFamily="34" charset="0"/>
                <a:ea typeface="Arial" pitchFamily="34" charset="-122"/>
                <a:cs typeface="Arial" pitchFamily="34" charset="-120"/>
              </a:rPr>
              <a:t>Desde el panel, el local:</a:t>
            </a:r>
            <a:endParaRPr lang="en-US" sz="1500" dirty="0"/>
          </a:p>
        </p:txBody>
      </p:sp>
      <p:sp>
        <p:nvSpPr>
          <p:cNvPr id="13" name="Text 9"/>
          <p:cNvSpPr txBox="1"/>
          <p:nvPr/>
        </p:nvSpPr>
        <p:spPr>
          <a:xfrm>
            <a:off x="5349240" y="1783080"/>
            <a:ext cx="3108960" cy="27432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FFFFFF"/>
                </a:solidFill>
              </a:rPr>
              <a:t>Ve clientes, socios activos y visitas del día y de la semana.</a:t>
            </a:r>
            <a:endParaRPr lang="en-US" sz="1400" dirty="0"/>
          </a:p>
          <a:p>
            <a:pPr marL="342900" indent="-342900">
              <a:spcAft>
                <a:spcPts val="800"/>
              </a:spcAft>
              <a:buSzPct val="100000"/>
              <a:buChar char="•"/>
            </a:pPr>
            <a:r>
              <a:rPr lang="en-US" sz="1400" dirty="0">
                <a:solidFill>
                  <a:srgbClr val="FFFFFF"/>
                </a:solidFill>
              </a:rPr>
              <a:t>Ve qué premios se canjean más.</a:t>
            </a:r>
            <a:endParaRPr lang="en-US" sz="1400" dirty="0"/>
          </a:p>
          <a:p>
            <a:pPr marL="342900" indent="-342900">
              <a:spcAft>
                <a:spcPts val="800"/>
              </a:spcAft>
              <a:buSzPct val="100000"/>
              <a:buChar char="•"/>
            </a:pPr>
            <a:r>
              <a:rPr lang="en-US" sz="1400" dirty="0">
                <a:solidFill>
                  <a:srgbClr val="FFFFFF"/>
                </a:solidFill>
              </a:rPr>
              <a:t>Edita el menú real del local: 43 platos.</a:t>
            </a:r>
            <a:endParaRPr lang="en-US" sz="1400" dirty="0"/>
          </a:p>
          <a:p>
            <a:pPr marL="342900" indent="-342900">
              <a:spcAft>
                <a:spcPts val="800"/>
              </a:spcAft>
              <a:buSzPct val="100000"/>
              <a:buChar char="•"/>
            </a:pPr>
            <a:r>
              <a:rPr lang="en-US" sz="1400" dirty="0">
                <a:solidFill>
                  <a:srgbClr val="FFFFFF"/>
                </a:solidFill>
              </a:rPr>
              <a:t>Crea premios y promociones sin publicar una nueva versión.</a:t>
            </a:r>
            <a:endParaRPr lang="en-US" sz="1400" dirty="0"/>
          </a:p>
          <a:p>
            <a:pPr marL="342900" indent="-342900">
              <a:spcAft>
                <a:spcPts val="800"/>
              </a:spcAft>
              <a:buSzPct val="100000"/>
              <a:buChar char="•"/>
            </a:pPr>
            <a:r>
              <a:rPr lang="en-US" sz="1400" dirty="0">
                <a:solidFill>
                  <a:srgbClr val="FFFFFF"/>
                </a:solidFill>
              </a:rPr>
              <a:t>Gestiona al personal y sus roles.</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A6A6A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4480560" cy="1188720"/>
          </a:xfrm>
          <a:prstGeom prst="rect">
            <a:avLst/>
          </a:prstGeom>
          <a:noFill/>
          <a:ln/>
        </p:spPr>
        <p:txBody>
          <a:bodyPr wrap="square" lIns="0" tIns="0" rIns="0" bIns="0" rtlCol="0" anchor="b"/>
          <a:lstStyle/>
          <a:p>
            <a:pPr algn="l" indent="0" marL="0">
              <a:buNone/>
            </a:pPr>
            <a:r>
              <a:rPr lang="en-US" sz="4000" b="1" dirty="0">
                <a:solidFill>
                  <a:srgbClr val="FFFFFF"/>
                </a:solidFill>
                <a:latin typeface="Arial" pitchFamily="34" charset="0"/>
                <a:ea typeface="Arial" pitchFamily="34" charset="-122"/>
                <a:cs typeface="Arial" pitchFamily="34" charset="-120"/>
              </a:rPr>
              <a:t>Gracias</a:t>
            </a:r>
            <a:endParaRPr lang="en-US" sz="4000" dirty="0"/>
          </a:p>
        </p:txBody>
      </p:sp>
      <p:sp>
        <p:nvSpPr>
          <p:cNvPr id="3" name="Text 0"/>
          <p:cNvSpPr/>
          <p:nvPr>
            <p:ph idx="101" type="body" hasCustomPrompt="1"/>
          </p:nvPr>
        </p:nvSpPr>
        <p:spPr>
          <a:xfrm>
            <a:off x="548640" y="2697480"/>
            <a:ext cx="4206240" cy="822960"/>
          </a:xfrm>
          <a:prstGeom prst="rect">
            <a:avLst/>
          </a:prstGeom>
          <a:noFill/>
          <a:ln/>
        </p:spPr>
        <p:txBody>
          <a:bodyPr wrap="square" lIns="0" tIns="0" rIns="0" bIns="0" rtlCol="0" anchor="t"/>
          <a:lstStyle/>
          <a:p>
            <a:pPr algn="l" indent="0" marL="0">
              <a:buNone/>
            </a:pPr>
            <a:r>
              <a:rPr lang="en-US" sz="1800" dirty="0">
                <a:solidFill>
                  <a:srgbClr val="F5C400"/>
                </a:solidFill>
              </a:rPr>
              <a:t>Próximo paso: terminar la seguridad y subir la app a la nube. ¿Preguntas?</a:t>
            </a:r>
            <a:endParaRPr lang="en-US" sz="1800" dirty="0"/>
          </a:p>
        </p:txBody>
      </p:sp>
      <p:sp>
        <p:nvSpPr>
          <p:cNvPr id="4" name="Shape 2"/>
          <p:cNvSpPr/>
          <p:nvPr/>
        </p:nvSpPr>
        <p:spPr>
          <a:xfrm>
            <a:off x="548640" y="502920"/>
            <a:ext cx="731520" cy="731520"/>
          </a:xfrm>
          <a:prstGeom prst="ellipse">
            <a:avLst/>
          </a:prstGeom>
          <a:solidFill>
            <a:srgbClr val="F5C400"/>
          </a:solidFill>
          <a:ln w="12700">
            <a:solidFill>
              <a:srgbClr val="F5C400"/>
            </a:solidFill>
            <a:prstDash val="solid"/>
          </a:ln>
        </p:spPr>
      </p:sp>
      <p:pic>
        <p:nvPicPr>
          <p:cNvPr id="5" name="Image 0" descr="preencoded.png">    </p:cNvPr>
          <p:cNvPicPr>
            <a:picLocks noChangeAspect="1"/>
          </p:cNvPicPr>
          <p:nvPr/>
        </p:nvPicPr>
        <p:blipFill>
          <a:blip r:embed="rId1"/>
          <a:stretch>
            <a:fillRect/>
          </a:stretch>
        </p:blipFill>
        <p:spPr>
          <a:xfrm>
            <a:off x="731520" y="685800"/>
            <a:ext cx="365760" cy="365760"/>
          </a:xfrm>
          <a:prstGeom prst="rect">
            <a:avLst/>
          </a:prstGeom>
        </p:spPr>
      </p:pic>
      <p:sp>
        <p:nvSpPr>
          <p:cNvPr id="6" name="Text 3"/>
          <p:cNvSpPr txBox="1"/>
          <p:nvPr/>
        </p:nvSpPr>
        <p:spPr>
          <a:xfrm>
            <a:off x="548640" y="4023360"/>
            <a:ext cx="4480560" cy="365760"/>
          </a:xfrm>
          <a:prstGeom prst="rect">
            <a:avLst/>
          </a:prstGeom>
          <a:noFill/>
          <a:ln/>
        </p:spPr>
        <p:txBody>
          <a:bodyPr wrap="square" lIns="0" tIns="0" rIns="0" bIns="0" rtlCol="0" anchor="t"/>
          <a:lstStyle/>
          <a:p>
            <a:pPr indent="0" marL="0">
              <a:buNone/>
            </a:pPr>
            <a:r>
              <a:rPr lang="en-US" sz="1400" dirty="0">
                <a:solidFill>
                  <a:srgbClr val="FFFFFF"/>
                </a:solidFill>
              </a:rPr>
              <a:t>github.com/44ndy/clancys-rewards</a:t>
            </a:r>
            <a:endParaRPr lang="en-US" sz="1400" dirty="0"/>
          </a:p>
        </p:txBody>
      </p:sp>
    </p:spTree>
  </p:cSld>
  <p:clrMapOvr>
    <a:masterClrMapping/>
  </p:clrMapOvr>
</p:sld>
</file>

<file path=ppt/theme/theme1.xml><?xml version="1.0" encoding="utf-8"?>
<a:theme xmlns:a="http://schemas.openxmlformats.org/drawingml/2006/main" name="Clancys Rewards BYW">
  <a:themeElements>
    <a:clrScheme name="Clancys Rewards BYW">
      <a:dk1>
        <a:srgbClr val="111111"/>
      </a:dk1>
      <a:lt1>
        <a:srgbClr val="FFFFFF"/>
      </a:lt1>
      <a:dk2>
        <a:srgbClr val="111111"/>
      </a:dk2>
      <a:lt2>
        <a:srgbClr val="F2F2F2"/>
      </a:lt2>
      <a:accent1>
        <a:srgbClr val="F5C400"/>
      </a:accent1>
      <a:accent2>
        <a:srgbClr val="F5C400"/>
      </a:accent2>
      <a:accent3>
        <a:srgbClr val="111111"/>
      </a:accent3>
      <a:accent4>
        <a:srgbClr val="7A5C00"/>
      </a:accent4>
      <a:accent5>
        <a:srgbClr val="6B6B6B"/>
      </a:accent5>
      <a:accent6>
        <a:srgbClr val="FFF4BF"/>
      </a:accent6>
      <a:hlink>
        <a:srgbClr val="111111"/>
      </a:hlink>
      <a:folHlink>
        <a:srgbClr val="6B6B6B"/>
      </a:folHlink>
    </a:clrScheme>
    <a:fontScheme name="Clancys Rewards BYW">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Clancy's Rewards – Evaluación 2</dc:title>
  <dc:subject>PptxGenJS Presentation</dc:subject>
  <dc:creator>Andy Aravena Auquilen</dc:creator>
  <cp:lastModifiedBy>Andy Aravena Auquilen</cp:lastModifiedBy>
  <cp:revision>1</cp:revision>
  <dcterms:created xsi:type="dcterms:W3CDTF">2026-10-29T20:02:44Z</dcterms:created>
  <dcterms:modified xsi:type="dcterms:W3CDTF">2026-10-29T20:02:44Z</dcterms:modified>
</cp:coreProperties>
</file>