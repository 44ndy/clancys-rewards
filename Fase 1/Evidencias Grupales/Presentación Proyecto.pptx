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Hola, soy Andy Aravena y les voy a presentar la definición de mi proyecto de Capstone. Se llama Clancy's Rewards y es una aplicación móvil de fidelización de clientes para Clancy's, un pub y restaurante en Cork, Irlanda, donde trabajo actualmente.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problema es simple. Clancy's no tiene ninguna forma digital de premiar a los clientes que vuelven. Lo típico en el rubro es la tarjeta de sellos de papel, que se pierde, se puede falsificar y no deja ningún dato. Es un problema relevante para nuestra carrera porque resolverlo bien junta desarrollo móvil, servidor, base de datos, seguridad y la ley de protección de datos europea.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solución es una sola app con tres roles. El cliente acumula visitas mostrando un código QR que dura tres minutos y sirve una sola vez. El personal escanea ese código con la cámara del teléfono para sumar la visita o entregar un premio. Y el administrador gestiona el menú, los premios y las promociones. La app está hecha en React Native con Expo, el servidor en Python con FastAPI, y la base de datos es MongoDB.</a:t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objetivo general es desarrollar y publicar la app de fidelización para Clancy's, que registre visitas y canjes con códigos QR validados por el personal. Los objetivos específicos son seis: analizar el proceso del local, diseñar la arquitectura y la base de datos, construir lo que falta con Scrum, corregir la seguridad y cumplir la ley de datos europea, certificar el sistema con pruebas, y publicarlo en Google Play.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Voy a trabajar con Scrum, en sprints de dos semanas. En total son nueve semanas, unos 45 días hábiles entre octubre y diciembre, con 39 puntos de historia repartidos en 25 tareas. Cada sprint tiene planificación, desarrollo, una revisión con demo y una retrospectiva. El Sprint 0 es para ordenar el proyecto: repositorio, tablero y sacar las claves del código. Después viene seguridad, después llevar la app a la nube, después privacidad y pruebas, y la semana del 7 de diciembre es el cierre. Todas las tareas están en la Carta Gantt y en GitHub, organizadas por sprint.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la Carta Gantt resumida, con las fechas reales del semestre. La barra gris es el prototipo que ya desarrollé entre agosto y octubre. Después vienen la definición, los tres sprints y el cierre. La barra dorada es la prueba cerrada de Google Play, que exige catorce días con doce personas antes de publicar, por eso la app se sube al final del Sprint 2. A la derecha están las evidencias: las de avance hasta el 20 de noviembre y las finales hasta el 11 de diciembre. La Gantt detallada va en un documento aparte.</a:t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proyecto es factible. Lo que lo facilita es que el prototipo ya funciona, con doce funciones terminadas, que trabajo en el local y puedo probar con el personal, y que las herramientas son gratis o muy baratas. Lo que lo dificulta lo tengo identificado: las vulnerabilidades se corrigen en el primer sprint, la prueba de Google Play la cubro subiendo la app temprano, y la diferencia horaria la manejo con reuniones online. Publicar cuesta entre 35 y 55 dólares en total.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cerrar, el próximo paso es el Sprint 0, la semana del 19 de octubre. Muchas gracias, quedo atento a sus preguntas. Y si tienen un minuto, les puedo mostrar cómo va la app funcionando.</a:t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48640" y="141732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48640" y="26974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Clancy's Rewards · Capstone · 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48640" y="141732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Clancy's Rewards</a:t>
            </a:r>
            <a:endParaRPr sz="4000"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548640" y="26974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</a:pPr>
            <a:r>
              <a:rPr lang="en-US" sz="1800">
                <a:solidFill>
                  <a:schemeClr val="accent2"/>
                </a:solidFill>
              </a:rPr>
              <a:t>App móvil de fidelización de clientes para Clancy's Cork</a:t>
            </a:r>
            <a:endParaRPr sz="1800"/>
          </a:p>
        </p:txBody>
      </p:sp>
      <p:sp>
        <p:nvSpPr>
          <p:cNvPr id="26" name="Google Shape;26;p5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68580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uploads/Capturas_Presentacion/01 - Bienvenida.jpg" id="28" name="Google Shape;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868680"/>
            <a:ext cx="1521057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/>
          <p:nvPr/>
        </p:nvSpPr>
        <p:spPr>
          <a:xfrm>
            <a:off x="5251655" y="822910"/>
            <a:ext cx="1612500" cy="3383400"/>
          </a:xfrm>
          <a:prstGeom prst="roundRect">
            <a:avLst>
              <a:gd fmla="val 6805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7315200" y="822960"/>
            <a:ext cx="1612497" cy="3383280"/>
          </a:xfrm>
          <a:prstGeom prst="roundRect">
            <a:avLst>
              <a:gd fmla="val 6805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Capturas_Presentacion/03 - Pase QR del cliente.jpg" id="31" name="Google Shape;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0920" y="925830"/>
            <a:ext cx="1521056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6217920" y="502920"/>
            <a:ext cx="1908258" cy="4023360"/>
          </a:xfrm>
          <a:prstGeom prst="roundRect">
            <a:avLst>
              <a:gd fmla="val 5750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Capturas_Presentacion/02 - Tarjeta de socio.jpg" id="33" name="Google Shape;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0" y="548640"/>
            <a:ext cx="1816818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/>
        </p:nvSpPr>
        <p:spPr>
          <a:xfrm>
            <a:off x="548640" y="402336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Andy Aravena Auquilen · Ingeniería en Informática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Duoc UC San Bernardo · Capstone, 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sz="2800"/>
          </a:p>
        </p:txBody>
      </p:sp>
      <p:sp>
        <p:nvSpPr>
          <p:cNvPr id="41" name="Google Shape;41;p6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Clancy's no tiene una herramienta digital para premiar a sus clientes frecuentes. La alternativa típica, la tarjeta de sellos de papel: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57200" y="1783080"/>
            <a:ext cx="2606040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685800" y="1938528"/>
            <a:ext cx="502920" cy="502920"/>
          </a:xfrm>
          <a:prstGeom prst="ellipse">
            <a:avLst/>
          </a:prstGeom>
          <a:solidFill>
            <a:srgbClr val="8C2F39"/>
          </a:solidFill>
          <a:ln cap="flat" cmpd="sng" w="12700">
            <a:solidFill>
              <a:srgbClr val="8C2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30" y="206425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685800" y="2560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Se pierde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685800" y="2907792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cliente la olvida y pierde su avance.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246120" y="1783080"/>
            <a:ext cx="2606040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3474720" y="1938528"/>
            <a:ext cx="502920" cy="502920"/>
          </a:xfrm>
          <a:prstGeom prst="ellipse">
            <a:avLst/>
          </a:prstGeom>
          <a:solidFill>
            <a:srgbClr val="8C2F39"/>
          </a:solidFill>
          <a:ln cap="flat" cmpd="sng" w="12700">
            <a:solidFill>
              <a:srgbClr val="8C2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450" y="206425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474720" y="2560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Se falsifica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474720" y="2907792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sello se copia y nadie controla quién lo puso.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035040" y="1783080"/>
            <a:ext cx="2606040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263640" y="1938528"/>
            <a:ext cx="502920" cy="502920"/>
          </a:xfrm>
          <a:prstGeom prst="ellipse">
            <a:avLst/>
          </a:prstGeom>
          <a:solidFill>
            <a:srgbClr val="8C2F39"/>
          </a:solidFill>
          <a:ln cap="flat" cmpd="sng" w="12700">
            <a:solidFill>
              <a:srgbClr val="8C2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9370" y="206425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/>
        </p:nvSpPr>
        <p:spPr>
          <a:xfrm>
            <a:off x="6263640" y="2560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No deja datos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6263640" y="2907792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local no sabe quién vuelve ni qué premio funciona.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Por qué es relevante: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fidelización digital es una necesidad real en gastronomía y retail, e integra desarrollo móvil, backend, bases de datos, seguridad y protección de datos (RGPD).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La solución: una app, tres roles</a:t>
            </a:r>
            <a:endParaRPr sz="2800"/>
          </a:p>
        </p:txBody>
      </p:sp>
      <p:sp>
        <p:nvSpPr>
          <p:cNvPr id="65" name="Google Shape;65;p7"/>
          <p:cNvSpPr/>
          <p:nvPr/>
        </p:nvSpPr>
        <p:spPr>
          <a:xfrm>
            <a:off x="457200" y="1051560"/>
            <a:ext cx="2606040" cy="2011680"/>
          </a:xfrm>
          <a:prstGeom prst="roundRect">
            <a:avLst>
              <a:gd fmla="val 363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594360" y="1143000"/>
            <a:ext cx="894220" cy="1828800"/>
          </a:xfrm>
          <a:prstGeom prst="roundRect">
            <a:avLst>
              <a:gd fmla="val 12271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Capturas_Presentacion/03 - Pase QR del cliente.jpg"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80278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/>
        </p:nvSpPr>
        <p:spPr>
          <a:xfrm>
            <a:off x="1554480" y="12344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Cliente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1554480" y="1645920"/>
            <a:ext cx="1417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Acumula visitas mostrando un QR y canjea premios.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246120" y="1051560"/>
            <a:ext cx="2606040" cy="2011680"/>
          </a:xfrm>
          <a:prstGeom prst="roundRect">
            <a:avLst>
              <a:gd fmla="val 363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3383280" y="1143000"/>
            <a:ext cx="894220" cy="1828800"/>
          </a:xfrm>
          <a:prstGeom prst="roundRect">
            <a:avLst>
              <a:gd fmla="val 12271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Capturas_Presentacion/05 - Resultado de visita.jpg" id="72" name="Google Shape;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188720"/>
            <a:ext cx="80278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"/>
          <p:cNvSpPr txBox="1"/>
          <p:nvPr/>
        </p:nvSpPr>
        <p:spPr>
          <a:xfrm>
            <a:off x="4343400" y="12344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Personal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4343400" y="1645920"/>
            <a:ext cx="1417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Escanea el QR para sumar la visita o entregar el premio.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035040" y="1051560"/>
            <a:ext cx="2606040" cy="2011680"/>
          </a:xfrm>
          <a:prstGeom prst="roundRect">
            <a:avLst>
              <a:gd fmla="val 363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6172200" y="1143000"/>
            <a:ext cx="894220" cy="1828800"/>
          </a:xfrm>
          <a:prstGeom prst="roundRect">
            <a:avLst>
              <a:gd fmla="val 12271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Capturas_Presentacion/10 - Panel del dueno.jpg" id="77" name="Google Shape;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188720"/>
            <a:ext cx="80278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 txBox="1"/>
          <p:nvPr/>
        </p:nvSpPr>
        <p:spPr>
          <a:xfrm>
            <a:off x="7132320" y="12344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Administrador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7132320" y="1645920"/>
            <a:ext cx="1417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menú, premios y promociones, y ve indicadores.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57200" y="3246120"/>
            <a:ext cx="8229600" cy="1280160"/>
          </a:xfrm>
          <a:prstGeom prst="roundRect">
            <a:avLst>
              <a:gd fmla="val 571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685800" y="3383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68580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685800" y="40233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 Native + Expo (TypeScript)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338328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3383280" y="40233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080760" y="40233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sz="2800"/>
          </a:p>
        </p:txBody>
      </p:sp>
      <p:sp>
        <p:nvSpPr>
          <p:cNvPr id="95" name="Google Shape;95;p8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fmla="val 761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685800" y="11430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Objetivo general: </a:t>
            </a: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desarrollar y publicar una app de fidelización para Clancy's Cork que registre visitas y canjes con códigos QR validados por el personal.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1051560" y="219456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el proceso del local y definir requerimientos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663440" y="224028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 txBox="1"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5257800" y="219456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la arquitectura y el modelo de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1051560" y="29718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lo pendiente en sprints con Scrum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 txBox="1"/>
          <p:nvPr/>
        </p:nvSpPr>
        <p:spPr>
          <a:xfrm>
            <a:off x="466344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5257800" y="29718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Corregir vulnerabilidades y cumplir el RGPD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1051560" y="37490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Certificar el sistema con pruebas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663440" y="379476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466344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5257800" y="37490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Desplegar en la nube y publicar en Google Play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Metodología: Scrum en sprints de 2 semanas</a:t>
            </a:r>
            <a:endParaRPr sz="2800"/>
          </a:p>
        </p:txBody>
      </p:sp>
      <p:sp>
        <p:nvSpPr>
          <p:cNvPr id="122" name="Google Shape;122;p9"/>
          <p:cNvSpPr/>
          <p:nvPr/>
        </p:nvSpPr>
        <p:spPr>
          <a:xfrm>
            <a:off x="457200" y="1051560"/>
            <a:ext cx="1554480" cy="214884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594360" y="1188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Sprint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594360" y="15270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19 – 23 oct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594360" y="1874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594360" y="2286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días · 4 tareas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594360" y="2697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2121408" y="1051560"/>
            <a:ext cx="1554480" cy="214884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2258568" y="1188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Sprint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2258568" y="15270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26 oct – 6 nov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2258568" y="1874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2258568" y="2286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días · 7 tareas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2258568" y="2697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13 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785616" y="1051560"/>
            <a:ext cx="1554480" cy="214884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3922776" y="1188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Sprint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3922776" y="15270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9 – 20 nov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3922776" y="1874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nube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3922776" y="2286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días · 5 tareas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3922776" y="2697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13 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449824" y="1051560"/>
            <a:ext cx="1554480" cy="214884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5586984" y="1188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Sprint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5586984" y="15270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23 nov – 4 dic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5586984" y="1874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5586984" y="2286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días · 5 tareas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5586984" y="2697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13 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7114032" y="1051560"/>
            <a:ext cx="1554480" cy="2148840"/>
          </a:xfrm>
          <a:prstGeom prst="roundRect">
            <a:avLst>
              <a:gd fmla="val 4706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7251192" y="1188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Cierre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7251192" y="15270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 – 18 dic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251192" y="1874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251192" y="2286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días · 4 tareas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251192" y="2697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Entrega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457200" y="34290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457200" y="39776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semanas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2121408" y="34290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45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2121408" y="39776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días hábiles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3785616" y="34290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3785616" y="39776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meses (oct – dic)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449824" y="34290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39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449824" y="39776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puntos en 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14032" y="34290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14032" y="39776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Cada sprint: planificación, desarrollo, revisión con demo y retrospectiva.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/>
              <a:t>Plan de trabajo e hitos</a:t>
            </a:r>
            <a:endParaRPr sz="2800"/>
          </a:p>
        </p:txBody>
      </p:sp>
      <p:sp>
        <p:nvSpPr>
          <p:cNvPr id="170" name="Google Shape;170;p10"/>
          <p:cNvSpPr txBox="1"/>
          <p:nvPr/>
        </p:nvSpPr>
        <p:spPr>
          <a:xfrm>
            <a:off x="2377440" y="1005840"/>
            <a:ext cx="77002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3147461" y="1005840"/>
            <a:ext cx="77002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3917482" y="1005840"/>
            <a:ext cx="77002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4687503" y="1005840"/>
            <a:ext cx="96252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5650029" y="1005840"/>
            <a:ext cx="3850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457200" y="13716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(realizado)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2377440" y="1399032"/>
            <a:ext cx="3657600" cy="237744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2377440" y="1399032"/>
            <a:ext cx="1732547" cy="237744"/>
          </a:xfrm>
          <a:prstGeom prst="roundRect">
            <a:avLst>
              <a:gd fmla="val 19231" name="adj"/>
            </a:avLst>
          </a:prstGeom>
          <a:solidFill>
            <a:srgbClr val="6B7B73"/>
          </a:solidFill>
          <a:ln cap="flat" cmpd="sng" w="12700">
            <a:solidFill>
              <a:srgbClr val="6B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457200" y="17830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+ Sprint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2377440" y="1810512"/>
            <a:ext cx="3657600" cy="237744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109987" y="1810512"/>
            <a:ext cx="385011" cy="237744"/>
          </a:xfrm>
          <a:prstGeom prst="roundRect">
            <a:avLst>
              <a:gd fmla="val 19231" name="adj"/>
            </a:avLst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457200" y="21945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1: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2377440" y="2221992"/>
            <a:ext cx="3657600" cy="237744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4494998" y="2221992"/>
            <a:ext cx="385011" cy="237744"/>
          </a:xfrm>
          <a:prstGeom prst="roundRect">
            <a:avLst>
              <a:gd fmla="val 19231" name="adj"/>
            </a:avLst>
          </a:prstGeom>
          <a:solidFill>
            <a:srgbClr val="1E3A2F"/>
          </a:solidFill>
          <a:ln cap="flat" cmpd="sng" w="12700">
            <a:solidFill>
              <a:srgbClr val="1E3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457200" y="26060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2: nube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2377440" y="2633472"/>
            <a:ext cx="3657600" cy="237744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880008" y="2633472"/>
            <a:ext cx="385011" cy="237744"/>
          </a:xfrm>
          <a:prstGeom prst="roundRect">
            <a:avLst>
              <a:gd fmla="val 19231" name="adj"/>
            </a:avLst>
          </a:prstGeom>
          <a:solidFill>
            <a:srgbClr val="1E3A2F"/>
          </a:solidFill>
          <a:ln cap="flat" cmpd="sng" w="12700">
            <a:solidFill>
              <a:srgbClr val="1E3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457200" y="30175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3: privacidad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377440" y="3044952"/>
            <a:ext cx="3657600" cy="237744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5265019" y="3044952"/>
            <a:ext cx="385011" cy="237744"/>
          </a:xfrm>
          <a:prstGeom prst="roundRect">
            <a:avLst>
              <a:gd fmla="val 19231" name="adj"/>
            </a:avLst>
          </a:prstGeom>
          <a:solidFill>
            <a:srgbClr val="1E3A2F"/>
          </a:solidFill>
          <a:ln cap="flat" cmpd="sng" w="12700">
            <a:solidFill>
              <a:srgbClr val="1E3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457200" y="34290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cerrada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2377440" y="3456432"/>
            <a:ext cx="3657600" cy="237744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5265019" y="3456432"/>
            <a:ext cx="385011" cy="237744"/>
          </a:xfrm>
          <a:prstGeom prst="roundRect">
            <a:avLst>
              <a:gd fmla="val 19231" name="adj"/>
            </a:avLst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457200" y="38404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Cierre y presentación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2377440" y="3867912"/>
            <a:ext cx="3657600" cy="237744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650029" y="3867912"/>
            <a:ext cx="385011" cy="237744"/>
          </a:xfrm>
          <a:prstGeom prst="roundRect">
            <a:avLst>
              <a:gd fmla="val 19231" name="adj"/>
            </a:avLst>
          </a:prstGeom>
          <a:solidFill>
            <a:srgbClr val="8C2F39"/>
          </a:solidFill>
          <a:ln cap="flat" cmpd="sng" w="12700">
            <a:solidFill>
              <a:srgbClr val="8C2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309360" y="1051560"/>
            <a:ext cx="2377440" cy="347472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6492240" y="1188720"/>
            <a:ext cx="205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Hitos clave</a:t>
            </a:r>
            <a:endParaRPr b="1" sz="16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6492240" y="1600200"/>
            <a:ext cx="205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23 oct</a:t>
            </a:r>
            <a:endParaRPr b="1"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6492240" y="1847088"/>
            <a:ext cx="20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de la Fase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6492240" y="2313432"/>
            <a:ext cx="205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20 nov</a:t>
            </a:r>
            <a:endParaRPr b="1"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6492240" y="2560320"/>
            <a:ext cx="20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 de avance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6492240" y="3026664"/>
            <a:ext cx="205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11 dic</a:t>
            </a:r>
            <a:endParaRPr b="1"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6492240" y="3273552"/>
            <a:ext cx="20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publicada en Google Play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6492240" y="3739896"/>
            <a:ext cx="205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14 – 18 dic</a:t>
            </a:r>
            <a:endParaRPr b="1"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6492240" y="3986783"/>
            <a:ext cx="20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Factibilidad</a:t>
            </a:r>
            <a:endParaRPr sz="2800"/>
          </a:p>
        </p:txBody>
      </p:sp>
      <p:sp>
        <p:nvSpPr>
          <p:cNvPr id="213" name="Google Shape;213;p11"/>
          <p:cNvSpPr/>
          <p:nvPr/>
        </p:nvSpPr>
        <p:spPr>
          <a:xfrm>
            <a:off x="457200" y="1097280"/>
            <a:ext cx="2926080" cy="3429000"/>
          </a:xfrm>
          <a:prstGeom prst="roundRect">
            <a:avLst>
              <a:gd fmla="val 25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640080" y="1261872"/>
            <a:ext cx="457200" cy="45720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3761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 txBox="1"/>
          <p:nvPr/>
        </p:nvSpPr>
        <p:spPr>
          <a:xfrm>
            <a:off x="1234440" y="12618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 que facilita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640080" y="1965960"/>
            <a:ext cx="2560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prototipo ya funciona: 12 funciones terminadas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Trabajo en el local: acceso al personal para probar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gratuitas o de bajo costo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520440" y="1097280"/>
            <a:ext cx="2926080" cy="3429000"/>
          </a:xfrm>
          <a:prstGeom prst="roundRect">
            <a:avLst>
              <a:gd fmla="val 25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3703320" y="1261872"/>
            <a:ext cx="457200" cy="457200"/>
          </a:xfrm>
          <a:prstGeom prst="ellipse">
            <a:avLst/>
          </a:prstGeom>
          <a:solidFill>
            <a:srgbClr val="8C2F39"/>
          </a:solidFill>
          <a:ln cap="flat" cmpd="sng" w="12700">
            <a:solidFill>
              <a:srgbClr val="8C2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7620" y="13761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 txBox="1"/>
          <p:nvPr/>
        </p:nvSpPr>
        <p:spPr>
          <a:xfrm>
            <a:off x="4297680" y="12618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 que dificulta y cómo lo resuelvo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3703320" y="1965960"/>
            <a:ext cx="2560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Vulnerabilidades: ya identificadas, Sprint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de 14 días de Google Play: subir temprano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Diferencia horaria: reuniones online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6583680" y="1097280"/>
            <a:ext cx="2103120" cy="3429000"/>
          </a:xfrm>
          <a:prstGeom prst="roundRect">
            <a:avLst>
              <a:gd fmla="val 3478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6766560" y="1280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Costo total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6766560" y="164592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35–55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6766560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USD para publicar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6766560" y="2788920"/>
            <a:ext cx="1737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Google Play 25 USD y un dominio. Servidor y base de datos en plan gratuito.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/>
          <p:nvPr>
            <p:ph type="title"/>
          </p:nvPr>
        </p:nvSpPr>
        <p:spPr>
          <a:xfrm>
            <a:off x="548640" y="141732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sz="4000"/>
          </a:p>
        </p:txBody>
      </p:sp>
      <p:sp>
        <p:nvSpPr>
          <p:cNvPr id="235" name="Google Shape;235;p12"/>
          <p:cNvSpPr txBox="1"/>
          <p:nvPr>
            <p:ph idx="1" type="body"/>
          </p:nvPr>
        </p:nvSpPr>
        <p:spPr>
          <a:xfrm>
            <a:off x="548640" y="26974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</a:pPr>
            <a:r>
              <a:rPr lang="en-US" sz="1800">
                <a:solidFill>
                  <a:schemeClr val="accent2"/>
                </a:solidFill>
              </a:rPr>
              <a:t>Próximo paso: Sprint 0, semana del 19 de octubre. ¿Preguntas?</a:t>
            </a:r>
            <a:endParaRPr sz="1800"/>
          </a:p>
        </p:txBody>
      </p:sp>
      <p:sp>
        <p:nvSpPr>
          <p:cNvPr id="236" name="Google Shape;236;p12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685800"/>
            <a:ext cx="36576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ncys Rewards">
  <a:themeElements>
    <a:clrScheme name="Clancys Rewards">
      <a:dk1>
        <a:srgbClr val="1A1A1A"/>
      </a:dk1>
      <a:lt1>
        <a:srgbClr val="FFFFFF"/>
      </a:lt1>
      <a:dk2>
        <a:srgbClr val="1E3A2F"/>
      </a:dk2>
      <a:lt2>
        <a:srgbClr val="EEF3EF"/>
      </a:lt2>
      <a:accent1>
        <a:srgbClr val="1E3A2F"/>
      </a:accent1>
      <a:accent2>
        <a:srgbClr val="C9A227"/>
      </a:accent2>
      <a:accent3>
        <a:srgbClr val="2E7D5B"/>
      </a:accent3>
      <a:accent4>
        <a:srgbClr val="8C2F39"/>
      </a:accent4>
      <a:accent5>
        <a:srgbClr val="6B7B73"/>
      </a:accent5>
      <a:accent6>
        <a:srgbClr val="DCE8E0"/>
      </a:accent6>
      <a:hlink>
        <a:srgbClr val="2E7D5B"/>
      </a:hlink>
      <a:folHlink>
        <a:srgbClr val="6B7B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ncys Rewards">
  <a:themeElements>
    <a:clrScheme name="Clancys Rewards">
      <a:dk1>
        <a:srgbClr val="1A1A1A"/>
      </a:dk1>
      <a:lt1>
        <a:srgbClr val="FFFFFF"/>
      </a:lt1>
      <a:dk2>
        <a:srgbClr val="1E3A2F"/>
      </a:dk2>
      <a:lt2>
        <a:srgbClr val="EEF3EF"/>
      </a:lt2>
      <a:accent1>
        <a:srgbClr val="1E3A2F"/>
      </a:accent1>
      <a:accent2>
        <a:srgbClr val="C9A227"/>
      </a:accent2>
      <a:accent3>
        <a:srgbClr val="2E7D5B"/>
      </a:accent3>
      <a:accent4>
        <a:srgbClr val="8C2F39"/>
      </a:accent4>
      <a:accent5>
        <a:srgbClr val="6B7B73"/>
      </a:accent5>
      <a:accent6>
        <a:srgbClr val="DCE8E0"/>
      </a:accent6>
      <a:hlink>
        <a:srgbClr val="2E7D5B"/>
      </a:hlink>
      <a:folHlink>
        <a:srgbClr val="6B7B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